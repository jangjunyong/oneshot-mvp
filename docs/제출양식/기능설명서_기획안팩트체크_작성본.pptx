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9" r:id="rId2"/>
    <p:sldId id="258" r:id="rId3"/>
    <p:sldId id="270" r:id="rId4"/>
    <p:sldId id="267" r:id="rId5"/>
    <p:sldId id="260" r:id="rId6"/>
    <p:sldId id="271" r:id="rId16"/>
    <p:sldId id="272" r:id="rId17"/>
    <p:sldId id="273" r:id="rId18"/>
    <p:sldId id="268" r:id="rId7"/>
    <p:sldId id="264" r:id="rId8"/>
    <p:sldId id="265" r:id="rId9"/>
    <p:sldId id="266" r:id="rId1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99DBF"/>
    <a:srgbClr val="372472"/>
    <a:srgbClr val="BBBCDE"/>
    <a:srgbClr val="280A41"/>
    <a:srgbClr val="230A3A"/>
    <a:srgbClr val="401AC1"/>
    <a:srgbClr val="200D45"/>
    <a:srgbClr val="FFED97"/>
    <a:srgbClr val="0000FF"/>
    <a:srgbClr val="FF6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1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3549DB-4EF3-40B0-A785-8572249070D6}" type="datetimeFigureOut">
              <a:rPr lang="ko-KR" altLang="en-US" smtClean="0"/>
              <a:t>2026-08-11</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E4097B3-0D7D-4E86-933F-EBF9BA5F97E0}" type="slidenum">
              <a:rPr lang="ko-KR" altLang="en-US" smtClean="0"/>
              <a:t>‹#›</a:t>
            </a:fld>
            <a:endParaRPr lang="ko-KR" altLang="en-US"/>
          </a:p>
        </p:txBody>
      </p:sp>
    </p:spTree>
    <p:extLst>
      <p:ext uri="{BB962C8B-B14F-4D97-AF65-F5344CB8AC3E}">
        <p14:creationId xmlns:p14="http://schemas.microsoft.com/office/powerpoint/2010/main" val="19321721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표지">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657105540"/>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서비스 소개">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stretch>
            <a:fillRect/>
          </a:stretch>
        </p:blipFill>
        <p:spPr>
          <a:xfrm>
            <a:off x="0" y="0"/>
            <a:ext cx="12146070" cy="6801799"/>
          </a:xfrm>
          <a:prstGeom prst="rect">
            <a:avLst/>
          </a:prstGeom>
        </p:spPr>
      </p:pic>
    </p:spTree>
    <p:extLst>
      <p:ext uri="{BB962C8B-B14F-4D97-AF65-F5344CB8AC3E}">
        <p14:creationId xmlns:p14="http://schemas.microsoft.com/office/powerpoint/2010/main" val="3536223215"/>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해시태그 연계 핵심 기능별 흐름도">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46070" cy="6820852"/>
          </a:xfrm>
          <a:prstGeom prst="rect">
            <a:avLst/>
          </a:prstGeom>
        </p:spPr>
      </p:pic>
    </p:spTree>
    <p:extLst>
      <p:ext uri="{BB962C8B-B14F-4D97-AF65-F5344CB8AC3E}">
        <p14:creationId xmlns:p14="http://schemas.microsoft.com/office/powerpoint/2010/main" val="1439664904"/>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서비스 관련 이미지">
    <p:spTree>
      <p:nvGrpSpPr>
        <p:cNvPr id="1" name=""/>
        <p:cNvGrpSpPr/>
        <p:nvPr/>
      </p:nvGrpSpPr>
      <p:grpSpPr>
        <a:xfrm>
          <a:off x="0" y="0"/>
          <a:ext cx="0" cy="0"/>
          <a:chOff x="0" y="0"/>
          <a:chExt cx="0" cy="0"/>
        </a:xfrm>
      </p:grpSpPr>
      <p:pic>
        <p:nvPicPr>
          <p:cNvPr id="10" name="그림 9"/>
          <p:cNvPicPr>
            <a:picLocks noChangeAspect="1"/>
          </p:cNvPicPr>
          <p:nvPr userDrawn="1"/>
        </p:nvPicPr>
        <p:blipFill>
          <a:blip r:embed="rId2"/>
          <a:stretch>
            <a:fillRect/>
          </a:stretch>
        </p:blipFill>
        <p:spPr>
          <a:xfrm>
            <a:off x="0" y="0"/>
            <a:ext cx="12146070" cy="6849431"/>
          </a:xfrm>
          <a:prstGeom prst="rect">
            <a:avLst/>
          </a:prstGeom>
        </p:spPr>
      </p:pic>
    </p:spTree>
    <p:extLst>
      <p:ext uri="{BB962C8B-B14F-4D97-AF65-F5344CB8AC3E}">
        <p14:creationId xmlns:p14="http://schemas.microsoft.com/office/powerpoint/2010/main" val="93538241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데이터 활용(한국관광공사 OpenAPI)">
    <p:spTree>
      <p:nvGrpSpPr>
        <p:cNvPr id="1" name=""/>
        <p:cNvGrpSpPr/>
        <p:nvPr/>
      </p:nvGrpSpPr>
      <p:grpSpPr>
        <a:xfrm>
          <a:off x="0" y="0"/>
          <a:ext cx="0" cy="0"/>
          <a:chOff x="0" y="0"/>
          <a:chExt cx="0" cy="0"/>
        </a:xfrm>
      </p:grpSpPr>
      <p:pic>
        <p:nvPicPr>
          <p:cNvPr id="4" name="그림 3"/>
          <p:cNvPicPr>
            <a:picLocks noChangeAspect="1"/>
          </p:cNvPicPr>
          <p:nvPr userDrawn="1"/>
        </p:nvPicPr>
        <p:blipFill>
          <a:blip r:embed="rId2"/>
          <a:stretch>
            <a:fillRect/>
          </a:stretch>
        </p:blipFill>
        <p:spPr>
          <a:xfrm>
            <a:off x="0" y="0"/>
            <a:ext cx="12107965" cy="6830378"/>
          </a:xfrm>
          <a:prstGeom prst="rect">
            <a:avLst/>
          </a:prstGeom>
        </p:spPr>
      </p:pic>
    </p:spTree>
    <p:extLst>
      <p:ext uri="{BB962C8B-B14F-4D97-AF65-F5344CB8AC3E}">
        <p14:creationId xmlns:p14="http://schemas.microsoft.com/office/powerpoint/2010/main" val="2561228989"/>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데이터 활용(기타)">
    <p:spTree>
      <p:nvGrpSpPr>
        <p:cNvPr id="1" name=""/>
        <p:cNvGrpSpPr/>
        <p:nvPr/>
      </p:nvGrpSpPr>
      <p:grpSpPr>
        <a:xfrm>
          <a:off x="0" y="0"/>
          <a:ext cx="0" cy="0"/>
          <a:chOff x="0" y="0"/>
          <a:chExt cx="0" cy="0"/>
        </a:xfrm>
      </p:grpSpPr>
      <p:pic>
        <p:nvPicPr>
          <p:cNvPr id="4" name="그림 3"/>
          <p:cNvPicPr>
            <a:picLocks noChangeAspect="1"/>
          </p:cNvPicPr>
          <p:nvPr userDrawn="1"/>
        </p:nvPicPr>
        <p:blipFill>
          <a:blip r:embed="rId2"/>
          <a:stretch>
            <a:fillRect/>
          </a:stretch>
        </p:blipFill>
        <p:spPr>
          <a:xfrm>
            <a:off x="0" y="0"/>
            <a:ext cx="12127017" cy="6820852"/>
          </a:xfrm>
          <a:prstGeom prst="rect">
            <a:avLst/>
          </a:prstGeom>
        </p:spPr>
      </p:pic>
    </p:spTree>
    <p:extLst>
      <p:ext uri="{BB962C8B-B14F-4D97-AF65-F5344CB8AC3E}">
        <p14:creationId xmlns:p14="http://schemas.microsoft.com/office/powerpoint/2010/main" val="3509833825"/>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서비스 차별성&amp;발전계획">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stretch>
            <a:fillRect/>
          </a:stretch>
        </p:blipFill>
        <p:spPr>
          <a:xfrm>
            <a:off x="0" y="0"/>
            <a:ext cx="12136544" cy="6839905"/>
          </a:xfrm>
          <a:prstGeom prst="rect">
            <a:avLst/>
          </a:prstGeom>
        </p:spPr>
      </p:pic>
    </p:spTree>
    <p:extLst>
      <p:ext uri="{BB962C8B-B14F-4D97-AF65-F5344CB8AC3E}">
        <p14:creationId xmlns:p14="http://schemas.microsoft.com/office/powerpoint/2010/main" val="1459249390"/>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1_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4A38FB6A-844E-4645-B6B8-D2945F9927BB}" type="datetimeFigureOut">
              <a:rPr lang="ko-KR" altLang="en-US" smtClean="0"/>
              <a:t>2026-08-11</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38832701-68F9-4777-ABB9-C14E97591467}" type="slidenum">
              <a:rPr lang="ko-KR" altLang="en-US" smtClean="0"/>
              <a:t>‹#›</a:t>
            </a:fld>
            <a:endParaRPr lang="ko-KR" altLang="en-US"/>
          </a:p>
        </p:txBody>
      </p:sp>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9049151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A38FB6A-844E-4645-B6B8-D2945F9927BB}" type="datetimeFigureOut">
              <a:rPr lang="ko-KR" altLang="en-US" smtClean="0"/>
              <a:t>2026-08-11</a:t>
            </a:fld>
            <a:endParaRPr lang="ko-KR" altLang="en-US"/>
          </a:p>
        </p:txBody>
      </p:sp>
      <p:sp>
        <p:nvSpPr>
          <p:cNvPr id="5" name="바닥글 개체 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8832701-68F9-4777-ABB9-C14E97591467}" type="slidenum">
              <a:rPr lang="ko-KR" altLang="en-US" smtClean="0"/>
              <a:t>‹#›</a:t>
            </a:fld>
            <a:endParaRPr lang="ko-KR" altLang="en-US"/>
          </a:p>
        </p:txBody>
      </p:sp>
    </p:spTree>
    <p:extLst>
      <p:ext uri="{BB962C8B-B14F-4D97-AF65-F5344CB8AC3E}">
        <p14:creationId xmlns:p14="http://schemas.microsoft.com/office/powerpoint/2010/main" val="2217332544"/>
      </p:ext>
    </p:extLst>
  </p:cSld>
  <p:clrMap bg1="lt1" tx1="dk1" bg2="lt2" tx2="dk2" accent1="accent1" accent2="accent2" accent3="accent3" accent4="accent4" accent5="accent5" accent6="accent6" hlink="hlink" folHlink="folHlink"/>
  <p:sldLayoutIdLst>
    <p:sldLayoutId id="2147483649" r:id="rId1"/>
    <p:sldLayoutId id="2147483655" r:id="rId2"/>
    <p:sldLayoutId id="2147483661" r:id="rId3"/>
    <p:sldLayoutId id="2147483666" r:id="rId4"/>
    <p:sldLayoutId id="2147483662" r:id="rId5"/>
    <p:sldLayoutId id="2147483663" r:id="rId6"/>
    <p:sldLayoutId id="2147483664" r:id="rId7"/>
    <p:sldLayoutId id="2147483668" r:id="rId8"/>
  </p:sldLayoutIdLst>
  <p:timing>
    <p:tnLst>
      <p:par>
        <p:cTn id="1" dur="indefinite" restart="never" nodeType="tmRoot"/>
      </p:par>
    </p:tnLst>
  </p:timing>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oneshot-mvp.vercel.app/check?name=%EA%B5%B0%ED%8F%AC%EC%B2%A0%EC%AD%89%EC%B6%95%EC%A0%9C&amp;sido=%EA%B2%BD%EA%B8%B0&amp;sigungu=%EA%B5%B0%ED%8F%AC%EC%8B%9C&amp;n=600000&amp;basis=period&amp;counting=personDays&amp;budget=100000&amp;start=2027-04-17&amp;end=2027-04-25&amp;h1s=2024-04-20&amp;h1e=2024-04-28&amp;h2s=2025-04-19&amp;h2e=2025-04-27&amp;h3s=2026-04-18&amp;h3e=2026-04-26&amp;theme=2&amp;acc=4" TargetMode="External"/><Relationship Id="rId3" Type="http://schemas.openxmlformats.org/officeDocument/2006/relationships/hyperlink" Target="https://oneshot-mvp.vercel.app/judge-guide.pdf" TargetMode="External"/><Relationship Id="rId4" Type="http://schemas.openxmlformats.org/officeDocument/2006/relationships/hyperlink" Target="https://oneshot-mvp.vercel.app/sample-plan.pdf"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oneshot-mvp.vercel.app/check?name=%EA%B5%B0%ED%8F%AC%EC%B2%A0%EC%AD%89%EC%B6%95%EC%A0%9C&amp;sido=%EA%B2%BD%EA%B8%B0&amp;sigungu=%EA%B5%B0%ED%8F%AC%EC%8B%9C&amp;n=600000&amp;basis=period&amp;counting=personDays&amp;budget=100000&amp;start=2027-04-17&amp;end=2027-04-25&amp;h1s=2024-04-20&amp;h1e=2024-04-28&amp;h2s=2025-04-19&amp;h2e=2025-04-27&amp;h3s=2026-04-18&amp;h3e=2026-04-26&amp;theme=2&amp;acc=4" TargetMode="External"/><Relationship Id="rId3" Type="http://schemas.openxmlformats.org/officeDocument/2006/relationships/hyperlink" Target="https://oneshot-mvp.vercel.app/check?name=%ED%99%94%EC%B2%9C%EC%82%B0%EC%B2%9C%EC%96%B4%EC%B6%95%EC%A0%9C&amp;sido=%EA%B0%95%EC%9B%90&amp;sigungu=%ED%99%94%EC%B2%9C%EA%B5%B0&amp;n=1860000&amp;basis=period&amp;counting=personDays&amp;pop=2.3&amp;start=2027-01-09&amp;end=2027-01-31&amp;h1s=2024-01-06&amp;h1e=2024-01-28&amp;h2s=2025-01-11&amp;h2e=2025-02-02&amp;h3s=2026-01-10&amp;h3e=2026-02-0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401AC1"/>
            </a:gs>
            <a:gs pos="100000">
              <a:srgbClr val="280A41"/>
            </a:gs>
            <a:gs pos="75000">
              <a:srgbClr val="230A3A"/>
            </a:gs>
          </a:gsLst>
          <a:lin ang="2700000" scaled="1"/>
          <a:tileRect/>
        </a:gradFill>
        <a:effectLst/>
      </p:bgPr>
    </p:bg>
    <p:spTree>
      <p:nvGrpSpPr>
        <p:cNvPr id="1" name=""/>
        <p:cNvGrpSpPr/>
        <p:nvPr/>
      </p:nvGrpSpPr>
      <p:grpSpPr>
        <a:xfrm>
          <a:off x="0" y="0"/>
          <a:ext cx="0" cy="0"/>
          <a:chOff x="0" y="0"/>
          <a:chExt cx="0" cy="0"/>
        </a:xfrm>
      </p:grpSpPr>
      <p:graphicFrame>
        <p:nvGraphicFramePr>
          <p:cNvPr id="6" name="표 5"/>
          <p:cNvGraphicFramePr>
            <a:graphicFrameLocks noGrp="1"/>
          </p:cNvGraphicFramePr>
          <p:nvPr>
            <p:extLst>
              <p:ext uri="{D42A27DB-BD31-4B8C-83A1-F6EECF244321}">
                <p14:modId xmlns:p14="http://schemas.microsoft.com/office/powerpoint/2010/main" val="1189898654"/>
              </p:ext>
            </p:extLst>
          </p:nvPr>
        </p:nvGraphicFramePr>
        <p:xfrm>
          <a:off x="527397" y="4563687"/>
          <a:ext cx="6712988" cy="1112210"/>
        </p:xfrm>
        <a:graphic>
          <a:graphicData uri="http://schemas.openxmlformats.org/drawingml/2006/table">
            <a:tbl>
              <a:tblPr firstRow="1" bandRow="1">
                <a:tableStyleId>{5C22544A-7EE6-4342-B048-85BDC9FD1C3A}</a:tableStyleId>
              </a:tblPr>
              <a:tblGrid>
                <a:gridCol w="1891569">
                  <a:extLst>
                    <a:ext uri="{9D8B030D-6E8A-4147-A177-3AD203B41FA5}">
                      <a16:colId xmlns:a16="http://schemas.microsoft.com/office/drawing/2014/main" val="2581860913"/>
                    </a:ext>
                  </a:extLst>
                </a:gridCol>
                <a:gridCol w="4821419">
                  <a:extLst>
                    <a:ext uri="{9D8B030D-6E8A-4147-A177-3AD203B41FA5}">
                      <a16:colId xmlns:a16="http://schemas.microsoft.com/office/drawing/2014/main" val="1059508984"/>
                    </a:ext>
                  </a:extLst>
                </a:gridCol>
              </a:tblGrid>
              <a:tr h="547792">
                <a:tc>
                  <a:txBody>
                    <a:bodyPr/>
                    <a:lstStyle/>
                    <a:p>
                      <a:pPr algn="ctr" latinLnBrk="1"/>
                      <a:r>
                        <a:rPr lang="ko-KR" altLang="en-US" sz="2400" b="1">
                          <a:solidFill>
                            <a:schemeClr val="bg1"/>
                          </a:solidFill>
                        </a:rPr>
                        <a:t>팀 명</a:t>
                      </a:r>
                    </a:p>
                  </a:txBody>
                  <a:tcPr anchor="ctr">
                    <a:lnR w="12700" cap="flat" cmpd="sng" algn="ctr">
                      <a:solidFill>
                        <a:schemeClr val="bg1">
                          <a:lumMod val="85000"/>
                        </a:schemeClr>
                      </a:solidFill>
                      <a:prstDash val="solid"/>
                      <a:round/>
                      <a:headEnd type="none" w="med" len="med"/>
                      <a:tailEnd type="none" w="med" len="med"/>
                    </a:lnR>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a:lnSpc>
                          <a:spcPct val="115000"/>
                        </a:lnSpc>
                      </a:pPr>
                      <a:r>
                        <a:rPr>
                          <a:solidFill>
                            <a:srgbClr val="1A1A1A"/>
                          </a:solidFill>
                          <a:latin typeface="Noto Sans KR"/>
                          <a:ea typeface="Noto Sans KR"/>
                          <a:cs typeface="Noto Sans KR"/>
                        </a:rPr>
                        <a:t>장준용 (숭실대학교 AI소프트웨어학부)</a:t>
                      </a:r>
                    </a:p>
                  </a:txBody>
                  <a:tcPr anchor="ctr">
                    <a:lnL w="12700" cap="flat" cmpd="sng" algn="ctr">
                      <a:solidFill>
                        <a:schemeClr val="bg1">
                          <a:lumMod val="85000"/>
                        </a:schemeClr>
                      </a:solidFill>
                      <a:prstDash val="solid"/>
                      <a:round/>
                      <a:headEnd type="none" w="med" len="med"/>
                      <a:tailEnd type="none" w="med" len="med"/>
                    </a:lnL>
                    <a:lnB w="12700" cap="flat" cmpd="sng" algn="ctr">
                      <a:solidFill>
                        <a:schemeClr val="bg1">
                          <a:lumMod val="85000"/>
                        </a:schemeClr>
                      </a:solidFill>
                      <a:prstDash val="solid"/>
                      <a:round/>
                      <a:headEnd type="none" w="med" len="med"/>
                      <a:tailEnd type="none" w="med" len="med"/>
                    </a:lnB>
                    <a:solidFill>
                      <a:srgbClr val="BBBCDE"/>
                    </a:solidFill>
                  </a:tcPr>
                </a:tc>
                <a:extLst>
                  <a:ext uri="{0D108BD9-81ED-4DB2-BD59-A6C34878D82A}">
                    <a16:rowId xmlns:a16="http://schemas.microsoft.com/office/drawing/2014/main" val="3342559057"/>
                  </a:ext>
                </a:extLst>
              </a:tr>
              <a:tr h="564418">
                <a:tc>
                  <a:txBody>
                    <a:bodyPr/>
                    <a:lstStyle/>
                    <a:p>
                      <a:pPr algn="ctr" latinLnBrk="1"/>
                      <a:r>
                        <a:rPr lang="ko-KR" altLang="en-US" sz="2400" b="1">
                          <a:solidFill>
                            <a:schemeClr val="bg1"/>
                          </a:solidFill>
                        </a:rPr>
                        <a:t>서비스</a:t>
                      </a:r>
                      <a:r>
                        <a:rPr lang="ko-KR" altLang="en-US" sz="2400" b="1" baseline="0">
                          <a:solidFill>
                            <a:schemeClr val="bg1"/>
                          </a:solidFill>
                        </a:rPr>
                        <a:t> </a:t>
                      </a:r>
                      <a:r>
                        <a:rPr lang="ko-KR" altLang="en-US" sz="2400" b="1">
                          <a:solidFill>
                            <a:schemeClr val="bg1"/>
                          </a:solidFill>
                        </a:rPr>
                        <a:t>명</a:t>
                      </a:r>
                    </a:p>
                  </a:txBody>
                  <a:tcPr anchor="ctr">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solidFill>
                      <a:srgbClr val="372472"/>
                    </a:solidFill>
                  </a:tcPr>
                </a:tc>
                <a:tc>
                  <a:txBody>
                    <a:bodyPr/>
                    <a:lstStyle/>
                    <a:p>
                      <a:pPr>
                        <a:lnSpc>
                          <a:spcPct val="115000"/>
                        </a:lnSpc>
                      </a:pPr>
                      <a:r>
                        <a:rPr>
                          <a:solidFill>
                            <a:srgbClr val="1A1A1A"/>
                          </a:solidFill>
                          <a:latin typeface="Noto Sans KR"/>
                          <a:ea typeface="Noto Sans KR"/>
                          <a:cs typeface="Noto Sans KR"/>
                        </a:rPr>
                        <a:t>기획안 팩트체크 - 지자체 축제 예산 심의용 실측 검증</a:t>
                      </a:r>
                    </a:p>
                  </a:txBody>
                  <a:tcPr anchor="ctr">
                    <a:lnL w="12700" cap="flat" cmpd="sng" algn="ctr">
                      <a:solidFill>
                        <a:schemeClr val="bg1">
                          <a:lumMod val="85000"/>
                        </a:schemeClr>
                      </a:solidFill>
                      <a:prstDash val="solid"/>
                      <a:round/>
                      <a:headEnd type="none" w="med" len="med"/>
                      <a:tailEnd type="none" w="med" len="med"/>
                    </a:lnL>
                    <a:lnT w="12700" cap="flat" cmpd="sng" algn="ctr">
                      <a:solidFill>
                        <a:schemeClr val="bg1">
                          <a:lumMod val="85000"/>
                        </a:schemeClr>
                      </a:solidFill>
                      <a:prstDash val="solid"/>
                      <a:round/>
                      <a:headEnd type="none" w="med" len="med"/>
                      <a:tailEnd type="none" w="med" len="med"/>
                    </a:lnT>
                    <a:solidFill>
                      <a:srgbClr val="BBBCDE"/>
                    </a:solidFill>
                  </a:tcPr>
                </a:tc>
                <a:extLst>
                  <a:ext uri="{0D108BD9-81ED-4DB2-BD59-A6C34878D82A}">
                    <a16:rowId xmlns:a16="http://schemas.microsoft.com/office/drawing/2014/main" val="2441169869"/>
                  </a:ext>
                </a:extLst>
              </a:tr>
            </a:tbl>
          </a:graphicData>
        </a:graphic>
      </p:graphicFrame>
      <p:sp>
        <p:nvSpPr>
          <p:cNvPr id="7" name="TextBox 6"/>
          <p:cNvSpPr txBox="1"/>
          <p:nvPr/>
        </p:nvSpPr>
        <p:spPr>
          <a:xfrm>
            <a:off x="527397" y="5765897"/>
            <a:ext cx="6712988" cy="330000"/>
          </a:xfrm>
          <a:prstGeom prst="rect">
            <a:avLst/>
          </a:prstGeom>
          <a:noFill/>
        </p:spPr>
        <p:txBody>
          <a:bodyPr wrap="none">
            <a:spAutoFit/>
          </a:bodyPr>
          <a:lstStyle/>
          <a:p>
            <a:r>
              <a:rPr sz="1100" u="none">
                <a:solidFill>
                  <a:srgbClr val="FFFFFF"/>
                </a:solidFill>
                <a:latin typeface="Noto Sans KR"/>
                <a:ea typeface="Noto Sans KR"/>
                <a:cs typeface="Noto Sans KR"/>
              </a:rPr>
              <a:t>oneshot-mvp.vercel.app  ·  로그인·설치 없음  ·  한국관광공사 TourAPI(KT 이동통신) 일별 실측 기반</a:t>
            </a:r>
          </a:p>
        </p:txBody>
      </p:sp>
    </p:spTree>
    <p:extLst>
      <p:ext uri="{BB962C8B-B14F-4D97-AF65-F5344CB8AC3E}">
        <p14:creationId xmlns:p14="http://schemas.microsoft.com/office/powerpoint/2010/main" val="135344982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4119378647"/>
              </p:ext>
            </p:extLst>
          </p:nvPr>
        </p:nvGraphicFramePr>
        <p:xfrm>
          <a:off x="271088" y="1065402"/>
          <a:ext cx="11649825" cy="565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400000">
                <a:tc>
                  <a:txBody>
                    <a:bodyPr/>
                    <a:lstStyle/>
                    <a:p>
                      <a:pPr algn="ctr" latinLnBrk="1"/>
                      <a:r>
                        <a:rPr lang="ko-KR" altLang="en-US" b="1">
                          <a:solidFill>
                            <a:schemeClr val="bg1"/>
                          </a:solidFill>
                        </a:rPr>
                        <a:t>서비스명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lnSpc>
                          <a:spcPct val="115000"/>
                        </a:lnSpc>
                        <a:spcBef>
                          <a:spcPts val="0"/>
                        </a:spcBef>
                        <a:spcAft>
                          <a:spcPts val="0"/>
                        </a:spcAft>
                        <a:buNone/>
                      </a:pPr>
                      <a:r>
                        <a:rPr lang="en-US" altLang="ko-KR" sz="1100" b="0" smtClean="0">
                          <a:solidFill>
                            <a:srgbClr val="1A1A1A"/>
                          </a:solidFill>
                          <a:latin typeface="Noto Sans KR"/>
                          <a:ea typeface="Noto Sans KR"/>
                          <a:cs typeface="Noto Sans KR"/>
                        </a:rPr>
                        <a:t>기획안 팩트체크 - 지자체 축제 예산 심의용 실측 검증</a:t>
                      </a:r>
                      <a:endParaRPr lang="en-US" altLang="ko-KR" sz="1800" b="0" baseline="0" smtClean="0">
                        <a:solidFill>
                          <a:schemeClr val="tx1"/>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380000">
                <a:tc>
                  <a:txBody>
                    <a:bodyPr/>
                    <a:lstStyle/>
                    <a:p>
                      <a:pPr algn="ctr" latinLnBrk="1"/>
                      <a:r>
                        <a:rPr lang="ko-KR" altLang="en-US" b="1">
                          <a:solidFill>
                            <a:schemeClr val="bg1"/>
                          </a:solidFill>
                        </a:rPr>
                        <a:t>서비스 유형</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lnSpc>
                          <a:spcPct val="115000"/>
                        </a:lnSpc>
                        <a:spcBef>
                          <a:spcPts val="0"/>
                        </a:spcBef>
                        <a:spcAft>
                          <a:spcPts val="0"/>
                        </a:spcAft>
                        <a:buNone/>
                      </a:pPr>
                      <a:r>
                        <a:rPr lang="en-US" altLang="ko-KR" sz="1100" b="0">
                          <a:solidFill>
                            <a:srgbClr val="1A1A1A"/>
                          </a:solidFill>
                          <a:latin typeface="Noto Sans KR"/>
                          <a:ea typeface="Noto Sans KR"/>
                          <a:cs typeface="Noto Sans KR"/>
                        </a:rPr>
                        <a:t>웹 서비스 (데스크톱 크롬 권장 · 로그인 없음 · 설치 없음)</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126837495"/>
                  </a:ext>
                </a:extLst>
              </a:tr>
              <a:tr h="700000">
                <a:tc>
                  <a:txBody>
                    <a:bodyPr/>
                    <a:lstStyle/>
                    <a:p>
                      <a:pPr algn="ctr" latinLnBrk="1"/>
                      <a:r>
                        <a:rPr lang="ko-KR" altLang="en-US" b="1">
                          <a:solidFill>
                            <a:schemeClr val="bg1"/>
                          </a:solidFill>
                        </a:rPr>
                        <a:t>서비스 </a:t>
                      </a:r>
                      <a:r>
                        <a:rPr lang="ko-KR" altLang="en-US" b="1" smtClean="0">
                          <a:solidFill>
                            <a:schemeClr val="bg1"/>
                          </a:solidFill>
                        </a:rPr>
                        <a:t>타깃</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15000"/>
                        </a:lnSpc>
                        <a:spcBef>
                          <a:spcPts val="0"/>
                        </a:spcBef>
                        <a:spcAft>
                          <a:spcPts val="0"/>
                        </a:spcAft>
                        <a:buClrTx/>
                        <a:buSzTx/>
                        <a:buFontTx/>
                        <a:buNone/>
                        <a:tabLst/>
                        <a:defRPr/>
                      </a:pPr>
                      <a:r>
                        <a:rPr lang="en-US" altLang="ko-KR" sz="1200">
                          <a:solidFill>
                            <a:srgbClr val="1A1A1A"/>
                          </a:solidFill>
                          <a:latin typeface="Noto Sans KR"/>
                          <a:ea typeface="Noto Sans KR"/>
                          <a:cs typeface="Noto Sans KR"/>
                        </a:rPr>
                        <a:t>시·군 문화관광과 축제 담당 공무원과 축제 위탁사 실무자. 예산을 집행하기 전에 기획안의 예상 방문객·예산이 근거가 있는지를 심의에 증빙해야 하는데, 기댈 것이 작년 발표치와 경험뿐인 사람.</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64568051"/>
                  </a:ext>
                </a:extLst>
              </a:tr>
              <a:tr h="1430000">
                <a:tc>
                  <a:txBody>
                    <a:bodyPr/>
                    <a:lstStyle/>
                    <a:p>
                      <a:pPr algn="ctr" latinLnBrk="1"/>
                      <a:r>
                        <a:rPr lang="ko-KR" altLang="en-US" b="1">
                          <a:solidFill>
                            <a:schemeClr val="bg1"/>
                          </a:solidFill>
                        </a:rPr>
                        <a:t>서비스 개요</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15000"/>
                        </a:lnSpc>
                        <a:spcBef>
                          <a:spcPts val="0"/>
                        </a:spcBef>
                        <a:spcAft>
                          <a:spcPts val="0"/>
                        </a:spcAft>
                        <a:buClrTx/>
                        <a:buSzTx/>
                        <a:buFontTx/>
                        <a:buNone/>
                        <a:tabLst/>
                        <a:defRPr/>
                      </a:pPr>
                      <a:r>
                        <a:rPr lang="en-US" altLang="ko-KR" sz="1100">
                          <a:solidFill>
                            <a:srgbClr val="1A1A1A"/>
                          </a:solidFill>
                          <a:latin typeface="Noto Sans KR"/>
                          <a:ea typeface="Noto Sans KR"/>
                          <a:cs typeface="Noto Sans KR"/>
                        </a:rPr>
                        <a:t>축제 기획서(PDF)를 올리면 예상 방문객·기간·예산을 옮겨 적고, 그 축제가 지난 회차에 실제로 겪은 한국관광공사 KT 시군구 일별 실측과 같은 기준으로 재서 통과/주의/과대/과소/상한 초과/근거 없음을 판정하며, 내년 배수 구간·1인당 예산 대조·귀속 경고·결재 첨부용 검증 보고서 A4 2장과 행사장 도면 보행 시뮬레이션까지 한 화면에서 냅니다(판정·시뮬에 생성형 모델을 쓰지 않습니다).</a:t>
                      </a:r>
                    </a:p>
                    <a:p>
                      <a:pPr marL="0" marR="0" lvl="0" indent="0" algn="just" defTabSz="914400" rtl="0" eaLnBrk="1" fontAlgn="auto" latinLnBrk="1" hangingPunct="1">
                        <a:lnSpc>
                          <a:spcPct val="115000"/>
                        </a:lnSpc>
                        <a:spcBef>
                          <a:spcPts val="0"/>
                        </a:spcBef>
                        <a:spcAft>
                          <a:spcPts val="0"/>
                        </a:spcAft>
                        <a:buClrTx/>
                        <a:buSzTx/>
                        <a:buFontTx/>
                        <a:buNone/>
                        <a:tabLst/>
                        <a:defRPr/>
                      </a:pPr>
                      <a:r>
                        <a:rPr lang="en-US" altLang="ko-KR" sz="1100">
                          <a:solidFill>
                            <a:srgbClr val="1A1A1A"/>
                          </a:solidFill>
                          <a:latin typeface="Noto Sans KR"/>
                          <a:ea typeface="Noto Sans KR"/>
                          <a:cs typeface="Noto Sans KR"/>
                        </a:rPr>
                        <a:t>심사용 경로 - 서비스 주소 oneshot-mvp.vercel.app (로그인·설치 없음). 올릴 기획서가 없으면 </a:t>
                      </a:r>
                      <a:r>
                        <a:rPr lang="en-US" altLang="ko-KR" sz="1100">
                          <a:solidFill>
                            <a:srgbClr val="1A1A1A"/>
                          </a:solidFill>
                          <a:latin typeface="Noto Sans KR"/>
                          <a:ea typeface="Noto Sans KR"/>
                          <a:cs typeface="Noto Sans KR"/>
                          <a:hlinkClick r:id="rId2"/>
                        </a:rPr>
                        <a:t>[군포철쭉축제 2027 판정 화면 열기]</a:t>
                      </a:r>
                      <a:r>
                        <a:rPr lang="en-US" altLang="ko-KR" sz="1100">
                          <a:solidFill>
                            <a:srgbClr val="1A1A1A"/>
                          </a:solidFill>
                          <a:latin typeface="Noto Sans KR"/>
                          <a:ea typeface="Noto Sans KR"/>
                          <a:cs typeface="Noto Sans KR"/>
                        </a:rPr>
                        <a:t> 를 누르면 바로 열립니다.</a:t>
                      </a:r>
                    </a:p>
                    <a:p>
                      <a:pPr marL="0" marR="0" lvl="0" indent="0" algn="just" defTabSz="914400" rtl="0" eaLnBrk="1" fontAlgn="auto" latinLnBrk="1" hangingPunct="1">
                        <a:lnSpc>
                          <a:spcPct val="115000"/>
                        </a:lnSpc>
                        <a:spcBef>
                          <a:spcPts val="0"/>
                        </a:spcBef>
                        <a:spcAft>
                          <a:spcPts val="0"/>
                        </a:spcAft>
                        <a:buClrTx/>
                        <a:buSzTx/>
                        <a:buFontTx/>
                        <a:buNone/>
                        <a:tabLst/>
                        <a:defRPr/>
                      </a:pPr>
                      <a:r>
                        <a:rPr lang="en-US" altLang="ko-KR" sz="1100">
                          <a:solidFill>
                            <a:srgbClr val="1A1A1A"/>
                          </a:solidFill>
                          <a:latin typeface="Noto Sans KR"/>
                          <a:ea typeface="Noto Sans KR"/>
                          <a:cs typeface="Noto Sans KR"/>
                        </a:rPr>
                        <a:t>시연 안내 </a:t>
                      </a:r>
                      <a:r>
                        <a:rPr lang="en-US" altLang="ko-KR" sz="1100">
                          <a:solidFill>
                            <a:srgbClr val="1A1A1A"/>
                          </a:solidFill>
                          <a:latin typeface="Noto Sans KR"/>
                          <a:ea typeface="Noto Sans KR"/>
                          <a:cs typeface="Noto Sans KR"/>
                          <a:hlinkClick r:id="rId3"/>
                        </a:rPr>
                        <a:t>oneshot-mvp.vercel.app/judge-guide.pdf</a:t>
                      </a:r>
                      <a:r>
                        <a:rPr lang="en-US" altLang="ko-KR" sz="1100">
                          <a:solidFill>
                            <a:srgbClr val="1A1A1A"/>
                          </a:solidFill>
                          <a:latin typeface="Noto Sans KR"/>
                          <a:ea typeface="Noto Sans KR"/>
                          <a:cs typeface="Noto Sans KR"/>
                        </a:rPr>
                        <a:t> · 예비 데모 기획서 </a:t>
                      </a:r>
                      <a:r>
                        <a:rPr lang="en-US" altLang="ko-KR" sz="1100">
                          <a:solidFill>
                            <a:srgbClr val="1A1A1A"/>
                          </a:solidFill>
                          <a:latin typeface="Noto Sans KR"/>
                          <a:ea typeface="Noto Sans KR"/>
                          <a:cs typeface="Noto Sans KR"/>
                          <a:hlinkClick r:id="rId4"/>
                        </a:rPr>
                        <a:t>oneshot-mvp.vercel.app/sample-plan.pdf</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69164922"/>
                  </a:ext>
                </a:extLst>
              </a:tr>
              <a:tr h="440000">
                <a:tc>
                  <a:txBody>
                    <a:bodyPr/>
                    <a:lstStyle/>
                    <a:p>
                      <a:pPr algn="ctr" latinLnBrk="1"/>
                      <a:r>
                        <a:rPr lang="ko-KR" altLang="en-US" b="1" smtClean="0">
                          <a:solidFill>
                            <a:schemeClr val="bg1"/>
                          </a:solidFill>
                        </a:rPr>
                        <a:t>선택 </a:t>
                      </a:r>
                      <a:r>
                        <a:rPr lang="ko-KR" altLang="en-US" b="1" err="1" smtClean="0">
                          <a:solidFill>
                            <a:schemeClr val="bg1"/>
                          </a:solidFill>
                        </a:rPr>
                        <a:t>지정과제</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lnSpc>
                          <a:spcPct val="115000"/>
                        </a:lnSpc>
                        <a:spcBef>
                          <a:spcPts val="0"/>
                        </a:spcBef>
                        <a:spcAft>
                          <a:spcPts val="0"/>
                        </a:spcAft>
                        <a:buNone/>
                      </a:pPr>
                      <a:r>
                        <a:rPr lang="en-US" altLang="ko-KR" sz="1100" b="0" baseline="0" smtClean="0">
                          <a:solidFill>
                            <a:srgbClr val="1A1A1A"/>
                          </a:solidFill>
                          <a:latin typeface="Noto Sans KR"/>
                          <a:ea typeface="Noto Sans KR"/>
                          <a:cs typeface="Noto Sans KR"/>
                        </a:rPr>
                        <a:t>과제번호 9번 - 축제 흥행 예보 서비스 (#축제/행사 기획 #사전 수요 예측 #보완 피드백 제공 #데이터 기반)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r h="230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800" b="1" err="1" smtClean="0">
                          <a:solidFill>
                            <a:schemeClr val="bg1"/>
                          </a:solidFill>
                        </a:rPr>
                        <a:t>지정과제</a:t>
                      </a:r>
                      <a:endParaRPr lang="en-US" altLang="ko-KR" sz="1800" b="1" baseline="0" smtClean="0">
                        <a:solidFill>
                          <a:schemeClr val="bg1"/>
                        </a:solidFill>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800" b="1" baseline="0" smtClean="0">
                          <a:solidFill>
                            <a:schemeClr val="bg1"/>
                          </a:solidFill>
                        </a:rPr>
                        <a:t>선택</a:t>
                      </a:r>
                      <a:r>
                        <a:rPr lang="en-US" altLang="ko-KR" sz="1800" b="1" baseline="0" smtClean="0">
                          <a:solidFill>
                            <a:schemeClr val="bg1"/>
                          </a:solidFill>
                        </a:rPr>
                        <a:t> </a:t>
                      </a:r>
                      <a:r>
                        <a:rPr lang="ko-KR" altLang="en-US" sz="1800" b="1" baseline="0" smtClean="0">
                          <a:solidFill>
                            <a:schemeClr val="bg1"/>
                          </a:solidFill>
                        </a:rPr>
                        <a:t>이유</a:t>
                      </a:r>
                      <a:endParaRPr lang="ko-KR" altLang="en-US" sz="1800"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15000"/>
                        </a:lnSpc>
                        <a:spcBef>
                          <a:spcPts val="0"/>
                        </a:spcBef>
                        <a:spcAft>
                          <a:spcPts val="0"/>
                        </a:spcAft>
                        <a:buClrTx/>
                        <a:buSzTx/>
                        <a:buFontTx/>
                        <a:buNone/>
                        <a:tabLst/>
                        <a:defRPr/>
                      </a:pPr>
                      <a:r>
                        <a:rPr lang="en-US" altLang="ko-KR" sz="1100" b="0" smtClean="0">
                          <a:solidFill>
                            <a:srgbClr val="1A1A1A"/>
                          </a:solidFill>
                          <a:latin typeface="Noto Sans KR"/>
                          <a:ea typeface="Noto Sans KR"/>
                          <a:cs typeface="Noto Sans KR"/>
                        </a:rPr>
                        <a:t>지정과제가 지목한 문제는 둘입니다. 축제 수요 예측이 빗나가 예산이 낭비되는 것, 그리고 관광객이 한곳에 몰려 만족도가 떨어지는 것. 앞은 판정으로, 뒤는 행사장 도면 시뮬레이션으로 다룹니다.</a:t>
                      </a:r>
                    </a:p>
                    <a:p>
                      <a:pPr marL="0" marR="0" lvl="0" indent="0" algn="just" defTabSz="914400" rtl="0" eaLnBrk="1" fontAlgn="auto" latinLnBrk="1" hangingPunct="1">
                        <a:lnSpc>
                          <a:spcPct val="115000"/>
                        </a:lnSpc>
                        <a:spcBef>
                          <a:spcPts val="0"/>
                        </a:spcBef>
                        <a:spcAft>
                          <a:spcPts val="0"/>
                        </a:spcAft>
                        <a:buClrTx/>
                        <a:buSzTx/>
                        <a:buFontTx/>
                        <a:buNone/>
                        <a:tabLst/>
                        <a:defRPr/>
                      </a:pPr>
                      <a:r>
                        <a:rPr lang="en-US" altLang="ko-KR" sz="1100" b="0" smtClean="0">
                          <a:solidFill>
                            <a:srgbClr val="1A1A1A"/>
                          </a:solidFill>
                          <a:latin typeface="Noto Sans KR"/>
                          <a:ea typeface="Noto Sans KR"/>
                          <a:cs typeface="Noto Sans KR"/>
                        </a:rPr>
                        <a:t>문제의 뿌리는 숫자의 출처입니다. 군포철쭉축제의 시 발표 방문객은 2024년 360,370명에서 2025년 545,802명으로 51% 늘었는데(연합뉴스 2025-04-28), 같은 축제를 공사 KT 일별 실측으로 재면 최대일 외지인은 102,589명에서 110,184명, 7% 늘었습니다. 기간 총계를 세면 51%, 하루 외지인을 세면 7% 입니다.</a:t>
                      </a:r>
                    </a:p>
                    <a:p>
                      <a:pPr marL="0" marR="0" lvl="0" indent="0" algn="just" defTabSz="914400" rtl="0" eaLnBrk="1" fontAlgn="auto" latinLnBrk="1" hangingPunct="1">
                        <a:lnSpc>
                          <a:spcPct val="115000"/>
                        </a:lnSpc>
                        <a:spcBef>
                          <a:spcPts val="0"/>
                        </a:spcBef>
                        <a:spcAft>
                          <a:spcPts val="0"/>
                        </a:spcAft>
                        <a:buClrTx/>
                        <a:buSzTx/>
                        <a:buFontTx/>
                        <a:buNone/>
                        <a:tabLst/>
                        <a:defRPr/>
                      </a:pPr>
                      <a:r>
                        <a:rPr lang="en-US" altLang="ko-KR" sz="1100" b="0" smtClean="0">
                          <a:solidFill>
                            <a:srgbClr val="1A1A1A"/>
                          </a:solidFill>
                          <a:latin typeface="Noto Sans KR"/>
                          <a:ea typeface="Noto Sans KR"/>
                          <a:cs typeface="Noto Sans KR"/>
                        </a:rPr>
                        <a:t>어느 쪽이 맞는지 가리려는 것이 아니라, 예산 심의에 올라가는 숫자가 무엇을 센 값인지를 화면에서 밝히자는 것입니다. 2025년 발표 최다일 217,502명(4월 20일)은 같은 날 KT 가 센 군포시 전체 체류 232,198명의 94%였습니다. 실측은 이미 공사 데이터랩에 있고, 기획 단계에서 쓰이지 않을 뿐입니다.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8133503"/>
                  </a:ext>
                </a:extLst>
              </a:tr>
            </a:tbl>
          </a:graphicData>
        </a:graphic>
      </p:graphicFrame>
    </p:spTree>
    <p:extLst>
      <p:ext uri="{BB962C8B-B14F-4D97-AF65-F5344CB8AC3E}">
        <p14:creationId xmlns:p14="http://schemas.microsoft.com/office/powerpoint/2010/main" val="152600099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표 7"/>
          <p:cNvGraphicFramePr>
            <a:graphicFrameLocks noGrp="1"/>
          </p:cNvGraphicFramePr>
          <p:nvPr>
            <p:extLst>
              <p:ext uri="{D42A27DB-BD31-4B8C-83A1-F6EECF244321}">
                <p14:modId xmlns:p14="http://schemas.microsoft.com/office/powerpoint/2010/main" val="3976248600"/>
              </p:ext>
            </p:extLst>
          </p:nvPr>
        </p:nvGraphicFramePr>
        <p:xfrm>
          <a:off x="271088" y="1065401"/>
          <a:ext cx="11649825" cy="55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330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baseline="0" dirty="0" err="1" smtClean="0">
                          <a:solidFill>
                            <a:schemeClr val="bg1"/>
                          </a:solidFill>
                        </a:rPr>
                        <a:t>지정과제</a:t>
                      </a:r>
                      <a:r>
                        <a:rPr lang="ko-KR" altLang="en-US" b="1" baseline="0" dirty="0" smtClean="0">
                          <a:solidFill>
                            <a:schemeClr val="bg1"/>
                          </a:solidFill>
                        </a:rPr>
                        <a:t> 기반</a:t>
                      </a:r>
                      <a:endParaRPr lang="en-US" altLang="ko-KR" b="1" baseline="0" dirty="0" smtClean="0">
                        <a:solidFill>
                          <a:schemeClr val="bg1"/>
                        </a:solidFill>
                      </a:endParaRPr>
                    </a:p>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b="1" baseline="0" dirty="0" smtClean="0">
                          <a:solidFill>
                            <a:schemeClr val="bg1"/>
                          </a:solidFill>
                        </a:rPr>
                        <a:t>서비스 기획 방향</a:t>
                      </a:r>
                      <a:endParaRPr lang="en-US" altLang="ko-KR" b="1" baseline="0"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75000"/>
                        </a:lnSpc>
                        <a:spcBef>
                          <a:spcPts val="0"/>
                        </a:spcBef>
                        <a:spcAft>
                          <a:spcPts val="0"/>
                        </a:spcAft>
                        <a:buClrTx/>
                        <a:buSzTx/>
                        <a:buFontTx/>
                        <a:buNone/>
                        <a:tabLst/>
                        <a:defRPr/>
                      </a:pPr>
                      <a:r>
                        <a:rPr lang="en-US" altLang="ko-KR" sz="1300" b="0" dirty="0" smtClean="0">
                          <a:solidFill>
                            <a:srgbClr val="1A1A1A"/>
                          </a:solidFill>
                          <a:latin typeface="Noto Sans KR"/>
                          <a:ea typeface="Noto Sans KR"/>
                          <a:cs typeface="Noto Sans KR"/>
                        </a:rPr>
                        <a:t>기획안에 적힌 숫자를 실측으로 다시 재는 것, 방향은 이것 하나입니다.</a:t>
                      </a:r>
                    </a:p>
                    <a:p>
                      <a:pPr marL="0" marR="0" lvl="0" indent="0" algn="just" defTabSz="914400" rtl="0" eaLnBrk="1" fontAlgn="auto" latinLnBrk="1" hangingPunct="1">
                        <a:lnSpc>
                          <a:spcPct val="175000"/>
                        </a:lnSpc>
                        <a:spcBef>
                          <a:spcPts val="0"/>
                        </a:spcBef>
                        <a:spcAft>
                          <a:spcPts val="0"/>
                        </a:spcAft>
                        <a:buClrTx/>
                        <a:buSzTx/>
                        <a:buFontTx/>
                        <a:buNone/>
                        <a:tabLst/>
                        <a:defRPr/>
                      </a:pPr>
                      <a:r>
                        <a:rPr lang="en-US" altLang="ko-KR" sz="1300" b="0" dirty="0" smtClean="0">
                          <a:solidFill>
                            <a:srgbClr val="1A1A1A"/>
                          </a:solidFill>
                          <a:latin typeface="Noto Sans KR"/>
                          <a:ea typeface="Noto Sans KR"/>
                          <a:cs typeface="Noto Sans KR"/>
                        </a:rPr>
                        <a:t>- 기준은 그 축제 자신의 지난 회차입니다. 발표 집계가 아니라 KT 가 센 평소 대비 외지인 배수를 씁니다.</a:t>
                      </a:r>
                    </a:p>
                    <a:p>
                      <a:pPr marL="0" marR="0" lvl="0" indent="0" algn="just" defTabSz="914400" rtl="0" eaLnBrk="1" fontAlgn="auto" latinLnBrk="1" hangingPunct="1">
                        <a:lnSpc>
                          <a:spcPct val="175000"/>
                        </a:lnSpc>
                        <a:spcBef>
                          <a:spcPts val="0"/>
                        </a:spcBef>
                        <a:spcAft>
                          <a:spcPts val="0"/>
                        </a:spcAft>
                        <a:buClrTx/>
                        <a:buSzTx/>
                        <a:buFontTx/>
                        <a:buNone/>
                        <a:tabLst/>
                        <a:defRPr/>
                      </a:pPr>
                      <a:r>
                        <a:rPr lang="en-US" altLang="ko-KR" sz="1300" b="0" dirty="0" smtClean="0">
                          <a:solidFill>
                            <a:srgbClr val="1A1A1A"/>
                          </a:solidFill>
                          <a:latin typeface="Noto Sans KR"/>
                          <a:ea typeface="Noto Sans KR"/>
                          <a:cs typeface="Noto Sans KR"/>
                        </a:rPr>
                        <a:t>- 판정은 세 단계입니다. 모집단 상한(하드 게이트) → 순증분(보조 신호) → 동일 정의 배수(주 근거). 임계값은 군포 2026 실측 한 건과 619건 또래 분포로 맞춘 값이고, 화면이 먼저 "정한 값"이라고 적습니다.</a:t>
                      </a:r>
                    </a:p>
                    <a:p>
                      <a:pPr marL="0" marR="0" lvl="0" indent="0" algn="just" defTabSz="914400" rtl="0" eaLnBrk="1" fontAlgn="auto" latinLnBrk="1" hangingPunct="1">
                        <a:lnSpc>
                          <a:spcPct val="175000"/>
                        </a:lnSpc>
                        <a:spcBef>
                          <a:spcPts val="0"/>
                        </a:spcBef>
                        <a:spcAft>
                          <a:spcPts val="0"/>
                        </a:spcAft>
                        <a:buClrTx/>
                        <a:buSzTx/>
                        <a:buFontTx/>
                        <a:buNone/>
                        <a:tabLst/>
                        <a:defRPr/>
                      </a:pPr>
                      <a:r>
                        <a:rPr lang="en-US" altLang="ko-KR" sz="1300" b="0" dirty="0" smtClean="0">
                          <a:solidFill>
                            <a:srgbClr val="1A1A1A"/>
                          </a:solidFill>
                          <a:latin typeface="Noto Sans KR"/>
                          <a:ea typeface="Noto Sans KR"/>
                          <a:cs typeface="Noto Sans KR"/>
                        </a:rPr>
                        <a:t>- 흥행 가능성은 예측값 대신 세 위치로 답합니다. 자기 이력 안 위치, 같은 인구 구간 또래 안 위치, 연도별 축제 신호.</a:t>
                      </a:r>
                    </a:p>
                    <a:p>
                      <a:pPr marL="0" marR="0" lvl="0" indent="0" algn="just" defTabSz="914400" rtl="0" eaLnBrk="1" fontAlgn="auto" latinLnBrk="1" hangingPunct="1">
                        <a:lnSpc>
                          <a:spcPct val="175000"/>
                        </a:lnSpc>
                        <a:spcBef>
                          <a:spcPts val="0"/>
                        </a:spcBef>
                        <a:spcAft>
                          <a:spcPts val="0"/>
                        </a:spcAft>
                        <a:buClrTx/>
                        <a:buSzTx/>
                        <a:buFontTx/>
                        <a:buNone/>
                        <a:tabLst/>
                        <a:defRPr/>
                      </a:pPr>
                      <a:r>
                        <a:rPr lang="en-US" altLang="ko-KR" sz="1300" b="0" dirty="0" smtClean="0">
                          <a:solidFill>
                            <a:srgbClr val="1A1A1A"/>
                          </a:solidFill>
                          <a:latin typeface="Noto Sans KR"/>
                          <a:ea typeface="Noto Sans KR"/>
                          <a:cs typeface="Noto Sans KR"/>
                        </a:rPr>
                        <a:t>- 판정문 뒤에는 보완 문장이 붙습니다. 무엇을 다시 잡고 무엇의 출처를 밝힐지. "안전하다"는 말은 어느 라벨에도 없습니다.</a:t>
                      </a:r>
                    </a:p>
                    <a:p>
                      <a:pPr marL="0" marR="0" lvl="0" indent="0" algn="just" defTabSz="914400" rtl="0" eaLnBrk="1" fontAlgn="auto" latinLnBrk="1" hangingPunct="1">
                        <a:lnSpc>
                          <a:spcPct val="175000"/>
                        </a:lnSpc>
                        <a:spcBef>
                          <a:spcPts val="0"/>
                        </a:spcBef>
                        <a:spcAft>
                          <a:spcPts val="0"/>
                        </a:spcAft>
                        <a:buClrTx/>
                        <a:buSzTx/>
                        <a:buFontTx/>
                        <a:buNone/>
                        <a:tabLst/>
                        <a:defRPr/>
                      </a:pPr>
                      <a:r>
                        <a:rPr lang="en-US" altLang="ko-KR" sz="1300" b="0" dirty="0" smtClean="0">
                          <a:solidFill>
                            <a:srgbClr val="1A1A1A"/>
                          </a:solidFill>
                          <a:latin typeface="Noto Sans KR"/>
                          <a:ea typeface="Noto Sans KR"/>
                          <a:cs typeface="Noto Sans KR"/>
                        </a:rPr>
                        <a:t>- 화면에 뜨는 명·원 숫자는 출처(API·값·기간·조회일)가 붙은 셀로만 나갑니다. 테스트가 매번 그것을 셉니다.</a:t>
                      </a:r>
                    </a:p>
                    <a:p>
                      <a:pPr marL="0" marR="0" lvl="0" indent="0" algn="just" defTabSz="914400" rtl="0" eaLnBrk="1" fontAlgn="auto" latinLnBrk="1" hangingPunct="1">
                        <a:lnSpc>
                          <a:spcPct val="175000"/>
                        </a:lnSpc>
                        <a:spcBef>
                          <a:spcPts val="0"/>
                        </a:spcBef>
                        <a:spcAft>
                          <a:spcPts val="0"/>
                        </a:spcAft>
                        <a:buClrTx/>
                        <a:buSzTx/>
                        <a:buFontTx/>
                        <a:buNone/>
                        <a:tabLst/>
                        <a:defRPr/>
                      </a:pPr>
                      <a:r>
                        <a:rPr lang="en-US" altLang="ko-KR" sz="1300" b="0" dirty="0" smtClean="0">
                          <a:solidFill>
                            <a:srgbClr val="1A1A1A"/>
                          </a:solidFill>
                          <a:latin typeface="Noto Sans KR"/>
                          <a:ea typeface="Noto Sans KR"/>
                          <a:cs typeface="Noto Sans KR"/>
                        </a:rPr>
                        <a:t>- 결과는 A4 두 장으로 인쇄됩니다. 결재가 화면이 아니라 종이로 올라가기 때문입니다.</a:t>
                      </a:r>
                    </a:p>
                    <a:p>
                      <a:pPr marL="0" marR="0" lvl="0" indent="0" algn="just" defTabSz="914400" rtl="0" eaLnBrk="1" fontAlgn="auto" latinLnBrk="1" hangingPunct="1">
                        <a:lnSpc>
                          <a:spcPct val="175000"/>
                        </a:lnSpc>
                        <a:spcBef>
                          <a:spcPts val="0"/>
                        </a:spcBef>
                        <a:spcAft>
                          <a:spcPts val="0"/>
                        </a:spcAft>
                        <a:buClrTx/>
                        <a:buSzTx/>
                        <a:buFontTx/>
                        <a:buNone/>
                        <a:tabLst/>
                        <a:defRPr/>
                      </a:pPr>
                      <a:r>
                        <a:rPr lang="en-US" altLang="ko-KR" sz="1300" b="0" dirty="0" smtClean="0">
                          <a:solidFill>
                            <a:srgbClr val="1A1A1A"/>
                          </a:solidFill>
                          <a:latin typeface="Noto Sans KR"/>
                          <a:ea typeface="Noto Sans KR"/>
                          <a:cs typeface="Noto Sans KR"/>
                        </a:rPr>
                        <a:t>이 방향에서 하지 않기로 한 것도 분명합니다. 방문객 수를 새로 예측하지 않고, 판정과 시뮬레이션에 생성형 모델을 쓰지 않으며, 근거를 못 찾으면 안전하다고 하지 않고 근거 없음이라고 적습니다.</a:t>
                      </a:r>
                    </a:p>
                  </a:txBody>
                  <a:tcPr anchor="t">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270000">
                <a:tc>
                  <a:txBody>
                    <a:bodyPr/>
                    <a:lstStyle/>
                    <a:p>
                      <a:pPr algn="ctr" latinLnBrk="1"/>
                      <a:r>
                        <a:rPr lang="ko-KR" altLang="en-US" b="1" dirty="0" smtClean="0">
                          <a:solidFill>
                            <a:schemeClr val="bg1"/>
                          </a:solidFill>
                        </a:rPr>
                        <a:t>해시태그</a:t>
                      </a:r>
                      <a:r>
                        <a:rPr lang="en-US" altLang="ko-KR" b="1" baseline="0" dirty="0" smtClean="0">
                          <a:solidFill>
                            <a:schemeClr val="bg1"/>
                          </a:solidFill>
                        </a:rPr>
                        <a:t> </a:t>
                      </a:r>
                      <a:r>
                        <a:rPr lang="ko-KR" altLang="en-US" b="1" dirty="0" smtClean="0">
                          <a:solidFill>
                            <a:schemeClr val="bg1"/>
                          </a:solidFill>
                        </a:rPr>
                        <a:t>목록</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210000"/>
                        </a:lnSpc>
                        <a:spcBef>
                          <a:spcPts val="0"/>
                        </a:spcBef>
                        <a:spcAft>
                          <a:spcPts val="0"/>
                        </a:spcAft>
                        <a:buClrTx/>
                        <a:buSzTx/>
                        <a:buFontTx/>
                        <a:buNone/>
                        <a:tabLst/>
                        <a:defRPr/>
                      </a:pPr>
                      <a:r>
                        <a:rPr lang="en-US" altLang="ko-KR" sz="1300" b="0" dirty="0" smtClean="0">
                          <a:solidFill>
                            <a:srgbClr val="1A1A1A"/>
                          </a:solidFill>
                          <a:latin typeface="Noto Sans KR"/>
                          <a:ea typeface="Noto Sans KR"/>
                          <a:cs typeface="Noto Sans KR"/>
                        </a:rPr>
                        <a:t>#축제/행사 기획 - 기획서 PDF 입력 → 판정 → 행사장 도면 보행 시뮬레이션(배치 편집·스트레스 테스트)</a:t>
                      </a:r>
                    </a:p>
                    <a:p>
                      <a:pPr marL="0" marR="0" lvl="0" indent="0" algn="just" defTabSz="914400" rtl="0" eaLnBrk="1" fontAlgn="auto" latinLnBrk="1" hangingPunct="1">
                        <a:lnSpc>
                          <a:spcPct val="210000"/>
                        </a:lnSpc>
                        <a:spcBef>
                          <a:spcPts val="0"/>
                        </a:spcBef>
                        <a:spcAft>
                          <a:spcPts val="0"/>
                        </a:spcAft>
                        <a:buClrTx/>
                        <a:buSzTx/>
                        <a:buFontTx/>
                        <a:buNone/>
                        <a:tabLst/>
                        <a:defRPr/>
                      </a:pPr>
                      <a:r>
                        <a:rPr lang="en-US" altLang="ko-KR" sz="1300" b="0" dirty="0" smtClean="0">
                          <a:solidFill>
                            <a:srgbClr val="1A1A1A"/>
                          </a:solidFill>
                          <a:latin typeface="Noto Sans KR"/>
                          <a:ea typeface="Noto Sans KR"/>
                          <a:cs typeface="Noto Sans KR"/>
                        </a:rPr>
                        <a:t>#사전 수요 예측 - 예상 방문객 3단 판정, 내년 배수 구간, 흥행 가능성의 세 실측 위치</a:t>
                      </a:r>
                    </a:p>
                    <a:p>
                      <a:pPr marL="0" marR="0" lvl="0" indent="0" algn="just" defTabSz="914400" rtl="0" eaLnBrk="1" fontAlgn="auto" latinLnBrk="1" hangingPunct="1">
                        <a:lnSpc>
                          <a:spcPct val="210000"/>
                        </a:lnSpc>
                        <a:spcBef>
                          <a:spcPts val="0"/>
                        </a:spcBef>
                        <a:spcAft>
                          <a:spcPts val="0"/>
                        </a:spcAft>
                        <a:buClrTx/>
                        <a:buSzTx/>
                        <a:buFontTx/>
                        <a:buNone/>
                        <a:tabLst/>
                        <a:defRPr/>
                      </a:pPr>
                      <a:r>
                        <a:rPr lang="en-US" altLang="ko-KR" sz="1300" b="0" dirty="0" smtClean="0">
                          <a:solidFill>
                            <a:srgbClr val="1A1A1A"/>
                          </a:solidFill>
                          <a:latin typeface="Noto Sans KR"/>
                          <a:ea typeface="Noto Sans KR"/>
                          <a:cs typeface="Noto Sans KR"/>
                        </a:rPr>
                        <a:t>#보완 피드백 제공 - 라벨별 보완 문장, 1인당 예산 대조, 개최 기간·요일, 귀속 경고, 검증 보고서 A4 2장</a:t>
                      </a:r>
                    </a:p>
                    <a:p>
                      <a:pPr marL="0" marR="0" lvl="0" indent="0" algn="just" defTabSz="914400" rtl="0" eaLnBrk="1" fontAlgn="auto" latinLnBrk="1" hangingPunct="1">
                        <a:lnSpc>
                          <a:spcPct val="210000"/>
                        </a:lnSpc>
                        <a:spcBef>
                          <a:spcPts val="0"/>
                        </a:spcBef>
                        <a:spcAft>
                          <a:spcPts val="0"/>
                        </a:spcAft>
                        <a:buClrTx/>
                        <a:buSzTx/>
                        <a:buFontTx/>
                        <a:buNone/>
                        <a:tabLst/>
                        <a:defRPr/>
                      </a:pPr>
                      <a:r>
                        <a:rPr lang="en-US" altLang="ko-KR" sz="1300" b="0" dirty="0" smtClean="0">
                          <a:solidFill>
                            <a:srgbClr val="1A1A1A"/>
                          </a:solidFill>
                          <a:latin typeface="Noto Sans KR"/>
                          <a:ea typeface="Noto Sans KR"/>
                          <a:cs typeface="Noto Sans KR"/>
                        </a:rPr>
                        <a:t>#데이터 기반 - 공사 KT 일별 실측 2,658일×272개 전수 적재, 셀마다 출처, 619건 자기검증, -52주 백테스트</a:t>
                      </a:r>
                    </a:p>
                    <a:p>
                      <a:pPr marL="0" marR="0" lvl="0" indent="0" algn="just" defTabSz="914400" rtl="0" eaLnBrk="1" fontAlgn="auto" latinLnBrk="1" hangingPunct="1">
                        <a:lnSpc>
                          <a:spcPct val="210000"/>
                        </a:lnSpc>
                        <a:spcBef>
                          <a:spcPts val="0"/>
                        </a:spcBef>
                        <a:spcAft>
                          <a:spcPts val="0"/>
                        </a:spcAft>
                        <a:buClrTx/>
                        <a:buSzTx/>
                        <a:buFontTx/>
                        <a:buNone/>
                        <a:tabLst/>
                        <a:defRPr/>
                      </a:pPr>
                      <a:r>
                        <a:rPr lang="en-US" altLang="ko-KR" sz="1300" b="0" dirty="0" smtClean="0">
                          <a:solidFill>
                            <a:srgbClr val="1A1A1A"/>
                          </a:solidFill>
                          <a:latin typeface="Noto Sans KR"/>
                          <a:ea typeface="Noto Sans KR"/>
                          <a:cs typeface="Noto Sans KR"/>
                        </a:rPr>
                        <a:t>네 해시태그는 한 화면 안에서 이어집니다. 같은 기획안을 물고 판정 → 보완 문장 → 도면 시뮬레이션으로 돕니다.</a:t>
                      </a:r>
                    </a:p>
                  </a:txBody>
                  <a:tcPr anchor="t">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9883579"/>
                  </a:ext>
                </a:extLst>
              </a:tr>
            </a:tbl>
          </a:graphicData>
        </a:graphic>
      </p:graphicFrame>
    </p:spTree>
    <p:extLst>
      <p:ext uri="{BB962C8B-B14F-4D97-AF65-F5344CB8AC3E}">
        <p14:creationId xmlns:p14="http://schemas.microsoft.com/office/powerpoint/2010/main" val="7328485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표 8"/>
          <p:cNvGraphicFramePr>
            <a:graphicFrameLocks noGrp="1"/>
          </p:cNvGraphicFramePr>
          <p:nvPr>
            <p:extLst>
              <p:ext uri="{D42A27DB-BD31-4B8C-83A1-F6EECF244321}">
                <p14:modId xmlns:p14="http://schemas.microsoft.com/office/powerpoint/2010/main" val="1138217558"/>
              </p:ext>
            </p:extLst>
          </p:nvPr>
        </p:nvGraphicFramePr>
        <p:xfrm>
          <a:off x="180961" y="1551963"/>
          <a:ext cx="11830079" cy="4990000"/>
        </p:xfrm>
        <a:graphic>
          <a:graphicData uri="http://schemas.openxmlformats.org/drawingml/2006/table">
            <a:tbl>
              <a:tblPr firstRow="1" bandRow="1">
                <a:tableStyleId>{5C22544A-7EE6-4342-B048-85BDC9FD1C3A}</a:tableStyleId>
              </a:tblPr>
              <a:tblGrid>
                <a:gridCol w="2570619">
                  <a:extLst>
                    <a:ext uri="{9D8B030D-6E8A-4147-A177-3AD203B41FA5}">
                      <a16:colId xmlns:a16="http://schemas.microsoft.com/office/drawing/2014/main" val="95366056"/>
                    </a:ext>
                  </a:extLst>
                </a:gridCol>
                <a:gridCol w="2620520">
                  <a:extLst>
                    <a:ext uri="{9D8B030D-6E8A-4147-A177-3AD203B41FA5}">
                      <a16:colId xmlns:a16="http://schemas.microsoft.com/office/drawing/2014/main" val="2325135401"/>
                    </a:ext>
                  </a:extLst>
                </a:gridCol>
                <a:gridCol w="6638940">
                  <a:extLst>
                    <a:ext uri="{9D8B030D-6E8A-4147-A177-3AD203B41FA5}">
                      <a16:colId xmlns:a16="http://schemas.microsoft.com/office/drawing/2014/main" val="2514411670"/>
                    </a:ext>
                  </a:extLst>
                </a:gridCol>
              </a:tblGrid>
              <a:tr h="450000">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smtClean="0">
                          <a:solidFill>
                            <a:schemeClr val="bg1"/>
                          </a:solidFill>
                        </a:rPr>
                        <a:t>해시태그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smtClean="0">
                          <a:solidFill>
                            <a:schemeClr val="bg1"/>
                          </a:solidFill>
                        </a:rPr>
                        <a:t>연계 기능</a:t>
                      </a:r>
                      <a:endParaRPr lang="ko-KR" altLang="en-US" sz="1600"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1600" b="1" baseline="0" smtClean="0">
                          <a:solidFill>
                            <a:schemeClr val="bg1"/>
                          </a:solidFill>
                        </a:rPr>
                        <a:t>연계 상세 내용</a:t>
                      </a:r>
                      <a:endParaRPr lang="ko-KR" altLang="en-US" sz="1600"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extLst>
                  <a:ext uri="{0D108BD9-81ED-4DB2-BD59-A6C34878D82A}">
                    <a16:rowId xmlns:a16="http://schemas.microsoft.com/office/drawing/2014/main" val="3357600838"/>
                  </a:ext>
                </a:extLst>
              </a:tr>
              <a:tr h="1135000">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100" b="0" baseline="0" smtClean="0">
                          <a:solidFill>
                            <a:srgbClr val="1A1A1A"/>
                          </a:solidFill>
                          <a:latin typeface="Noto Sans KR"/>
                          <a:ea typeface="Noto Sans KR"/>
                          <a:cs typeface="Noto Sans KR"/>
                        </a:rPr>
                        <a:t>#축제/행사 기획</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baseline="0" smtClean="0">
                          <a:solidFill>
                            <a:srgbClr val="1A1A1A"/>
                          </a:solidFill>
                          <a:latin typeface="Noto Sans KR"/>
                          <a:ea typeface="Noto Sans KR"/>
                          <a:cs typeface="Noto Sans KR"/>
                        </a:rPr>
                        <a:t>기획서 PDF 입력</a:t>
                      </a:r>
                      <a:endParaRPr lang="en-US" altLang="ko-KR" sz="1800" b="0" baseline="0" smtClean="0">
                        <a:solidFill>
                          <a:srgbClr val="FF0000"/>
                        </a:solidFill>
                        <a:latin typeface="+mn-lt"/>
                      </a:endParaRPr>
                    </a:p>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baseline="0" smtClean="0">
                          <a:solidFill>
                            <a:srgbClr val="1A1A1A"/>
                          </a:solidFill>
                          <a:latin typeface="Noto Sans KR"/>
                          <a:ea typeface="Noto Sans KR"/>
                          <a:cs typeface="Noto Sans KR"/>
                        </a:rPr>
                        <a:t>행사장 도면 시뮬레이션</a:t>
                      </a:r>
                      <a:endParaRPr lang="en-US" altLang="ko-KR" sz="1800" b="0" baseline="0" smtClean="0">
                        <a:solidFill>
                          <a:srgbClr val="FF0000"/>
                        </a:solidFill>
                        <a:latin typeface="+mn-lt"/>
                      </a:endParaRPr>
                    </a:p>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baseline="0" smtClean="0">
                          <a:solidFill>
                            <a:srgbClr val="1A1A1A"/>
                          </a:solidFill>
                          <a:latin typeface="Noto Sans KR"/>
                          <a:ea typeface="Noto Sans KR"/>
                          <a:cs typeface="Noto Sans KR"/>
                        </a:rPr>
                        <a:t>배치 편집·스트레스 테스트</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15000"/>
                        </a:lnSpc>
                        <a:spcBef>
                          <a:spcPts val="0"/>
                        </a:spcBef>
                        <a:spcAft>
                          <a:spcPts val="0"/>
                        </a:spcAft>
                        <a:buClrTx/>
                        <a:buSzTx/>
                        <a:buFontTx/>
                        <a:buNone/>
                        <a:tabLst/>
                        <a:defRPr/>
                      </a:pPr>
                      <a:r>
                        <a:rPr lang="en-US" altLang="ko-KR" sz="1000" b="0" baseline="0" dirty="0" smtClean="0">
                          <a:solidFill>
                            <a:srgbClr val="1A1A1A"/>
                          </a:solidFill>
                          <a:latin typeface="Noto Sans KR"/>
                          <a:ea typeface="Noto Sans KR"/>
                          <a:cs typeface="Noto Sans KR"/>
                        </a:rPr>
                        <a:t>첫 화면에 기획서 PDF 를 올리면 예상 방문객·기간·지역·예산·지난 회차를 옮겨 적어 판정 화면으로 갑니다(모델은 옮겨 적기 1회, 판정에는 안 씀). 시뮬레이션 탭은 같은 기획안을 물고 열리고, 배치도를 밑그림으로 깔아 출입구·부스·통로를 놓은 뒤 보행자를 흘려 어디가 막히는지 잽니다. 유입 시나리오·출입구 몫은 입력이고 기본값은 출처 없는 가정이라고 적습니다. 스트레스 테스트는 유입 배수를 0.5씩 올려 행안부 "위험"(5명/㎡)이 60초 넘게 유지되는 첫 배수를 냅니다. 보행 엔진은 Weidmann 기본도표(폭 2m 통로 정상류)와 대조해 7점 중 6점이 ±30% 안이고, 벗어난 점도 전부 느린 쪽(밀도 과대·상한 배수 과소)이라 안전 측입니다. 도면은 담당자가 올린 배치도면 어느 축제든 서고, 군포는 예시 1건입니다.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100" b="0" baseline="0" smtClean="0">
                          <a:solidFill>
                            <a:srgbClr val="1A1A1A"/>
                          </a:solidFill>
                          <a:latin typeface="Noto Sans KR"/>
                          <a:ea typeface="Noto Sans KR"/>
                          <a:cs typeface="Noto Sans KR"/>
                        </a:rPr>
                        <a:t>#사전 수요 예측</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baseline="0" smtClean="0">
                          <a:solidFill>
                            <a:srgbClr val="1A1A1A"/>
                          </a:solidFill>
                          <a:latin typeface="Noto Sans KR"/>
                          <a:ea typeface="Noto Sans KR"/>
                          <a:cs typeface="Noto Sans KR"/>
                        </a:rPr>
                        <a:t>예상 방문객 3단 판정</a:t>
                      </a:r>
                      <a:endParaRPr lang="en-US" altLang="ko-KR" sz="1800" b="0" baseline="0" smtClean="0">
                        <a:solidFill>
                          <a:srgbClr val="FF0000"/>
                        </a:solidFill>
                        <a:latin typeface="+mn-lt"/>
                      </a:endParaRPr>
                    </a:p>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baseline="0" smtClean="0">
                          <a:solidFill>
                            <a:srgbClr val="1A1A1A"/>
                          </a:solidFill>
                          <a:latin typeface="Noto Sans KR"/>
                          <a:ea typeface="Noto Sans KR"/>
                          <a:cs typeface="Noto Sans KR"/>
                        </a:rPr>
                        <a:t>내년 배수 구간</a:t>
                      </a:r>
                      <a:endParaRPr lang="en-US" altLang="ko-KR" sz="1800" b="0" baseline="0" smtClean="0">
                        <a:solidFill>
                          <a:srgbClr val="FF0000"/>
                        </a:solidFill>
                        <a:latin typeface="+mn-lt"/>
                      </a:endParaRPr>
                    </a:p>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baseline="0" smtClean="0">
                          <a:solidFill>
                            <a:srgbClr val="1A1A1A"/>
                          </a:solidFill>
                          <a:latin typeface="Noto Sans KR"/>
                          <a:ea typeface="Noto Sans KR"/>
                          <a:cs typeface="Noto Sans KR"/>
                        </a:rPr>
                        <a:t>흥행 가능성의 세 실측 위치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15000"/>
                        </a:lnSpc>
                        <a:spcBef>
                          <a:spcPts val="0"/>
                        </a:spcBef>
                        <a:spcAft>
                          <a:spcPts val="0"/>
                        </a:spcAft>
                        <a:buClrTx/>
                        <a:buSzTx/>
                        <a:buFontTx/>
                        <a:buNone/>
                        <a:tabLst/>
                        <a:defRPr/>
                      </a:pPr>
                      <a:r>
                        <a:rPr lang="en-US" altLang="ko-KR" sz="1000" b="0" baseline="0" dirty="0" smtClean="0">
                          <a:solidFill>
                            <a:srgbClr val="1A1A1A"/>
                          </a:solidFill>
                          <a:latin typeface="Noto Sans KR"/>
                          <a:ea typeface="Noto Sans KR"/>
                          <a:cs typeface="Noto Sans KR"/>
                        </a:rPr>
                        <a:t>① 모집단 상한: 예상 방문객 ÷ 작년 축제 기간 시군구 전체 체류(0.80 이상 상한 초과 · 0.50 이상 과대) ② 순증분: ÷ 작년 축제가 실제로 끌어온 순증(3.0 이상 주의 신호) ③ 동일 정의 배수: 기획안이 요구하는 평소 대비 배수 ÷ 이 축제 이력의 최대 배수(0.70/1.00/1.30 → 과소/통과/주의/과대). 연인원이 실인원 상한을 넘으면 손익분기 회전율 = 예상 방문객 ÷ (0.80 × 상한 분모) 를 냅니다(화천 186만 ÷ (0.80 × 793,874) = 2.93회 - 한 사람이 평균 2.93번 잡혀야 이 값이 섭니다). 내년 배수 구간은 이력 연도별 배수의 최소~최대(군포 평균 1.1~1.3배·최대일 1.4~1.6배), 이력이 없으면 같은 인구 구간 또래의 중앙값~상위 5%. 흥행 가능성은 자기 이력 안 위치·또래 안 위치·연도별 축제 신호(뚜렷함/약함)로 보입니다.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100" b="0" baseline="0" smtClean="0">
                          <a:solidFill>
                            <a:srgbClr val="1A1A1A"/>
                          </a:solidFill>
                          <a:latin typeface="Noto Sans KR"/>
                          <a:ea typeface="Noto Sans KR"/>
                          <a:cs typeface="Noto Sans KR"/>
                        </a:rPr>
                        <a:t>#보완 피드백 제공</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baseline="0" smtClean="0">
                          <a:solidFill>
                            <a:srgbClr val="1A1A1A"/>
                          </a:solidFill>
                          <a:latin typeface="Noto Sans KR"/>
                          <a:ea typeface="Noto Sans KR"/>
                          <a:cs typeface="Noto Sans KR"/>
                        </a:rPr>
                        <a:t>라벨별 보완 문장</a:t>
                      </a:r>
                      <a:endParaRPr lang="en-US" altLang="ko-KR" sz="1800" b="0" baseline="0" smtClean="0">
                        <a:solidFill>
                          <a:srgbClr val="FF0000"/>
                        </a:solidFill>
                        <a:latin typeface="+mn-lt"/>
                      </a:endParaRPr>
                    </a:p>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baseline="0" smtClean="0">
                          <a:solidFill>
                            <a:srgbClr val="1A1A1A"/>
                          </a:solidFill>
                          <a:latin typeface="Noto Sans KR"/>
                          <a:ea typeface="Noto Sans KR"/>
                          <a:cs typeface="Noto Sans KR"/>
                        </a:rPr>
                        <a:t>1인당 예산 대조</a:t>
                      </a:r>
                      <a:endParaRPr lang="en-US" altLang="ko-KR" sz="1800" b="0" baseline="0" smtClean="0">
                        <a:solidFill>
                          <a:srgbClr val="FF0000"/>
                        </a:solidFill>
                        <a:latin typeface="+mn-lt"/>
                      </a:endParaRPr>
                    </a:p>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baseline="0" smtClean="0">
                          <a:solidFill>
                            <a:srgbClr val="1A1A1A"/>
                          </a:solidFill>
                          <a:latin typeface="Noto Sans KR"/>
                          <a:ea typeface="Noto Sans KR"/>
                          <a:cs typeface="Noto Sans KR"/>
                        </a:rPr>
                        <a:t>귀속 경고 · 검증 보고서 A4 2장</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15000"/>
                        </a:lnSpc>
                        <a:spcBef>
                          <a:spcPts val="0"/>
                        </a:spcBef>
                        <a:spcAft>
                          <a:spcPts val="0"/>
                        </a:spcAft>
                        <a:buClrTx/>
                        <a:buSzTx/>
                        <a:buFontTx/>
                        <a:buNone/>
                        <a:tabLst/>
                        <a:defRPr/>
                      </a:pPr>
                      <a:r>
                        <a:rPr lang="en-US" altLang="ko-KR" sz="1000" b="0" baseline="0" dirty="0" smtClean="0">
                          <a:solidFill>
                            <a:srgbClr val="1A1A1A"/>
                          </a:solidFill>
                          <a:latin typeface="Noto Sans KR"/>
                          <a:ea typeface="Noto Sans KR"/>
                          <a:cs typeface="Noto Sans KR"/>
                        </a:rPr>
                        <a:t>판정 라벨마다 담당자가 다음에 할 일을 문장으로 냅니다("예상 방문객을 이 축제 이력 배수 안에서 다시 잡고 원래 숫자의 출처와 산정 방식을 밝힌다"). 1인당 예산은 기획안 기준과 작년 실측 순증 기준을 나란히 놓아 오차를 보입니다. 개최 기간·요일은 이력 최대일 요일·주말 포함·길이로 봅니다. 작년 축제 기간 반경 50km 에 다른 축제가 있었으면(공사 searchFestival2 실시간) "이 배수는 시군구 배수이고 이 축제 몫만이 아니다"라고 경고합니다. 검증 보고서 A4 2장(결론·판정표·구간·보완 / 연도별 실측·출처·정의와 임계)은 브라우저 인쇄로 PDF 가 됩니다.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r h="1135000">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100" b="0" baseline="0" smtClean="0">
                          <a:solidFill>
                            <a:srgbClr val="1A1A1A"/>
                          </a:solidFill>
                          <a:latin typeface="Noto Sans KR"/>
                          <a:ea typeface="Noto Sans KR"/>
                          <a:cs typeface="Noto Sans KR"/>
                        </a:rPr>
                        <a:t>#데이터 기반</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baseline="0" smtClean="0">
                          <a:solidFill>
                            <a:srgbClr val="1A1A1A"/>
                          </a:solidFill>
                          <a:latin typeface="Noto Sans KR"/>
                          <a:ea typeface="Noto Sans KR"/>
                          <a:cs typeface="Noto Sans KR"/>
                        </a:rPr>
                        <a:t>KT 일별 실측 전수 적재</a:t>
                      </a:r>
                      <a:endParaRPr lang="en-US" altLang="ko-KR" sz="1800" b="0" baseline="0" smtClean="0">
                        <a:solidFill>
                          <a:srgbClr val="FF0000"/>
                        </a:solidFill>
                        <a:latin typeface="+mn-lt"/>
                      </a:endParaRPr>
                    </a:p>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baseline="0" smtClean="0">
                          <a:solidFill>
                            <a:srgbClr val="1A1A1A"/>
                          </a:solidFill>
                          <a:latin typeface="Noto Sans KR"/>
                          <a:ea typeface="Noto Sans KR"/>
                          <a:cs typeface="Noto Sans KR"/>
                        </a:rPr>
                        <a:t>셀마다 출처</a:t>
                      </a:r>
                      <a:endParaRPr lang="en-US" altLang="ko-KR" sz="1800" b="0" baseline="0" smtClean="0">
                        <a:solidFill>
                          <a:srgbClr val="FF0000"/>
                        </a:solidFill>
                        <a:latin typeface="+mn-lt"/>
                      </a:endParaRPr>
                    </a:p>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baseline="0" smtClean="0">
                          <a:solidFill>
                            <a:srgbClr val="1A1A1A"/>
                          </a:solidFill>
                          <a:latin typeface="Noto Sans KR"/>
                          <a:ea typeface="Noto Sans KR"/>
                          <a:cs typeface="Noto Sans KR"/>
                        </a:rPr>
                        <a:t>619건 자기검증 · 백테스트</a:t>
                      </a:r>
                      <a:endParaRPr lang="en-US" altLang="ko-KR" sz="1800" b="0" baseline="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marL="0" marR="0" lvl="0" indent="0" algn="l" defTabSz="914400" rtl="0" eaLnBrk="1" fontAlgn="auto" latinLnBrk="1" hangingPunct="1">
                        <a:lnSpc>
                          <a:spcPct val="115000"/>
                        </a:lnSpc>
                        <a:spcBef>
                          <a:spcPts val="0"/>
                        </a:spcBef>
                        <a:spcAft>
                          <a:spcPts val="0"/>
                        </a:spcAft>
                        <a:buClrTx/>
                        <a:buSzTx/>
                        <a:buFontTx/>
                        <a:buNone/>
                        <a:tabLst/>
                        <a:defRPr/>
                      </a:pPr>
                      <a:r>
                        <a:rPr lang="en-US" altLang="ko-KR" sz="1000" b="0" baseline="0" dirty="0" smtClean="0">
                          <a:solidFill>
                            <a:srgbClr val="1A1A1A"/>
                          </a:solidFill>
                          <a:latin typeface="Noto Sans KR"/>
                          <a:ea typeface="Noto Sans KR"/>
                          <a:cs typeface="Noto Sans KR"/>
                        </a:rPr>
                        <a:t>공사 TourAPI 데이터랩 서비스(locgoRegnVisitrDDList)로 시군구 272개 × 2019-05-01~2026-08-09(2,658일) 일별 방문자(현지인·외지인·외국인)를 개발 기간 안에 전수 호출해 697,403행을 적재했습니다. 판정·구간·백테스트의 유일한 실측 원천이고, 데이터랩 축제 목록 619건의 배수도 이 자료로 전부 재계산했습니다. 화면의 명·배·원 숫자는 API·값·기간·조회일 네 속성이 붙은 셀로만 나가고 e2e 테스트가 출처 밖의 "N명"을 셉니다. 실측 근거 화면은 연도별 전후 4주 곡선과 표를 보이고, 619건 leave-one-out(정밀도 65.8% · 재현율 61.6% · 무작위 대비 3.26배)과 -52주 근사 백테스트(표본 381건, 두 해 채택 325건 중 167건(51.4%))를 한계와 함께 적습니다.</a:t>
                      </a:r>
                      <a:endParaRPr lang="en-US" altLang="ko-KR" sz="1800" b="0" baseline="0" dirty="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sp>
        <p:nvSpPr>
          <p:cNvPr id="4" name="TextBox 3"/>
          <p:cNvSpPr txBox="1"/>
          <p:nvPr/>
        </p:nvSpPr>
        <p:spPr>
          <a:xfrm>
            <a:off x="174567" y="1101012"/>
            <a:ext cx="3382365" cy="307777"/>
          </a:xfrm>
          <a:prstGeom prst="rect">
            <a:avLst/>
          </a:prstGeom>
          <a:solidFill>
            <a:srgbClr val="372472"/>
          </a:solidFill>
        </p:spPr>
        <p:txBody>
          <a:bodyPr wrap="square" rtlCol="0">
            <a:spAutoFit/>
          </a:bodyPr>
          <a:lstStyle/>
          <a:p>
            <a:pPr algn="ctr"/>
            <a:r>
              <a:rPr lang="ko-KR" altLang="en-US" sz="1400" b="1" dirty="0" smtClean="0">
                <a:solidFill>
                  <a:schemeClr val="bg1"/>
                </a:solidFill>
              </a:rPr>
              <a:t>해시태그 연계 핵심기능 및 상세내용</a:t>
            </a:r>
            <a:endParaRPr lang="ko-KR" altLang="en-US" sz="1400" b="1" dirty="0">
              <a:solidFill>
                <a:schemeClr val="bg1"/>
              </a:solidFill>
            </a:endParaRPr>
          </a:p>
        </p:txBody>
      </p:sp>
    </p:spTree>
    <p:extLst>
      <p:ext uri="{BB962C8B-B14F-4D97-AF65-F5344CB8AC3E}">
        <p14:creationId xmlns:p14="http://schemas.microsoft.com/office/powerpoint/2010/main" val="409868818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a:solidFill>
                            <a:srgbClr val="1A1A1A"/>
                          </a:solidFill>
                          <a:latin typeface="Noto Sans KR"/>
                          <a:ea typeface="Noto Sans KR"/>
                          <a:cs typeface="Noto Sans KR"/>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a:solidFill>
                            <a:srgbClr val="1A1A1A"/>
                          </a:solidFill>
                          <a:latin typeface="Noto Sans KR"/>
                          <a:ea typeface="Noto Sans KR"/>
                          <a:cs typeface="Noto Sans KR"/>
                        </a:rPr>
                        <a:t>① 첫 화면에 기획서 PDF 를 올린다</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r>
                        <a:rPr sz="1000">
                          <a:solidFill>
                            <a:srgbClr val="1A1A1A"/>
                          </a:solidFill>
                          <a:latin typeface="Noto Sans KR"/>
                          <a:ea typeface="Noto Sans KR"/>
                          <a:cs typeface="Noto Sans KR"/>
                        </a:rPr>
                        <a:t>② [시뮬레이션] 탭에서 배치도를 밑그림으로 깐다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r>
                        <a:rPr sz="1000">
                          <a:solidFill>
                            <a:srgbClr val="1A1A1A"/>
                          </a:solidFill>
                          <a:latin typeface="Noto Sans KR"/>
                          <a:ea typeface="Noto Sans KR"/>
                          <a:cs typeface="Noto Sans KR"/>
                        </a:rPr>
                        <a:t>③ 출입구·부스·통로를 놓고 [시뮬레이션 시작]</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r>
                        <a:rPr sz="1000">
                          <a:solidFill>
                            <a:srgbClr val="1A1A1A"/>
                          </a:solidFill>
                          <a:latin typeface="Noto Sans KR"/>
                          <a:ea typeface="Noto Sans KR"/>
                          <a:cs typeface="Noto Sans KR"/>
                        </a:rPr>
                        <a:t>④ 장내 인원·최대 밀도 등급 (행안부 가이드라인 기준)</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lnSpc>
                          <a:spcPct val="115000"/>
                        </a:lnSpc>
                      </a:pPr>
                      <a:r>
                        <a:rPr lang="ko-KR" altLang="en-US" b="1" dirty="0" smtClean="0">
                          <a:solidFill>
                            <a:srgbClr val="1A1A1A"/>
                          </a:solidFill>
                          <a:latin typeface="Noto Sans KR"/>
                          <a:ea typeface="Noto Sans KR"/>
                          <a:cs typeface="Noto Sans KR"/>
                        </a:rPr>
                        <a:t>해시태그1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lnSpc>
                          <a:spcPct val="115000"/>
                        </a:lnSpc>
                      </a:pPr>
                      <a:r>
                        <a:rPr lang="en-US" altLang="ko-KR" b="0" dirty="0" smtClean="0" sz="1100">
                          <a:solidFill>
                            <a:srgbClr val="1A1A1A"/>
                          </a:solidFill>
                          <a:latin typeface="Noto Sans KR"/>
                          <a:ea typeface="Noto Sans KR"/>
                          <a:cs typeface="Noto Sans KR"/>
                        </a:rPr>
                        <a:t>#축제/행사 기획</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ko-KR" altLang="en-US" b="1" dirty="0" err="1" smtClean="0">
                          <a:solidFill>
                            <a:srgbClr val="1A1A1A"/>
                          </a:solidFill>
                          <a:latin typeface="Noto Sans KR"/>
                          <a:ea typeface="Noto Sans KR"/>
                          <a:cs typeface="Noto Sans KR"/>
                        </a:rPr>
                        <a:t>연계기능1</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lnSpc>
                          <a:spcPct val="115000"/>
                        </a:lnSpc>
                      </a:pPr>
                      <a:r>
                        <a:rPr lang="en-US" altLang="ko-KR" b="0" dirty="0" smtClean="0" sz="1100">
                          <a:solidFill>
                            <a:srgbClr val="1A1A1A"/>
                          </a:solidFill>
                          <a:latin typeface="Noto Sans KR"/>
                          <a:ea typeface="Noto Sans KR"/>
                          <a:cs typeface="Noto Sans KR"/>
                        </a:rPr>
                        <a:t>기획서 입력에서 도면 시뮬레이션까지</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lnSpc>
                          <a:spcPct val="115000"/>
                        </a:lnSpc>
                      </a:pPr>
                      <a:r>
                        <a:rPr lang="ko-KR" altLang="en-US" b="1" dirty="0" err="1" smtClean="0">
                          <a:solidFill>
                            <a:srgbClr val="1A1A1A"/>
                          </a:solidFill>
                          <a:latin typeface="Noto Sans KR"/>
                          <a:ea typeface="Noto Sans KR"/>
                          <a:cs typeface="Noto Sans KR"/>
                        </a:rPr>
                        <a:t>기능설명1</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15000"/>
                        </a:lnSpc>
                        <a:spcBef>
                          <a:spcPts val="0"/>
                        </a:spcBef>
                        <a:spcAft>
                          <a:spcPts val="0"/>
                        </a:spcAft>
                        <a:buClrTx/>
                        <a:buSzTx/>
                        <a:buFontTx/>
                        <a:buNone/>
                        <a:tabLst/>
                        <a:defRPr/>
                      </a:pPr>
                      <a:r>
                        <a:rPr lang="en-US" altLang="ko-KR" b="0" dirty="0" sz="1100">
                          <a:solidFill>
                            <a:srgbClr val="1A1A1A"/>
                          </a:solidFill>
                          <a:latin typeface="Noto Sans KR"/>
                          <a:ea typeface="Noto Sans KR"/>
                          <a:cs typeface="Noto Sans KR"/>
                        </a:rPr>
                        <a:t>기획서 PDF 한 장으로 판정 화면이 열리고, 같은 기획안으로 행사장 도면에 들어가 배치를 고치고 보행자를 흘립니다.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1_1_home.png"/>
          <p:cNvPicPr>
            <a:picLocks noChangeAspect="1"/>
          </p:cNvPicPr>
          <p:nvPr/>
        </p:nvPicPr>
        <p:blipFill>
          <a:blip r:embed="rId2"/>
          <a:stretch>
            <a:fillRect/>
          </a:stretch>
        </p:blipFill>
        <p:spPr>
          <a:xfrm>
            <a:off x="358622" y="3074071"/>
            <a:ext cx="2745236" cy="2182463"/>
          </a:xfrm>
          <a:prstGeom prst="rect">
            <a:avLst/>
          </a:prstGeom>
        </p:spPr>
      </p:pic>
      <p:pic>
        <p:nvPicPr>
          <p:cNvPr id="8" name="Picture 7" descr="f1_2_underlay.png"/>
          <p:cNvPicPr>
            <a:picLocks noChangeAspect="1"/>
          </p:cNvPicPr>
          <p:nvPr/>
        </p:nvPicPr>
        <p:blipFill>
          <a:blip r:embed="rId3"/>
          <a:stretch>
            <a:fillRect/>
          </a:stretch>
        </p:blipFill>
        <p:spPr>
          <a:xfrm>
            <a:off x="3212374" y="3074071"/>
            <a:ext cx="2750886" cy="2182463"/>
          </a:xfrm>
          <a:prstGeom prst="rect">
            <a:avLst/>
          </a:prstGeom>
        </p:spPr>
      </p:pic>
      <p:pic>
        <p:nvPicPr>
          <p:cNvPr id="9" name="Picture 8" descr="f1_3_venue.png"/>
          <p:cNvPicPr>
            <a:picLocks noChangeAspect="1"/>
          </p:cNvPicPr>
          <p:nvPr/>
        </p:nvPicPr>
        <p:blipFill>
          <a:blip r:embed="rId4"/>
          <a:stretch>
            <a:fillRect/>
          </a:stretch>
        </p:blipFill>
        <p:spPr>
          <a:xfrm>
            <a:off x="6068951" y="3074071"/>
            <a:ext cx="2750886" cy="2182463"/>
          </a:xfrm>
          <a:prstGeom prst="rect">
            <a:avLst/>
          </a:prstGeom>
        </p:spPr>
      </p:pic>
      <p:pic>
        <p:nvPicPr>
          <p:cNvPr id="10" name="Picture 9" descr="f1_4_panel.png"/>
          <p:cNvPicPr>
            <a:picLocks noChangeAspect="1"/>
          </p:cNvPicPr>
          <p:nvPr/>
        </p:nvPicPr>
        <p:blipFill>
          <a:blip r:embed="rId5"/>
          <a:stretch>
            <a:fillRect/>
          </a:stretch>
        </p:blipFill>
        <p:spPr>
          <a:xfrm>
            <a:off x="8924575" y="3074071"/>
            <a:ext cx="2752793" cy="2182463"/>
          </a:xfrm>
          <a:prstGeom prst="rect">
            <a:avLst/>
          </a:prstGeom>
        </p:spPr>
      </p:pic>
    </p:spTree>
    <p:extLst>
      <p:ext uri="{BB962C8B-B14F-4D97-AF65-F5344CB8AC3E}">
        <p14:creationId xmlns:p14="http://schemas.microsoft.com/office/powerpoint/2010/main" val="671940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3096162552"/>
              </p:ext>
            </p:extLst>
          </p:nvPr>
        </p:nvGraphicFramePr>
        <p:xfrm>
          <a:off x="271088" y="1065401"/>
          <a:ext cx="11649825" cy="55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900000">
                <a:tc>
                  <a:txBody>
                    <a:bodyPr/>
                    <a:lstStyle/>
                    <a:p>
                      <a:pPr algn="ctr" latinLnBrk="1"/>
                      <a:r>
                        <a:rPr lang="ko-KR" altLang="en-US" b="1" smtClean="0">
                          <a:solidFill>
                            <a:schemeClr val="bg1"/>
                          </a:solidFill>
                        </a:rPr>
                        <a:t>서비스</a:t>
                      </a:r>
                      <a:endParaRPr lang="en-US" altLang="ko-KR" b="1" smtClean="0">
                        <a:solidFill>
                          <a:schemeClr val="bg1"/>
                        </a:solidFill>
                      </a:endParaRPr>
                    </a:p>
                    <a:p>
                      <a:pPr algn="ctr" latinLnBrk="1"/>
                      <a:r>
                        <a:rPr lang="ko-KR" altLang="en-US" b="1" smtClean="0">
                          <a:solidFill>
                            <a:schemeClr val="bg1"/>
                          </a:solidFill>
                        </a:rPr>
                        <a:t>대표 이미지</a:t>
                      </a:r>
                      <a:endParaRPr lang="en-US" altLang="ko-KR" b="1" smtClean="0">
                        <a:solidFill>
                          <a:schemeClr val="bg1"/>
                        </a:solidFill>
                      </a:endParaRPr>
                    </a:p>
                    <a:p>
                      <a:pPr algn="ctr" latinLnBrk="1"/>
                      <a:r>
                        <a:rPr lang="en-US" altLang="ko-KR" b="1" smtClean="0">
                          <a:solidFill>
                            <a:schemeClr val="bg1"/>
                          </a:solidFill>
                        </a:rPr>
                        <a:t>(</a:t>
                      </a:r>
                      <a:r>
                        <a:rPr lang="ko-KR" altLang="en-US" b="1" err="1" smtClean="0">
                          <a:solidFill>
                            <a:schemeClr val="bg1"/>
                          </a:solidFill>
                        </a:rPr>
                        <a:t>썸네일</a:t>
                      </a:r>
                      <a:r>
                        <a:rPr lang="en-US" altLang="ko-KR" b="1" smtClean="0">
                          <a:solidFill>
                            <a:schemeClr val="bg1"/>
                          </a:solidFill>
                        </a:rPr>
                        <a:t>)</a:t>
                      </a:r>
                      <a:endParaRPr lang="ko-KR" altLang="en-US"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15000"/>
                        </a:lnSpc>
                        <a:spcBef>
                          <a:spcPts val="0"/>
                        </a:spcBef>
                        <a:spcAft>
                          <a:spcPts val="0"/>
                        </a:spcAft>
                        <a:buClrTx/>
                        <a:buSzTx/>
                        <a:buFontTx/>
                        <a:buNone/>
                        <a:tabLst/>
                        <a:defRPr/>
                      </a:pPr>
                      <a:r>
                        <a:rPr lang="en-US" altLang="ko-KR" sz="1000" b="0" smtClean="0">
                          <a:solidFill>
                            <a:srgbClr val="1A1A1A"/>
                          </a:solidFill>
                          <a:latin typeface="Noto Sans KR"/>
                          <a:ea typeface="Noto Sans KR"/>
                          <a:cs typeface="Noto Sans KR"/>
                        </a:rPr>
                        <a:t/>
                      </a:r>
                      <a:endParaRPr lang="en-US" altLang="ko-KR" sz="1800" b="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670000">
                <a:tc>
                  <a:txBody>
                    <a:bodyPr/>
                    <a:lstStyle/>
                    <a:p>
                      <a:pPr algn="ctr" latinLnBrk="1"/>
                      <a:r>
                        <a:rPr lang="ko-KR" altLang="en-US" b="1" smtClean="0">
                          <a:solidFill>
                            <a:schemeClr val="bg1"/>
                          </a:solidFill>
                        </a:rPr>
                        <a:t>서비스</a:t>
                      </a:r>
                      <a:endParaRPr lang="en-US" altLang="ko-KR" b="1" smtClean="0">
                        <a:solidFill>
                          <a:schemeClr val="bg1"/>
                        </a:solidFill>
                      </a:endParaRPr>
                    </a:p>
                    <a:p>
                      <a:pPr algn="ctr" latinLnBrk="1"/>
                      <a:r>
                        <a:rPr lang="ko-KR" altLang="en-US" b="1" smtClean="0">
                          <a:solidFill>
                            <a:schemeClr val="bg1"/>
                          </a:solidFill>
                        </a:rPr>
                        <a:t>상세 이미지</a:t>
                      </a:r>
                      <a:endParaRPr lang="en-US" altLang="ko-KR" b="1"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15000"/>
                        </a:lnSpc>
                        <a:spcBef>
                          <a:spcPts val="0"/>
                        </a:spcBef>
                        <a:spcAft>
                          <a:spcPts val="0"/>
                        </a:spcAft>
                        <a:buClrTx/>
                        <a:buSzTx/>
                        <a:buFontTx/>
                        <a:buNone/>
                        <a:tabLst/>
                        <a:defRPr/>
                      </a:pPr>
                      <a:r>
                        <a:rPr lang="en-US" altLang="ko-KR" sz="1000" b="0" smtClean="0">
                          <a:solidFill>
                            <a:srgbClr val="1A1A1A"/>
                          </a:solidFill>
                          <a:latin typeface="Noto Sans KR"/>
                          <a:ea typeface="Noto Sans KR"/>
                          <a:cs typeface="Noto Sans KR"/>
                        </a:rPr>
                        <a:t/>
                      </a:r>
                      <a:endParaRPr lang="en-US" altLang="ko-KR" sz="1800" b="0" smtClean="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899883579"/>
                  </a:ext>
                </a:extLst>
              </a:tr>
            </a:tbl>
          </a:graphicData>
        </a:graphic>
      </p:graphicFrame>
      <p:pic>
        <p:nvPicPr>
          <p:cNvPr id="4" name="Picture 3" descr="hero_wide.png"/>
          <p:cNvPicPr>
            <a:picLocks noChangeAspect="1"/>
          </p:cNvPicPr>
          <p:nvPr/>
        </p:nvPicPr>
        <p:blipFill>
          <a:blip r:embed="rId2"/>
          <a:stretch>
            <a:fillRect/>
          </a:stretch>
        </p:blipFill>
        <p:spPr>
          <a:xfrm>
            <a:off x="2277089" y="1115401"/>
            <a:ext cx="9593044" cy="2800000"/>
          </a:xfrm>
          <a:prstGeom prst="rect">
            <a:avLst/>
          </a:prstGeom>
        </p:spPr>
      </p:pic>
      <p:pic>
        <p:nvPicPr>
          <p:cNvPr id="5" name="Picture 4" descr="d1_home.png"/>
          <p:cNvPicPr>
            <a:picLocks noChangeAspect="1"/>
          </p:cNvPicPr>
          <p:nvPr/>
        </p:nvPicPr>
        <p:blipFill>
          <a:blip r:embed="rId3"/>
          <a:stretch>
            <a:fillRect/>
          </a:stretch>
        </p:blipFill>
        <p:spPr>
          <a:xfrm>
            <a:off x="2383362" y="4025401"/>
            <a:ext cx="2132045" cy="2375000"/>
          </a:xfrm>
          <a:prstGeom prst="rect">
            <a:avLst/>
          </a:prstGeom>
        </p:spPr>
      </p:pic>
      <p:sp>
        <p:nvSpPr>
          <p:cNvPr id="6" name="TextBox 5"/>
          <p:cNvSpPr txBox="1"/>
          <p:nvPr/>
        </p:nvSpPr>
        <p:spPr>
          <a:xfrm>
            <a:off x="2286310" y="6400401"/>
            <a:ext cx="2326150" cy="175000"/>
          </a:xfrm>
          <a:prstGeom prst="rect">
            <a:avLst/>
          </a:prstGeom>
          <a:noFill/>
        </p:spPr>
        <p:txBody>
          <a:bodyPr wrap="square" lIns="0" rIns="0" tIns="0" bIns="0">
            <a:spAutoFit/>
          </a:bodyPr>
          <a:lstStyle/>
          <a:p>
            <a:pPr algn="ctr"/>
            <a:r>
              <a:rPr sz="900">
                <a:latin typeface="Noto Sans KR"/>
                <a:ea typeface="Noto Sans KR"/>
                <a:cs typeface="Noto Sans KR"/>
              </a:rPr>
              <a:t>첫 화면 / - 기획서 PDF 올리기</a:t>
            </a:r>
          </a:p>
        </p:txBody>
      </p:sp>
      <p:pic>
        <p:nvPicPr>
          <p:cNvPr id="7" name="Picture 6" descr="d2_report.png"/>
          <p:cNvPicPr>
            <a:picLocks noChangeAspect="1"/>
          </p:cNvPicPr>
          <p:nvPr/>
        </p:nvPicPr>
        <p:blipFill>
          <a:blip r:embed="rId4"/>
          <a:stretch>
            <a:fillRect/>
          </a:stretch>
        </p:blipFill>
        <p:spPr>
          <a:xfrm>
            <a:off x="4799891" y="4025401"/>
            <a:ext cx="2131287" cy="2375000"/>
          </a:xfrm>
          <a:prstGeom prst="rect">
            <a:avLst/>
          </a:prstGeom>
        </p:spPr>
      </p:pic>
      <p:sp>
        <p:nvSpPr>
          <p:cNvPr id="8" name="TextBox 7"/>
          <p:cNvSpPr txBox="1"/>
          <p:nvPr/>
        </p:nvSpPr>
        <p:spPr>
          <a:xfrm>
            <a:off x="4702460" y="6400401"/>
            <a:ext cx="2326150" cy="175000"/>
          </a:xfrm>
          <a:prstGeom prst="rect">
            <a:avLst/>
          </a:prstGeom>
          <a:noFill/>
        </p:spPr>
        <p:txBody>
          <a:bodyPr wrap="square" lIns="0" rIns="0" tIns="0" bIns="0">
            <a:spAutoFit/>
          </a:bodyPr>
          <a:lstStyle/>
          <a:p>
            <a:pPr algn="ctr"/>
            <a:r>
              <a:rPr sz="900">
                <a:latin typeface="Noto Sans KR"/>
                <a:ea typeface="Noto Sans KR"/>
                <a:cs typeface="Noto Sans KR"/>
              </a:rPr>
              <a:t>검증 보고서 /report/check - A4 두 장</a:t>
            </a:r>
          </a:p>
        </p:txBody>
      </p:sp>
      <p:pic>
        <p:nvPicPr>
          <p:cNvPr id="9" name="Picture 8" descr="d3_evidence.png"/>
          <p:cNvPicPr>
            <a:picLocks noChangeAspect="1"/>
          </p:cNvPicPr>
          <p:nvPr/>
        </p:nvPicPr>
        <p:blipFill>
          <a:blip r:embed="rId5"/>
          <a:stretch>
            <a:fillRect/>
          </a:stretch>
        </p:blipFill>
        <p:spPr>
          <a:xfrm>
            <a:off x="7215662" y="4025401"/>
            <a:ext cx="2132045" cy="2375000"/>
          </a:xfrm>
          <a:prstGeom prst="rect">
            <a:avLst/>
          </a:prstGeom>
        </p:spPr>
      </p:pic>
      <p:sp>
        <p:nvSpPr>
          <p:cNvPr id="10" name="TextBox 9"/>
          <p:cNvSpPr txBox="1"/>
          <p:nvPr/>
        </p:nvSpPr>
        <p:spPr>
          <a:xfrm>
            <a:off x="7118610" y="6400401"/>
            <a:ext cx="2326150" cy="175000"/>
          </a:xfrm>
          <a:prstGeom prst="rect">
            <a:avLst/>
          </a:prstGeom>
          <a:noFill/>
        </p:spPr>
        <p:txBody>
          <a:bodyPr wrap="square" lIns="0" rIns="0" tIns="0" bIns="0">
            <a:spAutoFit/>
          </a:bodyPr>
          <a:lstStyle/>
          <a:p>
            <a:pPr algn="ctr"/>
            <a:r>
              <a:rPr sz="900">
                <a:latin typeface="Noto Sans KR"/>
                <a:ea typeface="Noto Sans KR"/>
                <a:cs typeface="Noto Sans KR"/>
              </a:rPr>
              <a:t>실측 근거 /evidence - 연도별 곡선</a:t>
            </a:r>
          </a:p>
        </p:txBody>
      </p:sp>
      <p:pic>
        <p:nvPicPr>
          <p:cNvPr id="11" name="Picture 10" descr="d4_venue.png"/>
          <p:cNvPicPr>
            <a:picLocks noChangeAspect="1"/>
          </p:cNvPicPr>
          <p:nvPr/>
        </p:nvPicPr>
        <p:blipFill>
          <a:blip r:embed="rId6"/>
          <a:stretch>
            <a:fillRect/>
          </a:stretch>
        </p:blipFill>
        <p:spPr>
          <a:xfrm>
            <a:off x="9633875" y="4025401"/>
            <a:ext cx="2127919" cy="2375000"/>
          </a:xfrm>
          <a:prstGeom prst="rect">
            <a:avLst/>
          </a:prstGeom>
        </p:spPr>
      </p:pic>
      <p:sp>
        <p:nvSpPr>
          <p:cNvPr id="12" name="TextBox 11"/>
          <p:cNvSpPr txBox="1"/>
          <p:nvPr/>
        </p:nvSpPr>
        <p:spPr>
          <a:xfrm>
            <a:off x="9534760" y="6400401"/>
            <a:ext cx="2326150" cy="175000"/>
          </a:xfrm>
          <a:prstGeom prst="rect">
            <a:avLst/>
          </a:prstGeom>
          <a:noFill/>
        </p:spPr>
        <p:txBody>
          <a:bodyPr wrap="square" lIns="0" rIns="0" tIns="0" bIns="0">
            <a:spAutoFit/>
          </a:bodyPr>
          <a:lstStyle/>
          <a:p>
            <a:pPr algn="ctr"/>
            <a:r>
              <a:rPr sz="900">
                <a:latin typeface="Noto Sans KR"/>
                <a:ea typeface="Noto Sans KR"/>
                <a:cs typeface="Noto Sans KR"/>
              </a:rPr>
              <a:t>시뮬레이션 /venue - 도면 위 보행자</a:t>
            </a:r>
          </a:p>
        </p:txBody>
      </p:sp>
    </p:spTree>
    <p:extLst>
      <p:ext uri="{BB962C8B-B14F-4D97-AF65-F5344CB8AC3E}">
        <p14:creationId xmlns:p14="http://schemas.microsoft.com/office/powerpoint/2010/main" val="28229692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1101012"/>
            <a:ext cx="4770658" cy="307777"/>
          </a:xfrm>
          <a:prstGeom prst="rect">
            <a:avLst/>
          </a:prstGeom>
          <a:solidFill>
            <a:srgbClr val="372472"/>
          </a:solidFill>
        </p:spPr>
        <p:txBody>
          <a:bodyPr wrap="square" rtlCol="0">
            <a:spAutoFit/>
          </a:bodyPr>
          <a:lstStyle/>
          <a:p>
            <a:pPr algn="ctr"/>
            <a:r>
              <a:rPr lang="ko-KR" altLang="en-US" sz="1400" b="1">
                <a:solidFill>
                  <a:schemeClr val="bg1"/>
                </a:solidFill>
              </a:rPr>
              <a:t>서비스 개발에 활용한 한국관광공사 </a:t>
            </a:r>
            <a:r>
              <a:rPr lang="en-US" altLang="ko-KR" sz="1400" b="1">
                <a:solidFill>
                  <a:schemeClr val="bg1"/>
                </a:solidFill>
              </a:rPr>
              <a:t>OpenAPI </a:t>
            </a:r>
            <a:r>
              <a:rPr lang="ko-KR" altLang="en-US" sz="1400" b="1">
                <a:solidFill>
                  <a:schemeClr val="bg1"/>
                </a:solidFill>
              </a:rPr>
              <a:t>리스트</a:t>
            </a:r>
          </a:p>
        </p:txBody>
      </p:sp>
      <p:graphicFrame>
        <p:nvGraphicFramePr>
          <p:cNvPr id="7" name="표 6"/>
          <p:cNvGraphicFramePr>
            <a:graphicFrameLocks noGrp="1"/>
          </p:cNvGraphicFramePr>
          <p:nvPr>
            <p:extLst>
              <p:ext uri="{D42A27DB-BD31-4B8C-83A1-F6EECF244321}">
                <p14:modId xmlns:p14="http://schemas.microsoft.com/office/powerpoint/2010/main" val="3601316057"/>
              </p:ext>
            </p:extLst>
          </p:nvPr>
        </p:nvGraphicFramePr>
        <p:xfrm>
          <a:off x="174566" y="1646098"/>
          <a:ext cx="11746191" cy="3940000"/>
        </p:xfrm>
        <a:graphic>
          <a:graphicData uri="http://schemas.openxmlformats.org/drawingml/2006/table">
            <a:tbl>
              <a:tblPr firstRow="1" bandRow="1">
                <a:tableStyleId>{5C22544A-7EE6-4342-B048-85BDC9FD1C3A}</a:tableStyleId>
              </a:tblPr>
              <a:tblGrid>
                <a:gridCol w="829450">
                  <a:extLst>
                    <a:ext uri="{9D8B030D-6E8A-4147-A177-3AD203B41FA5}">
                      <a16:colId xmlns:a16="http://schemas.microsoft.com/office/drawing/2014/main" val="842166946"/>
                    </a:ext>
                  </a:extLst>
                </a:gridCol>
                <a:gridCol w="1834747">
                  <a:extLst>
                    <a:ext uri="{9D8B030D-6E8A-4147-A177-3AD203B41FA5}">
                      <a16:colId xmlns:a16="http://schemas.microsoft.com/office/drawing/2014/main" val="3903607114"/>
                    </a:ext>
                  </a:extLst>
                </a:gridCol>
                <a:gridCol w="9081994">
                  <a:extLst>
                    <a:ext uri="{9D8B030D-6E8A-4147-A177-3AD203B41FA5}">
                      <a16:colId xmlns:a16="http://schemas.microsoft.com/office/drawing/2014/main" val="2519424337"/>
                    </a:ext>
                  </a:extLst>
                </a:gridCol>
              </a:tblGrid>
              <a:tr h="520000">
                <a:tc rowSpan="2">
                  <a:txBody>
                    <a:bodyPr/>
                    <a:lstStyle/>
                    <a:p>
                      <a:pPr algn="ctr" latinLnBrk="1"/>
                      <a:r>
                        <a:rPr lang="en-US" altLang="ko-KR" sz="3200" b="1">
                          <a:solidFill>
                            <a:schemeClr val="tx1"/>
                          </a:solidFill>
                        </a:rPr>
                        <a:t>1</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just" defTabSz="914400" rtl="0" eaLnBrk="1" fontAlgn="auto" latinLnBrk="1" hangingPunct="1">
                        <a:lnSpc>
                          <a:spcPct val="115000"/>
                        </a:lnSpc>
                        <a:spcBef>
                          <a:spcPts val="0"/>
                        </a:spcBef>
                        <a:spcAft>
                          <a:spcPts val="0"/>
                        </a:spcAft>
                        <a:buClrTx/>
                        <a:buSzTx/>
                        <a:buFontTx/>
                        <a:buNone/>
                        <a:tabLst/>
                        <a:defRPr/>
                      </a:pPr>
                      <a:r>
                        <a:rPr lang="en-US" altLang="ko-KR" b="0" sz="1100">
                          <a:solidFill>
                            <a:srgbClr val="1A1A1A"/>
                          </a:solidFill>
                          <a:latin typeface="Noto Sans KR"/>
                          <a:ea typeface="Noto Sans KR"/>
                          <a:cs typeface="Noto Sans KR"/>
                        </a:rPr>
                        <a:t>한국관광공사 TourAPI 4.0 관광 데이터랩 서비스 - 지역별 방문자 수 일별 (DataLabService/locgoRegnVisitrDDList, KT 이동통신 기반)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377720883"/>
                  </a:ext>
                </a:extLst>
              </a:tr>
              <a:tr h="1450000">
                <a:tc vMerge="1">
                  <a:txBody>
                    <a:bodyPr/>
                    <a:lstStyle/>
                    <a:p>
                      <a:pPr latinLnBrk="1"/>
                      <a:endParaRPr lang="ko-KR" altLang="en-US" dirty="0"/>
                    </a:p>
                  </a:txBody>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just" defTabSz="914400" rtl="0" eaLnBrk="1" fontAlgn="auto" latinLnBrk="1" hangingPunct="1">
                        <a:lnSpc>
                          <a:spcPct val="115000"/>
                        </a:lnSpc>
                        <a:spcBef>
                          <a:spcPts val="0"/>
                        </a:spcBef>
                        <a:spcAft>
                          <a:spcPts val="0"/>
                        </a:spcAft>
                        <a:buClrTx/>
                        <a:buSzTx/>
                        <a:buFontTx/>
                        <a:buNone/>
                        <a:tabLst/>
                        <a:defRPr/>
                      </a:pPr>
                      <a:r>
                        <a:rPr lang="en-US" altLang="ko-KR" b="0" sz="1100">
                          <a:solidFill>
                            <a:srgbClr val="1A1A1A"/>
                          </a:solidFill>
                          <a:latin typeface="Noto Sans KR"/>
                          <a:ea typeface="Noto Sans KR"/>
                          <a:cs typeface="Noto Sans KR"/>
                        </a:rPr>
                        <a:t>판정 3단계의 분모(작년 축제 기간 전체 체류·순증·평소 대비 외지인 배수), 자기 이력 연도별 배수, 내년 배수 구간, 축제 신호, 데이터랩 축제 목록 619건 배수 재계산의 유일한 실측 원천. 시군구 272개 × 2019-05-01~2026-08-09(2,658일)를 개발 기간 안에 전수 호출해 697,403행을 빌드 전에 적재하고 판정은 그 적재본으로 냅니다. 제출 인증키의 호출 이력으로 확인됩니다.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7522436"/>
                  </a:ext>
                </a:extLst>
              </a:tr>
              <a:tr h="520000">
                <a:tc rowSpan="2">
                  <a:txBody>
                    <a:bodyPr/>
                    <a:lstStyle/>
                    <a:p>
                      <a:pPr algn="ctr" latinLnBrk="1"/>
                      <a:r>
                        <a:rPr lang="en-US" altLang="ko-KR" sz="3200" b="1">
                          <a:solidFill>
                            <a:schemeClr val="tx1"/>
                          </a:solidFill>
                        </a:rPr>
                        <a:t>2</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r>
                        <a:rPr lang="en-US" altLang="ko-KR" b="1">
                          <a:solidFill>
                            <a:schemeClr val="bg1"/>
                          </a:solidFill>
                        </a:rPr>
                        <a:t>API</a:t>
                      </a:r>
                      <a:r>
                        <a:rPr lang="ko-KR" altLang="en-US" b="1">
                          <a:solidFill>
                            <a:schemeClr val="bg1"/>
                          </a:solidFill>
                        </a:rPr>
                        <a:t>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a:lnSpc>
                          <a:spcPct val="115000"/>
                        </a:lnSpc>
                      </a:pPr>
                      <a:r>
                        <a:rPr sz="1100" b="0">
                          <a:solidFill>
                            <a:srgbClr val="1A1A1A"/>
                          </a:solidFill>
                          <a:latin typeface="Noto Sans KR"/>
                          <a:ea typeface="Noto Sans KR"/>
                          <a:cs typeface="Noto Sans KR"/>
                        </a:rPr>
                        <a:t>한국관광공사 TourAPI 4.0 국문 관광정보 서비스 - 축제 검색 (searchFestival2)</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1450000">
                <a:tc vMerge="1">
                  <a:txBody>
                    <a:bodyPr/>
                    <a:lstStyle/>
                    <a:p>
                      <a:pPr latinLnBrk="1"/>
                      <a:endParaRPr lang="ko-KR" altLang="en-US"/>
                    </a:p>
                  </a:txBody>
                  <a:tcPr/>
                </a:tc>
                <a:tc>
                  <a:txBody>
                    <a:bodyPr/>
                    <a:lstStyle/>
                    <a:p>
                      <a:pPr algn="ctr" latinLnBrk="1"/>
                      <a:r>
                        <a:rPr lang="ko-KR" altLang="en-US" b="1">
                          <a:solidFill>
                            <a:schemeClr val="bg1"/>
                          </a:solidFill>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a:lnSpc>
                          <a:spcPct val="115000"/>
                        </a:lnSpc>
                      </a:pPr>
                      <a:r>
                        <a:rPr sz="1100" b="0">
                          <a:solidFill>
                            <a:srgbClr val="1A1A1A"/>
                          </a:solidFill>
                          <a:latin typeface="Noto Sans KR"/>
                          <a:ea typeface="Noto Sans KR"/>
                          <a:cs typeface="Noto Sans KR"/>
                        </a:rPr>
                        <a:t>판정 화면에서 실시간 호출. 작년 축제 기간 반경 50km 안에 등록된 다른 축제를 찾아 "이 배수는 개최 시군구 배수이고 이 축제 몫만이 아니다"라는 귀속 경고를 냅니다(군포 2026 기준 등록 행사 36건, 실시간 값). 호출이 실패해도 판정은 그대로 서고 실패 사실을 표시합니다.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bl>
          </a:graphicData>
        </a:graphic>
      </p:graphicFrame>
      <p:sp>
        <p:nvSpPr>
          <p:cNvPr id="8" name="TextBox 7"/>
          <p:cNvSpPr txBox="1"/>
          <p:nvPr/>
        </p:nvSpPr>
        <p:spPr>
          <a:xfrm>
            <a:off x="174566" y="5746098"/>
            <a:ext cx="11746191" cy="900000"/>
          </a:xfrm>
          <a:prstGeom prst="rect">
            <a:avLst/>
          </a:prstGeom>
          <a:noFill/>
        </p:spPr>
        <p:txBody>
          <a:bodyPr wrap="square">
            <a:spAutoFit/>
          </a:bodyPr>
          <a:lstStyle/>
          <a:p>
            <a:r>
              <a:rPr sz="1000">
                <a:latin typeface="Noto Sans KR"/>
                <a:ea typeface="Noto Sans KR"/>
                <a:cs typeface="Noto Sans KR"/>
              </a:rPr>
              <a:t>공사 API 2종 · 전수 697,403행 · 개발계정 1,000회/일 한도 안에서 호출했습니다. 목록에는 판정에 실제로 쓰는 것만 올렸고, 제출 인증키의 호출 이력으로 확인됩니다. 공사 OpenAPI 가 아닌 자료는 다음 장에 따로 적었습니다.</a:t>
            </a:r>
          </a:p>
        </p:txBody>
      </p:sp>
    </p:spTree>
    <p:extLst>
      <p:ext uri="{BB962C8B-B14F-4D97-AF65-F5344CB8AC3E}">
        <p14:creationId xmlns:p14="http://schemas.microsoft.com/office/powerpoint/2010/main" val="222294703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74567" y="1101012"/>
            <a:ext cx="3893580" cy="307777"/>
          </a:xfrm>
          <a:prstGeom prst="rect">
            <a:avLst/>
          </a:prstGeom>
          <a:solidFill>
            <a:srgbClr val="372472"/>
          </a:solidFill>
        </p:spPr>
        <p:txBody>
          <a:bodyPr wrap="square" rtlCol="0">
            <a:spAutoFit/>
          </a:bodyPr>
          <a:lstStyle/>
          <a:p>
            <a:pPr algn="ctr"/>
            <a:r>
              <a:rPr lang="ko-KR" altLang="en-US" sz="1400" b="1">
                <a:solidFill>
                  <a:schemeClr val="bg1"/>
                </a:solidFill>
              </a:rPr>
              <a:t>서비스 개발에 활용한 기타 </a:t>
            </a:r>
            <a:r>
              <a:rPr lang="en-US" altLang="ko-KR" sz="1400" b="1">
                <a:solidFill>
                  <a:schemeClr val="bg1"/>
                </a:solidFill>
              </a:rPr>
              <a:t>API, </a:t>
            </a:r>
            <a:r>
              <a:rPr lang="ko-KR" altLang="en-US" sz="1400" b="1" err="1">
                <a:solidFill>
                  <a:schemeClr val="bg1"/>
                </a:solidFill>
              </a:rPr>
              <a:t>파일데이터</a:t>
            </a:r>
            <a:endParaRPr lang="ko-KR" altLang="en-US" sz="1400" b="1">
              <a:solidFill>
                <a:schemeClr val="bg1"/>
              </a:solidFill>
            </a:endParaRPr>
          </a:p>
        </p:txBody>
      </p:sp>
      <p:graphicFrame>
        <p:nvGraphicFramePr>
          <p:cNvPr id="7" name="표 6"/>
          <p:cNvGraphicFramePr>
            <a:graphicFrameLocks noGrp="1"/>
          </p:cNvGraphicFramePr>
          <p:nvPr>
            <p:extLst>
              <p:ext uri="{D42A27DB-BD31-4B8C-83A1-F6EECF244321}">
                <p14:modId xmlns:p14="http://schemas.microsoft.com/office/powerpoint/2010/main" val="2926134091"/>
              </p:ext>
            </p:extLst>
          </p:nvPr>
        </p:nvGraphicFramePr>
        <p:xfrm>
          <a:off x="174566" y="1646098"/>
          <a:ext cx="11628657" cy="4900000"/>
        </p:xfrm>
        <a:graphic>
          <a:graphicData uri="http://schemas.openxmlformats.org/drawingml/2006/table">
            <a:tbl>
              <a:tblPr firstRow="1" bandRow="1">
                <a:tableStyleId>{5C22544A-7EE6-4342-B048-85BDC9FD1C3A}</a:tableStyleId>
              </a:tblPr>
              <a:tblGrid>
                <a:gridCol w="821150">
                  <a:extLst>
                    <a:ext uri="{9D8B030D-6E8A-4147-A177-3AD203B41FA5}">
                      <a16:colId xmlns:a16="http://schemas.microsoft.com/office/drawing/2014/main" val="842166946"/>
                    </a:ext>
                  </a:extLst>
                </a:gridCol>
                <a:gridCol w="1816388">
                  <a:extLst>
                    <a:ext uri="{9D8B030D-6E8A-4147-A177-3AD203B41FA5}">
                      <a16:colId xmlns:a16="http://schemas.microsoft.com/office/drawing/2014/main" val="3903607114"/>
                    </a:ext>
                  </a:extLst>
                </a:gridCol>
                <a:gridCol w="8991119">
                  <a:extLst>
                    <a:ext uri="{9D8B030D-6E8A-4147-A177-3AD203B41FA5}">
                      <a16:colId xmlns:a16="http://schemas.microsoft.com/office/drawing/2014/main" val="2519424337"/>
                    </a:ext>
                  </a:extLst>
                </a:gridCol>
              </a:tblGrid>
              <a:tr h="400000">
                <a:tc rowSpan="2">
                  <a:txBody>
                    <a:bodyPr/>
                    <a:lstStyle/>
                    <a:p>
                      <a:pPr algn="ctr" latinLnBrk="1">
                        <a:lnSpc>
                          <a:spcPct val="115000"/>
                        </a:lnSpc>
                      </a:pPr>
                      <a:r>
                        <a:rPr lang="en-US" altLang="ko-KR" sz="3200" b="1">
                          <a:solidFill>
                            <a:srgbClr val="1A1A1A"/>
                          </a:solidFill>
                          <a:latin typeface="Noto Sans KR"/>
                          <a:ea typeface="Noto Sans KR"/>
                          <a:cs typeface="Noto Sans KR"/>
                        </a:rPr>
                        <a:t>1</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lnSpc>
                          <a:spcPct val="115000"/>
                        </a:lnSpc>
                      </a:pPr>
                      <a:r>
                        <a:rPr lang="ko-KR" altLang="en-US" b="1" err="1">
                          <a:solidFill>
                            <a:srgbClr val="1A1A1A"/>
                          </a:solidFill>
                          <a:latin typeface="Noto Sans KR"/>
                          <a:ea typeface="Noto Sans KR"/>
                          <a:cs typeface="Noto Sans KR"/>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a:lnSpc>
                          <a:spcPct val="115000"/>
                        </a:lnSpc>
                      </a:pPr>
                      <a:r>
                        <a:rPr sz="1000" b="0">
                          <a:solidFill>
                            <a:srgbClr val="1A1A1A"/>
                          </a:solidFill>
                          <a:latin typeface="Noto Sans KR"/>
                          <a:ea typeface="Noto Sans KR"/>
                          <a:cs typeface="Noto Sans KR"/>
                        </a:rPr>
                        <a:t>한국관광 데이터랩 축제 목록 (공사 웹, 정적 수집 · OpenAPI 아님)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377720883"/>
                  </a:ext>
                </a:extLst>
              </a:tr>
              <a:tr h="580000">
                <a:tc vMerge="1">
                  <a:txBody>
                    <a:bodyPr/>
                    <a:lstStyle/>
                    <a:p>
                      <a:pPr latinLnBrk="1"/>
                      <a:endParaRPr lang="ko-KR" altLang="en-US" dirty="0"/>
                    </a:p>
                  </a:txBody>
                  <a:tcPr/>
                </a:tc>
                <a:tc>
                  <a:txBody>
                    <a:bodyPr/>
                    <a:lstStyle/>
                    <a:p>
                      <a:pPr algn="ctr" latinLnBrk="1">
                        <a:lnSpc>
                          <a:spcPct val="115000"/>
                        </a:lnSpc>
                      </a:pPr>
                      <a:r>
                        <a:rPr lang="ko-KR" altLang="en-US" b="1">
                          <a:solidFill>
                            <a:srgbClr val="1A1A1A"/>
                          </a:solidFill>
                          <a:latin typeface="Noto Sans KR"/>
                          <a:ea typeface="Noto Sans KR"/>
                          <a:cs typeface="Noto Sans KR"/>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a:lnSpc>
                          <a:spcPct val="115000"/>
                        </a:lnSpc>
                      </a:pPr>
                      <a:r>
                        <a:rPr sz="1000" b="0">
                          <a:solidFill>
                            <a:srgbClr val="1A1A1A"/>
                          </a:solidFill>
                          <a:latin typeface="Noto Sans KR"/>
                          <a:ea typeface="Noto Sans KR"/>
                          <a:cs typeface="Noto Sans KR"/>
                        </a:rPr>
                        <a:t>전국 축제 619건의 이름·지역·기간·테마. 배수는 목록 값이 아니라 위 KT 일별 자료로 619/619 재계산. 또래 구간과 닮은 과거 축제(보조 근거)의 표본.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7522436"/>
                  </a:ext>
                </a:extLst>
              </a:tr>
              <a:tr h="400000">
                <a:tc rowSpan="2">
                  <a:txBody>
                    <a:bodyPr/>
                    <a:lstStyle/>
                    <a:p>
                      <a:pPr algn="ctr" latinLnBrk="1">
                        <a:lnSpc>
                          <a:spcPct val="115000"/>
                        </a:lnSpc>
                      </a:pPr>
                      <a:r>
                        <a:rPr lang="en-US" altLang="ko-KR" sz="3200" b="1">
                          <a:solidFill>
                            <a:srgbClr val="1A1A1A"/>
                          </a:solidFill>
                          <a:latin typeface="Noto Sans KR"/>
                          <a:ea typeface="Noto Sans KR"/>
                          <a:cs typeface="Noto Sans KR"/>
                        </a:rPr>
                        <a:t>2</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lnSpc>
                          <a:spcPct val="115000"/>
                        </a:lnSpc>
                      </a:pPr>
                      <a:r>
                        <a:rPr lang="ko-KR" altLang="en-US" b="1" err="1">
                          <a:solidFill>
                            <a:srgbClr val="1A1A1A"/>
                          </a:solidFill>
                          <a:latin typeface="Noto Sans KR"/>
                          <a:ea typeface="Noto Sans KR"/>
                          <a:cs typeface="Noto Sans KR"/>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a:lnSpc>
                          <a:spcPct val="115000"/>
                        </a:lnSpc>
                      </a:pPr>
                      <a:r>
                        <a:rPr sz="1000" b="0">
                          <a:solidFill>
                            <a:srgbClr val="1A1A1A"/>
                          </a:solidFill>
                          <a:latin typeface="Noto Sans KR"/>
                          <a:ea typeface="Noto Sans KR"/>
                          <a:cs typeface="Noto Sans KR"/>
                        </a:rPr>
                        <a:t>행정안전부 주민등록 인구 (data.go.kr 15097972, 2026-08 기준)</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580000">
                <a:tc vMerge="1">
                  <a:txBody>
                    <a:bodyPr/>
                    <a:lstStyle/>
                    <a:p>
                      <a:pPr latinLnBrk="1"/>
                      <a:endParaRPr lang="ko-KR" altLang="en-US"/>
                    </a:p>
                  </a:txBody>
                  <a:tcPr/>
                </a:tc>
                <a:tc>
                  <a:txBody>
                    <a:bodyPr/>
                    <a:lstStyle/>
                    <a:p>
                      <a:pPr algn="ctr" latinLnBrk="1">
                        <a:lnSpc>
                          <a:spcPct val="115000"/>
                        </a:lnSpc>
                      </a:pPr>
                      <a:r>
                        <a:rPr lang="ko-KR" altLang="en-US" b="1">
                          <a:solidFill>
                            <a:srgbClr val="1A1A1A"/>
                          </a:solidFill>
                          <a:latin typeface="Noto Sans KR"/>
                          <a:ea typeface="Noto Sans KR"/>
                          <a:cs typeface="Noto Sans KR"/>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a:lnSpc>
                          <a:spcPct val="115000"/>
                        </a:lnSpc>
                      </a:pPr>
                      <a:r>
                        <a:rPr sz="1000" b="0">
                          <a:solidFill>
                            <a:srgbClr val="1A1A1A"/>
                          </a:solidFill>
                          <a:latin typeface="Noto Sans KR"/>
                          <a:ea typeface="Noto Sans KR"/>
                          <a:cs typeface="Noto Sans KR"/>
                        </a:rPr>
                        <a:t>시군구 인구. 또래(같은 인구 구간) 구간의 기준이고 닮음 판정 다섯 축 중 하나. 담당자 입력 → 행안부 표 → 없음 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r h="400000">
                <a:tc rowSpan="2">
                  <a:txBody>
                    <a:bodyPr/>
                    <a:lstStyle/>
                    <a:p>
                      <a:pPr algn="ctr" latinLnBrk="1">
                        <a:lnSpc>
                          <a:spcPct val="115000"/>
                        </a:lnSpc>
                      </a:pPr>
                      <a:r>
                        <a:rPr lang="en-US" altLang="ko-KR" sz="3200" b="1">
                          <a:solidFill>
                            <a:srgbClr val="1A1A1A"/>
                          </a:solidFill>
                          <a:latin typeface="Noto Sans KR"/>
                          <a:ea typeface="Noto Sans KR"/>
                          <a:cs typeface="Noto Sans KR"/>
                        </a:rPr>
                        <a:t>3</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lnSpc>
                          <a:spcPct val="115000"/>
                        </a:lnSpc>
                      </a:pPr>
                      <a:r>
                        <a:rPr lang="ko-KR" altLang="en-US" b="1" err="1">
                          <a:solidFill>
                            <a:srgbClr val="1A1A1A"/>
                          </a:solidFill>
                          <a:latin typeface="Noto Sans KR"/>
                          <a:ea typeface="Noto Sans KR"/>
                          <a:cs typeface="Noto Sans KR"/>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a:lnSpc>
                          <a:spcPct val="115000"/>
                        </a:lnSpc>
                      </a:pPr>
                      <a:r>
                        <a:rPr sz="1000" b="0">
                          <a:solidFill>
                            <a:srgbClr val="1A1A1A"/>
                          </a:solidFill>
                          <a:latin typeface="Noto Sans KR"/>
                          <a:ea typeface="Noto Sans KR"/>
                          <a:cs typeface="Noto Sans KR"/>
                        </a:rPr>
                        <a:t>OpenStreetMap 부지·도로·산책로 + 군포철쭉축제 2026 공식 안내도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87554315"/>
                  </a:ext>
                </a:extLst>
              </a:tr>
              <a:tr h="580000">
                <a:tc vMerge="1">
                  <a:txBody>
                    <a:bodyPr/>
                    <a:lstStyle/>
                    <a:p>
                      <a:pPr algn="ctr" latinLnBrk="1"/>
                      <a:endParaRPr lang="ko-KR" altLang="en-US" sz="3200"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chemeClr val="tx1"/>
                    </a:solidFill>
                  </a:tcPr>
                </a:tc>
                <a:tc>
                  <a:txBody>
                    <a:bodyPr/>
                    <a:lstStyle/>
                    <a:p>
                      <a:pPr algn="ctr" latinLnBrk="1">
                        <a:lnSpc>
                          <a:spcPct val="115000"/>
                        </a:lnSpc>
                      </a:pPr>
                      <a:r>
                        <a:rPr lang="ko-KR" altLang="en-US" b="1">
                          <a:solidFill>
                            <a:srgbClr val="1A1A1A"/>
                          </a:solidFill>
                          <a:latin typeface="Noto Sans KR"/>
                          <a:ea typeface="Noto Sans KR"/>
                          <a:cs typeface="Noto Sans KR"/>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a:lnSpc>
                          <a:spcPct val="115000"/>
                        </a:lnSpc>
                      </a:pPr>
                      <a:r>
                        <a:rPr sz="1000" b="0">
                          <a:solidFill>
                            <a:srgbClr val="1A1A1A"/>
                          </a:solidFill>
                          <a:latin typeface="Noto Sans KR"/>
                          <a:ea typeface="Noto Sans KR"/>
                          <a:cs typeface="Noto Sans KR"/>
                        </a:rPr>
                        <a:t>행사장 도면(군포 1건)의 바닥과 부스 배치. 부스 좌표는 georeference 전 가정이라고 화면에 적습니다.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090228473"/>
                  </a:ext>
                </a:extLst>
              </a:tr>
              <a:tr h="400000">
                <a:tc rowSpan="2">
                  <a:txBody>
                    <a:bodyPr/>
                    <a:lstStyle/>
                    <a:p>
                      <a:pPr algn="ctr" latinLnBrk="1">
                        <a:lnSpc>
                          <a:spcPct val="115000"/>
                        </a:lnSpc>
                      </a:pPr>
                      <a:r>
                        <a:rPr lang="en-US" altLang="ko-KR" sz="3200" b="1">
                          <a:solidFill>
                            <a:srgbClr val="1A1A1A"/>
                          </a:solidFill>
                          <a:latin typeface="Noto Sans KR"/>
                          <a:ea typeface="Noto Sans KR"/>
                          <a:cs typeface="Noto Sans KR"/>
                        </a:rPr>
                        <a:t>4</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lnSpc>
                          <a:spcPct val="115000"/>
                        </a:lnSpc>
                      </a:pPr>
                      <a:r>
                        <a:rPr lang="ko-KR" altLang="en-US" b="1" err="1">
                          <a:solidFill>
                            <a:srgbClr val="1A1A1A"/>
                          </a:solidFill>
                          <a:latin typeface="Noto Sans KR"/>
                          <a:ea typeface="Noto Sans KR"/>
                          <a:cs typeface="Noto Sans KR"/>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a:lnSpc>
                          <a:spcPct val="115000"/>
                        </a:lnSpc>
                      </a:pPr>
                      <a:r>
                        <a:rPr sz="1000" b="0">
                          <a:solidFill>
                            <a:srgbClr val="1A1A1A"/>
                          </a:solidFill>
                          <a:latin typeface="Noto Sans KR"/>
                          <a:ea typeface="Noto Sans KR"/>
                          <a:cs typeface="Noto Sans KR"/>
                        </a:rPr>
                        <a:t>국토교통부 브이월드 지도 타일 (WMTS) · Natural Earth 1:10m (퍼블릭 도메인)</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580000">
                <a:tc vMerge="1">
                  <a:txBody>
                    <a:bodyPr/>
                    <a:lstStyle/>
                    <a:p>
                      <a:pPr latinLnBrk="1"/>
                      <a:endParaRPr lang="ko-KR" altLang="en-US"/>
                    </a:p>
                  </a:txBody>
                  <a:tcPr/>
                </a:tc>
                <a:tc>
                  <a:txBody>
                    <a:bodyPr/>
                    <a:lstStyle/>
                    <a:p>
                      <a:pPr algn="ctr" latinLnBrk="1">
                        <a:lnSpc>
                          <a:spcPct val="115000"/>
                        </a:lnSpc>
                      </a:pPr>
                      <a:r>
                        <a:rPr lang="ko-KR" altLang="en-US" b="1">
                          <a:solidFill>
                            <a:srgbClr val="1A1A1A"/>
                          </a:solidFill>
                          <a:latin typeface="Noto Sans KR"/>
                          <a:ea typeface="Noto Sans KR"/>
                          <a:cs typeface="Noto Sans KR"/>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a:lnSpc>
                          <a:spcPct val="115000"/>
                        </a:lnSpc>
                      </a:pPr>
                      <a:r>
                        <a:rPr sz="1000" b="0">
                          <a:solidFill>
                            <a:srgbClr val="1A1A1A"/>
                          </a:solidFill>
                          <a:latin typeface="Noto Sans KR"/>
                          <a:ea typeface="Noto Sans KR"/>
                          <a:cs typeface="Noto Sans KR"/>
                        </a:rPr>
                        <a:t>도면 화면의 위성·일반 배경(대조용)과 닮은 축제 지도의 해안선. 판정에는 쓰지 않습니다.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r h="400000">
                <a:tc rowSpan="2">
                  <a:txBody>
                    <a:bodyPr/>
                    <a:lstStyle/>
                    <a:p>
                      <a:pPr algn="ctr" latinLnBrk="1">
                        <a:lnSpc>
                          <a:spcPct val="115000"/>
                        </a:lnSpc>
                      </a:pPr>
                      <a:r>
                        <a:rPr lang="en-US" altLang="ko-KR" sz="3200" b="1">
                          <a:solidFill>
                            <a:srgbClr val="1A1A1A"/>
                          </a:solidFill>
                          <a:latin typeface="Noto Sans KR"/>
                          <a:ea typeface="Noto Sans KR"/>
                          <a:cs typeface="Noto Sans KR"/>
                        </a:rPr>
                        <a:t>5</a:t>
                      </a:r>
                      <a:endParaRPr lang="ko-KR" altLang="en-US" sz="3200" b="1">
                        <a:solidFill>
                          <a:schemeClr val="tx1"/>
                        </a:solidFill>
                      </a:endParaRPr>
                    </a:p>
                  </a:txBody>
                  <a:tcPr anchor="ctr">
                    <a:lnL w="12700" cap="flat" cmpd="sng" algn="ctr">
                      <a:no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latinLnBrk="1">
                        <a:lnSpc>
                          <a:spcPct val="115000"/>
                        </a:lnSpc>
                      </a:pPr>
                      <a:r>
                        <a:rPr lang="ko-KR" altLang="en-US" b="1" err="1">
                          <a:solidFill>
                            <a:srgbClr val="1A1A1A"/>
                          </a:solidFill>
                          <a:latin typeface="Noto Sans KR"/>
                          <a:ea typeface="Noto Sans KR"/>
                          <a:cs typeface="Noto Sans KR"/>
                        </a:rPr>
                        <a:t>데이터명</a:t>
                      </a:r>
                      <a:endParaRPr lang="ko-KR" altLang="en-US"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a:lnSpc>
                          <a:spcPct val="115000"/>
                        </a:lnSpc>
                      </a:pPr>
                      <a:r>
                        <a:rPr sz="1000" b="0">
                          <a:solidFill>
                            <a:srgbClr val="1A1A1A"/>
                          </a:solidFill>
                          <a:latin typeface="Noto Sans KR"/>
                          <a:ea typeface="Noto Sans KR"/>
                          <a:cs typeface="Noto Sans KR"/>
                        </a:rPr>
                        <a:t>우주항공청 월력요항 (공휴일, 2018~2027)</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858026807"/>
                  </a:ext>
                </a:extLst>
              </a:tr>
              <a:tr h="580000">
                <a:tc vMerge="1">
                  <a:txBody>
                    <a:bodyPr/>
                    <a:lstStyle/>
                    <a:p>
                      <a:pPr latinLnBrk="1"/>
                      <a:endParaRPr lang="ko-KR" altLang="en-US"/>
                    </a:p>
                  </a:txBody>
                  <a:tcPr/>
                </a:tc>
                <a:tc>
                  <a:txBody>
                    <a:bodyPr/>
                    <a:lstStyle/>
                    <a:p>
                      <a:pPr algn="ctr" latinLnBrk="1">
                        <a:lnSpc>
                          <a:spcPct val="115000"/>
                        </a:lnSpc>
                      </a:pPr>
                      <a:r>
                        <a:rPr lang="ko-KR" altLang="en-US" b="1">
                          <a:solidFill>
                            <a:srgbClr val="1A1A1A"/>
                          </a:solidFill>
                          <a:latin typeface="Noto Sans KR"/>
                          <a:ea typeface="Noto Sans KR"/>
                          <a:cs typeface="Noto Sans KR"/>
                        </a:rPr>
                        <a:t>상세설명</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a:lnSpc>
                          <a:spcPct val="115000"/>
                        </a:lnSpc>
                      </a:pPr>
                      <a:r>
                        <a:rPr sz="1000" b="0">
                          <a:solidFill>
                            <a:srgbClr val="1A1A1A"/>
                          </a:solidFill>
                          <a:latin typeface="Noto Sans KR"/>
                          <a:ea typeface="Noto Sans KR"/>
                          <a:cs typeface="Noto Sans KR"/>
                        </a:rPr>
                        <a:t>축제 신호 계산에서 설·추석 연휴를 평소 창에서 제외하고 겹치면 표시. 판정 배수에는 넣지 않습니다.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3851369"/>
                  </a:ext>
                </a:extLst>
              </a:tr>
            </a:tbl>
          </a:graphicData>
        </a:graphic>
      </p:graphicFrame>
    </p:spTree>
    <p:extLst>
      <p:ext uri="{BB962C8B-B14F-4D97-AF65-F5344CB8AC3E}">
        <p14:creationId xmlns:p14="http://schemas.microsoft.com/office/powerpoint/2010/main" val="317735648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표 2"/>
          <p:cNvGraphicFramePr>
            <a:graphicFrameLocks noGrp="1"/>
          </p:cNvGraphicFramePr>
          <p:nvPr>
            <p:extLst>
              <p:ext uri="{D42A27DB-BD31-4B8C-83A1-F6EECF244321}">
                <p14:modId xmlns:p14="http://schemas.microsoft.com/office/powerpoint/2010/main" val="1957205643"/>
              </p:ext>
            </p:extLst>
          </p:nvPr>
        </p:nvGraphicFramePr>
        <p:xfrm>
          <a:off x="287250" y="1218429"/>
          <a:ext cx="11649825" cy="5070000"/>
        </p:xfrm>
        <a:graphic>
          <a:graphicData uri="http://schemas.openxmlformats.org/drawingml/2006/table">
            <a:tbl>
              <a:tblPr firstRow="1" bandRow="1">
                <a:tableStyleId>{5C22544A-7EE6-4342-B048-85BDC9FD1C3A}</a:tableStyleId>
              </a:tblPr>
              <a:tblGrid>
                <a:gridCol w="1955222">
                  <a:extLst>
                    <a:ext uri="{9D8B030D-6E8A-4147-A177-3AD203B41FA5}">
                      <a16:colId xmlns:a16="http://schemas.microsoft.com/office/drawing/2014/main" val="1299753452"/>
                    </a:ext>
                  </a:extLst>
                </a:gridCol>
                <a:gridCol w="9694603">
                  <a:extLst>
                    <a:ext uri="{9D8B030D-6E8A-4147-A177-3AD203B41FA5}">
                      <a16:colId xmlns:a16="http://schemas.microsoft.com/office/drawing/2014/main" val="3999346814"/>
                    </a:ext>
                  </a:extLst>
                </a:gridCol>
              </a:tblGrid>
              <a:tr h="2420000">
                <a:tc>
                  <a:txBody>
                    <a:bodyPr/>
                    <a:lstStyle/>
                    <a:p>
                      <a:pPr algn="ctr" latinLnBrk="1"/>
                      <a:r>
                        <a:rPr lang="ko-KR" altLang="en-US" b="1">
                          <a:solidFill>
                            <a:schemeClr val="bg1"/>
                          </a:solidFill>
                        </a:rPr>
                        <a:t>차별성</a:t>
                      </a:r>
                      <a:endParaRPr lang="en-US" altLang="ko-KR" b="1">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lvl="0" indent="0" algn="just" rtl="0">
                        <a:lnSpc>
                          <a:spcPct val="115000"/>
                        </a:lnSpc>
                        <a:spcBef>
                          <a:spcPts val="0"/>
                        </a:spcBef>
                        <a:spcAft>
                          <a:spcPts val="0"/>
                        </a:spcAft>
                        <a:buNone/>
                      </a:pPr>
                      <a:r>
                        <a:rPr lang="en-US" altLang="ko-KR" sz="1100" b="0">
                          <a:solidFill>
                            <a:srgbClr val="1A1A1A"/>
                          </a:solidFill>
                          <a:latin typeface="Noto Sans KR"/>
                          <a:ea typeface="Noto Sans KR"/>
                          <a:cs typeface="Noto Sans KR"/>
                        </a:rPr>
                        <a:t>첫째, 발표치가 아니라 실측이 판정합니다. 이 축제가 지난 회차에 실제로 겪은 공사 KT 일별 실측 배수를 기준으로 삼아 기획안의 숫자를 세 번 잽니다. 예상 방문객 수를 새로 만들어 내지 않으므로 틀릴 수 있는 예측기가 되지 않습니다.</a:t>
                      </a:r>
                      <a:endParaRPr lang="en-US" altLang="ko-KR" sz="1800" b="0">
                        <a:solidFill>
                          <a:srgbClr val="FF0000"/>
                        </a:solidFill>
                        <a:latin typeface="+mn-lt"/>
                      </a:endParaRPr>
                    </a:p>
                    <a:p>
                      <a:pPr marL="0" lvl="0" indent="0" algn="just" rtl="0">
                        <a:lnSpc>
                          <a:spcPct val="115000"/>
                        </a:lnSpc>
                        <a:spcBef>
                          <a:spcPts val="0"/>
                        </a:spcBef>
                        <a:spcAft>
                          <a:spcPts val="0"/>
                        </a:spcAft>
                        <a:buNone/>
                      </a:pPr>
                      <a:r>
                        <a:rPr lang="en-US" altLang="ko-KR" sz="1100" b="0">
                          <a:solidFill>
                            <a:srgbClr val="1A1A1A"/>
                          </a:solidFill>
                          <a:latin typeface="Noto Sans KR"/>
                          <a:ea typeface="Noto Sans KR"/>
                          <a:cs typeface="Noto Sans KR"/>
                        </a:rPr>
                        <a:t>둘째, 공사 데이터를 한 번 부르는 것이 아니라 전수로 적재했습니다(시군구 272개 × 최장 2,658일, 합계 697,403행). 데이터랩 축제 목록 619건의 배수도 같은 자료로 다시 계산해 또래 비교와 자기검증이 같은 정의 위에 섭니다. 닮음 판정의 자기검증은 619건 leave-one-out 으로 정밀도 65.8% · 재현율 61.6% · 무작위 대비 3.26배 입니다.</a:t>
                      </a:r>
                      <a:endParaRPr lang="en-US" altLang="ko-KR" sz="1800" b="0">
                        <a:solidFill>
                          <a:srgbClr val="FF0000"/>
                        </a:solidFill>
                        <a:latin typeface="+mn-lt"/>
                      </a:endParaRPr>
                    </a:p>
                    <a:p>
                      <a:pPr marL="0" lvl="0" indent="0" algn="just" rtl="0">
                        <a:lnSpc>
                          <a:spcPct val="115000"/>
                        </a:lnSpc>
                        <a:spcBef>
                          <a:spcPts val="0"/>
                        </a:spcBef>
                        <a:spcAft>
                          <a:spcPts val="0"/>
                        </a:spcAft>
                        <a:buNone/>
                      </a:pPr>
                      <a:r>
                        <a:rPr lang="en-US" altLang="ko-KR" sz="1100" b="0">
                          <a:solidFill>
                            <a:srgbClr val="1A1A1A"/>
                          </a:solidFill>
                          <a:latin typeface="Noto Sans KR"/>
                          <a:ea typeface="Noto Sans KR"/>
                          <a:cs typeface="Noto Sans KR"/>
                        </a:rPr>
                        <a:t>셋째, 출력이 결재 문서입니다. 판정문 + 보완 문장 + 검증 보고서 A4 2장. 담당자가 예산 심의에서 "왜 이 숫자인가"에 댈 근거입니다.</a:t>
                      </a:r>
                      <a:endParaRPr lang="en-US" altLang="ko-KR" sz="1800" b="0">
                        <a:solidFill>
                          <a:srgbClr val="FF0000"/>
                        </a:solidFill>
                        <a:latin typeface="+mn-lt"/>
                      </a:endParaRPr>
                    </a:p>
                    <a:p>
                      <a:pPr marL="0" lvl="0" indent="0" algn="just" rtl="0">
                        <a:lnSpc>
                          <a:spcPct val="115000"/>
                        </a:lnSpc>
                        <a:spcBef>
                          <a:spcPts val="0"/>
                        </a:spcBef>
                        <a:spcAft>
                          <a:spcPts val="0"/>
                        </a:spcAft>
                        <a:buNone/>
                      </a:pPr>
                      <a:r>
                        <a:rPr lang="en-US" altLang="ko-KR" sz="1100" b="0">
                          <a:solidFill>
                            <a:srgbClr val="1A1A1A"/>
                          </a:solidFill>
                          <a:latin typeface="Noto Sans KR"/>
                          <a:ea typeface="Noto Sans KR"/>
                          <a:cs typeface="Noto Sans KR"/>
                        </a:rPr>
                        <a:t>넷째, 화면이 자기 한계를 먼저 말합니다. 명·원 숫자는 출처 셀로만 나가고(e2e 가 셉니다), 임계값은 정한 값이라고 적으며, 내년 구간의 적중률은 아직 -52주 근사로만 쟀다고 카드가 말합니다(표본 381건, 두 해 채택 325건 중 167건(51.4%)). 판정·시뮬에 생성형 모델을 쓰지 않아 같은 입력에 늘 같은 답입니다.</a:t>
                      </a:r>
                      <a:endParaRPr lang="en-US" altLang="ko-KR" sz="1800" b="0">
                        <a:solidFill>
                          <a:srgbClr val="FF0000"/>
                        </a:solidFill>
                        <a:latin typeface="+mn-lt"/>
                      </a:endParaRPr>
                    </a:p>
                    <a:p>
                      <a:pPr marL="0" lvl="0" indent="0" algn="just" rtl="0">
                        <a:lnSpc>
                          <a:spcPct val="115000"/>
                        </a:lnSpc>
                        <a:spcBef>
                          <a:spcPts val="0"/>
                        </a:spcBef>
                        <a:spcAft>
                          <a:spcPts val="0"/>
                        </a:spcAft>
                        <a:buNone/>
                      </a:pPr>
                      <a:r>
                        <a:rPr lang="en-US" altLang="ko-KR" sz="1100" b="0">
                          <a:solidFill>
                            <a:srgbClr val="1A1A1A"/>
                          </a:solidFill>
                          <a:latin typeface="Noto Sans KR"/>
                          <a:ea typeface="Noto Sans KR"/>
                          <a:cs typeface="Noto Sans KR"/>
                        </a:rPr>
                        <a:t>완성 판정 화면은 아래 링크를 누르면 업로드 없이 바로 열립니다.</a:t>
                      </a:r>
                      <a:endParaRPr lang="en-US" altLang="ko-KR" sz="1800" b="0">
                        <a:solidFill>
                          <a:srgbClr val="FF0000"/>
                        </a:solidFill>
                        <a:latin typeface="+mn-lt"/>
                      </a:endParaRPr>
                    </a:p>
                    <a:p>
                      <a:pPr marL="0" lvl="0" indent="0" algn="just" rtl="0">
                        <a:lnSpc>
                          <a:spcPct val="115000"/>
                        </a:lnSpc>
                        <a:spcBef>
                          <a:spcPts val="0"/>
                        </a:spcBef>
                        <a:spcAft>
                          <a:spcPts val="0"/>
                        </a:spcAft>
                        <a:buNone/>
                      </a:pPr>
                      <a:r>
                        <a:rPr lang="en-US" altLang="ko-KR" sz="1100" b="0">
                          <a:solidFill>
                            <a:srgbClr val="1A1A1A"/>
                          </a:solidFill>
                          <a:latin typeface="Noto Sans KR"/>
                          <a:ea typeface="Noto Sans KR"/>
                          <a:cs typeface="Noto Sans KR"/>
                          <a:hlinkClick r:id="rId2"/>
                        </a:rPr>
                        <a:t>[군포철쭉축제 2027 → 주의]</a:t>
                      </a:r>
                      <a:endParaRPr lang="en-US" altLang="ko-KR" sz="1800" b="0">
                        <a:solidFill>
                          <a:srgbClr val="FF0000"/>
                        </a:solidFill>
                        <a:latin typeface="+mn-lt"/>
                      </a:endParaRPr>
                    </a:p>
                    <a:p>
                      <a:pPr marL="0" lvl="0" indent="0" algn="just" rtl="0">
                        <a:lnSpc>
                          <a:spcPct val="115000"/>
                        </a:lnSpc>
                        <a:spcBef>
                          <a:spcPts val="0"/>
                        </a:spcBef>
                        <a:spcAft>
                          <a:spcPts val="0"/>
                        </a:spcAft>
                        <a:buNone/>
                      </a:pPr>
                      <a:r>
                        <a:rPr lang="en-US" altLang="ko-KR" sz="1100" b="0">
                          <a:solidFill>
                            <a:srgbClr val="1A1A1A"/>
                          </a:solidFill>
                          <a:latin typeface="Noto Sans KR"/>
                          <a:ea typeface="Noto Sans KR"/>
                          <a:cs typeface="Noto Sans KR"/>
                          <a:hlinkClick r:id="rId3"/>
                        </a:rPr>
                        <a:t>[화천산천어축제 2027 → 상한 초과]</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903409156"/>
                  </a:ext>
                </a:extLst>
              </a:tr>
              <a:tr h="2650000">
                <a:tc>
                  <a:txBody>
                    <a:bodyPr/>
                    <a:lstStyle/>
                    <a:p>
                      <a:pPr algn="ctr" latinLnBrk="1"/>
                      <a:r>
                        <a:rPr lang="ko-KR" altLang="en-US" b="1">
                          <a:solidFill>
                            <a:schemeClr val="bg1"/>
                          </a:solidFill>
                        </a:rPr>
                        <a:t>발전계획</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a:txBody>
                    <a:bodyPr/>
                    <a:lstStyle/>
                    <a:p>
                      <a:pPr marL="0" marR="0" lvl="0" indent="0" algn="just" defTabSz="914400" rtl="0" eaLnBrk="1" fontAlgn="auto" latinLnBrk="1" hangingPunct="1">
                        <a:lnSpc>
                          <a:spcPct val="115000"/>
                        </a:lnSpc>
                        <a:spcBef>
                          <a:spcPts val="0"/>
                        </a:spcBef>
                        <a:spcAft>
                          <a:spcPts val="0"/>
                        </a:spcAft>
                        <a:buClrTx/>
                        <a:buSzTx/>
                        <a:buFontTx/>
                        <a:buNone/>
                        <a:tabLst/>
                        <a:defRPr/>
                      </a:pPr>
                      <a:r>
                        <a:rPr lang="en-US" altLang="ko-KR" sz="1100">
                          <a:solidFill>
                            <a:srgbClr val="1A1A1A"/>
                          </a:solidFill>
                          <a:latin typeface="Noto Sans KR"/>
                          <a:ea typeface="Noto Sans KR"/>
                          <a:cs typeface="Noto Sans KR"/>
                        </a:rPr>
                        <a:t>1) (승인 직후) 공사 소비·내비게이션 검색·SNS 지수(AreaTarResDemService) 연동 - 활용신청 진행 중. 예산 항목별(먹거리·주차·홍보) 근거를 같은 판정문 안에 늘립니다.</a:t>
                      </a:r>
                    </a:p>
                    <a:p>
                      <a:pPr marL="0" marR="0" lvl="0" indent="0" algn="just" defTabSz="914400" rtl="0" eaLnBrk="1" fontAlgn="auto" latinLnBrk="1" hangingPunct="1">
                        <a:lnSpc>
                          <a:spcPct val="115000"/>
                        </a:lnSpc>
                        <a:spcBef>
                          <a:spcPts val="0"/>
                        </a:spcBef>
                        <a:spcAft>
                          <a:spcPts val="0"/>
                        </a:spcAft>
                        <a:buClrTx/>
                        <a:buSzTx/>
                        <a:buFontTx/>
                        <a:buNone/>
                        <a:tabLst/>
                        <a:defRPr/>
                      </a:pPr>
                      <a:r>
                        <a:rPr lang="en-US" altLang="ko-KR" sz="1100">
                          <a:solidFill>
                            <a:srgbClr val="1A1A1A"/>
                          </a:solidFill>
                          <a:latin typeface="Noto Sans KR"/>
                          <a:ea typeface="Noto Sans KR"/>
                          <a:cs typeface="Noto Sans KR"/>
                        </a:rPr>
                        <a:t>2) (3개월) 다년 기간 수집 - 문화체육관광부 지역축제 파일의 회차별 기간을 모아 -52주 근사가 아니라 실제 다년 표본으로 내년 구간의 적중률을 다시 재고, 임계값도 군포 한 건이 아니라 다도시로 다시 맞춥니다.</a:t>
                      </a:r>
                    </a:p>
                    <a:p>
                      <a:pPr marL="0" marR="0" lvl="0" indent="0" algn="just" defTabSz="914400" rtl="0" eaLnBrk="1" fontAlgn="auto" latinLnBrk="1" hangingPunct="1">
                        <a:lnSpc>
                          <a:spcPct val="115000"/>
                        </a:lnSpc>
                        <a:spcBef>
                          <a:spcPts val="0"/>
                        </a:spcBef>
                        <a:spcAft>
                          <a:spcPts val="0"/>
                        </a:spcAft>
                        <a:buClrTx/>
                        <a:buSzTx/>
                        <a:buFontTx/>
                        <a:buNone/>
                        <a:tabLst/>
                        <a:defRPr/>
                      </a:pPr>
                      <a:r>
                        <a:rPr lang="en-US" altLang="ko-KR" sz="1100">
                          <a:solidFill>
                            <a:srgbClr val="1A1A1A"/>
                          </a:solidFill>
                          <a:latin typeface="Noto Sans KR"/>
                          <a:ea typeface="Noto Sans KR"/>
                          <a:cs typeface="Noto Sans KR"/>
                        </a:rPr>
                        <a:t>3) (다음 개최 뒤) 사후 평가 루프 - 개최 뒤 실측이 데이터랩에 쌓이면 기획안 대비 실적을 같은 자로 다시 재고 다음 기획안 판정에 넘깁니다. 담당자 업무가 결과보고서 → 내년 기획안으로 이어지는 흐름 그대로입니다.</a:t>
                      </a:r>
                    </a:p>
                    <a:p>
                      <a:pPr marL="0" marR="0" lvl="0" indent="0" algn="just" defTabSz="914400" rtl="0" eaLnBrk="1" fontAlgn="auto" latinLnBrk="1" hangingPunct="1">
                        <a:lnSpc>
                          <a:spcPct val="115000"/>
                        </a:lnSpc>
                        <a:spcBef>
                          <a:spcPts val="0"/>
                        </a:spcBef>
                        <a:spcAft>
                          <a:spcPts val="0"/>
                        </a:spcAft>
                        <a:buClrTx/>
                        <a:buSzTx/>
                        <a:buFontTx/>
                        <a:buNone/>
                        <a:tabLst/>
                        <a:defRPr/>
                      </a:pPr>
                      <a:r>
                        <a:rPr lang="en-US" altLang="ko-KR" sz="1100">
                          <a:solidFill>
                            <a:srgbClr val="1A1A1A"/>
                          </a:solidFill>
                          <a:latin typeface="Noto Sans KR"/>
                          <a:ea typeface="Noto Sans KR"/>
                          <a:cs typeface="Noto Sans KR"/>
                        </a:rPr>
                        <a:t>4) (3개월~1년) 현장 서식과 도면으로 - 행정안전부 「지역축제장 안전관리 매뉴얼」의 "최대 수용인원"·"관람객 동선" 칸에 판정표와 시뮬 결과를 그대로 붙이고, 실물 배치도로 정확도를 잰 뒤 배치도 자동 인식을 붙이며, 다음 회차 기획 주기에 맞춰 1개 지자체 파일럿을 목표로 합니다.</a:t>
                      </a:r>
                    </a:p>
                    <a:p>
                      <a:pPr marL="0" marR="0" lvl="0" indent="0" algn="just" defTabSz="914400" rtl="0" eaLnBrk="1" fontAlgn="auto" latinLnBrk="1" hangingPunct="1">
                        <a:lnSpc>
                          <a:spcPct val="115000"/>
                        </a:lnSpc>
                        <a:spcBef>
                          <a:spcPts val="0"/>
                        </a:spcBef>
                        <a:spcAft>
                          <a:spcPts val="0"/>
                        </a:spcAft>
                        <a:buClrTx/>
                        <a:buSzTx/>
                        <a:buFontTx/>
                        <a:buNone/>
                        <a:tabLst/>
                        <a:defRPr/>
                      </a:pPr>
                      <a:r>
                        <a:rPr lang="en-US" altLang="ko-KR" sz="1100">
                          <a:solidFill>
                            <a:srgbClr val="1A1A1A"/>
                          </a:solidFill>
                          <a:latin typeface="Noto Sans KR"/>
                          <a:ea typeface="Noto Sans KR"/>
                          <a:cs typeface="Noto Sans KR"/>
                        </a:rPr>
                        <a:t>운영은 정적 사이트 + 서버리스(Vercel)라 고정비가 없고, 공사 데이터는 월 1회 프리페치(개발계정 1,000회/일 안)로 갱신합니다.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17412154"/>
                  </a:ext>
                </a:extLst>
              </a:tr>
            </a:tbl>
          </a:graphicData>
        </a:graphic>
      </p:graphicFrame>
    </p:spTree>
    <p:extLst>
      <p:ext uri="{BB962C8B-B14F-4D97-AF65-F5344CB8AC3E}">
        <p14:creationId xmlns:p14="http://schemas.microsoft.com/office/powerpoint/2010/main" val="3988568962"/>
      </p:ext>
    </p:extLst>
  </p:cSld>
  <p:clrMapOvr>
    <a:masterClrMapping/>
  </p:clrMapOvr>
  <p:timing>
    <p:tnLst>
      <p:par>
        <p:cTn id="1" dur="indefinite" restart="never" nodeType="tmRoot"/>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a:solidFill>
                            <a:srgbClr val="1A1A1A"/>
                          </a:solidFill>
                          <a:latin typeface="Noto Sans KR"/>
                          <a:ea typeface="Noto Sans KR"/>
                          <a:cs typeface="Noto Sans KR"/>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a:solidFill>
                            <a:srgbClr val="1A1A1A"/>
                          </a:solidFill>
                          <a:latin typeface="Noto Sans KR"/>
                          <a:ea typeface="Noto Sans KR"/>
                          <a:cs typeface="Noto Sans KR"/>
                        </a:rPr>
                        <a:t>- 맨 위 라벨과 한 문단 판정문</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r>
                        <a:rPr sz="1000">
                          <a:solidFill>
                            <a:srgbClr val="1A1A1A"/>
                          </a:solidFill>
                          <a:latin typeface="Noto Sans KR"/>
                          <a:ea typeface="Noto Sans KR"/>
                          <a:cs typeface="Noto Sans KR"/>
                        </a:rPr>
                        <a:t>- 판정표 - 모집단 상한 → 순증분 → 동일 정의 배수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r>
                        <a:rPr sz="1000">
                          <a:solidFill>
                            <a:srgbClr val="1A1A1A"/>
                          </a:solidFill>
                          <a:latin typeface="Noto Sans KR"/>
                          <a:ea typeface="Noto Sans KR"/>
                          <a:cs typeface="Noto Sans KR"/>
                        </a:rPr>
                        <a:t>- 내년 배수 구간 = 지난 회차 배수의 범위 (예측값 아님)</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r>
                        <a:rPr sz="1000">
                          <a:solidFill>
                            <a:srgbClr val="1A1A1A"/>
                          </a:solidFill>
                          <a:latin typeface="Noto Sans KR"/>
                          <a:ea typeface="Noto Sans KR"/>
                          <a:cs typeface="Noto Sans KR"/>
                        </a:rPr>
                        <a:t>- 이력이 없으면 근거 없음과 또래 구간만 낸다</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lnSpc>
                          <a:spcPct val="115000"/>
                        </a:lnSpc>
                      </a:pPr>
                      <a:r>
                        <a:rPr lang="ko-KR" altLang="en-US" b="1" dirty="0" smtClean="0">
                          <a:solidFill>
                            <a:srgbClr val="1A1A1A"/>
                          </a:solidFill>
                          <a:latin typeface="Noto Sans KR"/>
                          <a:ea typeface="Noto Sans KR"/>
                          <a:cs typeface="Noto Sans KR"/>
                        </a:rPr>
                        <a:t>해시태그2</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lnSpc>
                          <a:spcPct val="115000"/>
                        </a:lnSpc>
                      </a:pPr>
                      <a:r>
                        <a:rPr lang="en-US" altLang="ko-KR" b="0" dirty="0" smtClean="0" sz="1100">
                          <a:solidFill>
                            <a:srgbClr val="1A1A1A"/>
                          </a:solidFill>
                          <a:latin typeface="Noto Sans KR"/>
                          <a:ea typeface="Noto Sans KR"/>
                          <a:cs typeface="Noto Sans KR"/>
                        </a:rPr>
                        <a:t>#사전 수요 예측</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ko-KR" altLang="en-US" b="1" dirty="0" err="1" smtClean="0">
                          <a:solidFill>
                            <a:srgbClr val="1A1A1A"/>
                          </a:solidFill>
                          <a:latin typeface="Noto Sans KR"/>
                          <a:ea typeface="Noto Sans KR"/>
                          <a:cs typeface="Noto Sans KR"/>
                        </a:rPr>
                        <a:t>연계기능2</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lnSpc>
                          <a:spcPct val="115000"/>
                        </a:lnSpc>
                      </a:pPr>
                      <a:r>
                        <a:rPr lang="en-US" altLang="ko-KR" b="0" dirty="0" smtClean="0" sz="1100">
                          <a:solidFill>
                            <a:srgbClr val="1A1A1A"/>
                          </a:solidFill>
                          <a:latin typeface="Noto Sans KR"/>
                          <a:ea typeface="Noto Sans KR"/>
                          <a:cs typeface="Noto Sans KR"/>
                        </a:rPr>
                        <a:t>예상 방문객 3단 판정과 내년 배수 구간</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lnSpc>
                          <a:spcPct val="115000"/>
                        </a:lnSpc>
                      </a:pPr>
                      <a:r>
                        <a:rPr lang="ko-KR" altLang="en-US" b="1" dirty="0" err="1" smtClean="0">
                          <a:solidFill>
                            <a:srgbClr val="1A1A1A"/>
                          </a:solidFill>
                          <a:latin typeface="Noto Sans KR"/>
                          <a:ea typeface="Noto Sans KR"/>
                          <a:cs typeface="Noto Sans KR"/>
                        </a:rPr>
                        <a:t>기능설명2</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15000"/>
                        </a:lnSpc>
                        <a:spcBef>
                          <a:spcPts val="0"/>
                        </a:spcBef>
                        <a:spcAft>
                          <a:spcPts val="0"/>
                        </a:spcAft>
                        <a:buClrTx/>
                        <a:buSzTx/>
                        <a:buFontTx/>
                        <a:buNone/>
                        <a:tabLst/>
                        <a:defRPr/>
                      </a:pPr>
                      <a:r>
                        <a:rPr lang="en-US" altLang="ko-KR" b="0" dirty="0" sz="1100">
                          <a:solidFill>
                            <a:srgbClr val="1A1A1A"/>
                          </a:solidFill>
                          <a:latin typeface="Noto Sans KR"/>
                          <a:ea typeface="Noto Sans KR"/>
                          <a:cs typeface="Noto Sans KR"/>
                        </a:rPr>
                        <a:t>기획안의 숫자를 이 축제 자신의 지난 회차 실측과 같은 자로 세 번 재고, 내년 배수 구간과 흥행 가능성의 위치를 냅니다.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2_1_verdict.png"/>
          <p:cNvPicPr>
            <a:picLocks noChangeAspect="1"/>
          </p:cNvPicPr>
          <p:nvPr/>
        </p:nvPicPr>
        <p:blipFill>
          <a:blip r:embed="rId2"/>
          <a:stretch>
            <a:fillRect/>
          </a:stretch>
        </p:blipFill>
        <p:spPr>
          <a:xfrm>
            <a:off x="356789" y="3074071"/>
            <a:ext cx="2748903" cy="2182463"/>
          </a:xfrm>
          <a:prstGeom prst="rect">
            <a:avLst/>
          </a:prstGeom>
        </p:spPr>
      </p:pic>
      <p:pic>
        <p:nvPicPr>
          <p:cNvPr id="8" name="Picture 7" descr="f2_2_stages.png"/>
          <p:cNvPicPr>
            <a:picLocks noChangeAspect="1"/>
          </p:cNvPicPr>
          <p:nvPr/>
        </p:nvPicPr>
        <p:blipFill>
          <a:blip r:embed="rId3"/>
          <a:stretch>
            <a:fillRect/>
          </a:stretch>
        </p:blipFill>
        <p:spPr>
          <a:xfrm>
            <a:off x="3212315" y="3074071"/>
            <a:ext cx="2751004" cy="2182463"/>
          </a:xfrm>
          <a:prstGeom prst="rect">
            <a:avLst/>
          </a:prstGeom>
        </p:spPr>
      </p:pic>
      <p:pic>
        <p:nvPicPr>
          <p:cNvPr id="9" name="Picture 8" descr="f2_3_range.png"/>
          <p:cNvPicPr>
            <a:picLocks noChangeAspect="1"/>
          </p:cNvPicPr>
          <p:nvPr/>
        </p:nvPicPr>
        <p:blipFill>
          <a:blip r:embed="rId4"/>
          <a:stretch>
            <a:fillRect/>
          </a:stretch>
        </p:blipFill>
        <p:spPr>
          <a:xfrm>
            <a:off x="6068951" y="3074071"/>
            <a:ext cx="2750886" cy="2182463"/>
          </a:xfrm>
          <a:prstGeom prst="rect">
            <a:avLst/>
          </a:prstGeom>
        </p:spPr>
      </p:pic>
      <p:pic>
        <p:nvPicPr>
          <p:cNvPr id="10" name="Picture 9" descr="f2_4_first.png"/>
          <p:cNvPicPr>
            <a:picLocks noChangeAspect="1"/>
          </p:cNvPicPr>
          <p:nvPr/>
        </p:nvPicPr>
        <p:blipFill>
          <a:blip r:embed="rId5"/>
          <a:stretch>
            <a:fillRect/>
          </a:stretch>
        </p:blipFill>
        <p:spPr>
          <a:xfrm>
            <a:off x="8925528" y="3074071"/>
            <a:ext cx="2750886" cy="2182463"/>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a:solidFill>
                            <a:srgbClr val="1A1A1A"/>
                          </a:solidFill>
                          <a:latin typeface="Noto Sans KR"/>
                          <a:ea typeface="Noto Sans KR"/>
                          <a:cs typeface="Noto Sans KR"/>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a:solidFill>
                            <a:srgbClr val="1A1A1A"/>
                          </a:solidFill>
                          <a:latin typeface="Noto Sans KR"/>
                          <a:ea typeface="Noto Sans KR"/>
                          <a:cs typeface="Noto Sans KR"/>
                        </a:rPr>
                        <a:t>- 라벨마다 다음에 할 일을 문장으로</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r>
                        <a:rPr sz="1000">
                          <a:solidFill>
                            <a:srgbClr val="1A1A1A"/>
                          </a:solidFill>
                          <a:latin typeface="Noto Sans KR"/>
                          <a:ea typeface="Noto Sans KR"/>
                          <a:cs typeface="Noto Sans KR"/>
                        </a:rPr>
                        <a:t>- 1인당 예산 대조 (기획안 기준 vs 실측 순증)</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r>
                        <a:rPr sz="1000">
                          <a:solidFill>
                            <a:srgbClr val="1A1A1A"/>
                          </a:solidFill>
                          <a:latin typeface="Noto Sans KR"/>
                          <a:ea typeface="Noto Sans KR"/>
                          <a:cs typeface="Noto Sans KR"/>
                        </a:rPr>
                        <a:t>- 귀속 경고 - 반경 50km 다른 축제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r>
                        <a:rPr sz="1000">
                          <a:solidFill>
                            <a:srgbClr val="1A1A1A"/>
                          </a:solidFill>
                          <a:latin typeface="Noto Sans KR"/>
                          <a:ea typeface="Noto Sans KR"/>
                          <a:cs typeface="Noto Sans KR"/>
                        </a:rPr>
                        <a:t>- [검증 보고서 두 장] → 인쇄로 PDF, 결재에 첨부</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lnSpc>
                          <a:spcPct val="115000"/>
                        </a:lnSpc>
                      </a:pPr>
                      <a:r>
                        <a:rPr lang="ko-KR" altLang="en-US" b="1" dirty="0" smtClean="0">
                          <a:solidFill>
                            <a:srgbClr val="1A1A1A"/>
                          </a:solidFill>
                          <a:latin typeface="Noto Sans KR"/>
                          <a:ea typeface="Noto Sans KR"/>
                          <a:cs typeface="Noto Sans KR"/>
                        </a:rPr>
                        <a:t>해시태그3</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lnSpc>
                          <a:spcPct val="115000"/>
                        </a:lnSpc>
                      </a:pPr>
                      <a:r>
                        <a:rPr lang="en-US" altLang="ko-KR" b="0" dirty="0" smtClean="0" sz="1100">
                          <a:solidFill>
                            <a:srgbClr val="1A1A1A"/>
                          </a:solidFill>
                          <a:latin typeface="Noto Sans KR"/>
                          <a:ea typeface="Noto Sans KR"/>
                          <a:cs typeface="Noto Sans KR"/>
                        </a:rPr>
                        <a:t>#보완 피드백 제공</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ko-KR" altLang="en-US" b="1" dirty="0" err="1" smtClean="0">
                          <a:solidFill>
                            <a:srgbClr val="1A1A1A"/>
                          </a:solidFill>
                          <a:latin typeface="Noto Sans KR"/>
                          <a:ea typeface="Noto Sans KR"/>
                          <a:cs typeface="Noto Sans KR"/>
                        </a:rPr>
                        <a:t>연계기능3</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lnSpc>
                          <a:spcPct val="115000"/>
                        </a:lnSpc>
                      </a:pPr>
                      <a:r>
                        <a:rPr lang="en-US" altLang="ko-KR" b="0" dirty="0" smtClean="0" sz="1100">
                          <a:solidFill>
                            <a:srgbClr val="1A1A1A"/>
                          </a:solidFill>
                          <a:latin typeface="Noto Sans KR"/>
                          <a:ea typeface="Noto Sans KR"/>
                          <a:cs typeface="Noto Sans KR"/>
                        </a:rPr>
                        <a:t>보완 문장에서 검증 보고서까지</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lnSpc>
                          <a:spcPct val="115000"/>
                        </a:lnSpc>
                      </a:pPr>
                      <a:r>
                        <a:rPr lang="ko-KR" altLang="en-US" b="1" dirty="0" err="1" smtClean="0">
                          <a:solidFill>
                            <a:srgbClr val="1A1A1A"/>
                          </a:solidFill>
                          <a:latin typeface="Noto Sans KR"/>
                          <a:ea typeface="Noto Sans KR"/>
                          <a:cs typeface="Noto Sans KR"/>
                        </a:rPr>
                        <a:t>기능설명3</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15000"/>
                        </a:lnSpc>
                        <a:spcBef>
                          <a:spcPts val="0"/>
                        </a:spcBef>
                        <a:spcAft>
                          <a:spcPts val="0"/>
                        </a:spcAft>
                        <a:buClrTx/>
                        <a:buSzTx/>
                        <a:buFontTx/>
                        <a:buNone/>
                        <a:tabLst/>
                        <a:defRPr/>
                      </a:pPr>
                      <a:r>
                        <a:rPr lang="en-US" altLang="ko-KR" b="0" dirty="0" sz="1100">
                          <a:solidFill>
                            <a:srgbClr val="1A1A1A"/>
                          </a:solidFill>
                          <a:latin typeface="Noto Sans KR"/>
                          <a:ea typeface="Noto Sans KR"/>
                          <a:cs typeface="Noto Sans KR"/>
                        </a:rPr>
                        <a:t>라벨마다 다음에 할 일을 문장으로 내고, 예산·기간·경쟁 축제를 대조한 뒤 결재 첨부용 A4 두 장으로 인쇄합니다.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3_1_other.png"/>
          <p:cNvPicPr>
            <a:picLocks noChangeAspect="1"/>
          </p:cNvPicPr>
          <p:nvPr/>
        </p:nvPicPr>
        <p:blipFill>
          <a:blip r:embed="rId2"/>
          <a:stretch>
            <a:fillRect/>
          </a:stretch>
        </p:blipFill>
        <p:spPr>
          <a:xfrm>
            <a:off x="356111" y="3074071"/>
            <a:ext cx="2750258" cy="2182463"/>
          </a:xfrm>
          <a:prstGeom prst="rect">
            <a:avLst/>
          </a:prstGeom>
        </p:spPr>
      </p:pic>
      <p:pic>
        <p:nvPicPr>
          <p:cNvPr id="8" name="Picture 7" descr="f3_2_budget.png"/>
          <p:cNvPicPr>
            <a:picLocks noChangeAspect="1"/>
          </p:cNvPicPr>
          <p:nvPr/>
        </p:nvPicPr>
        <p:blipFill>
          <a:blip r:embed="rId3"/>
          <a:stretch>
            <a:fillRect/>
          </a:stretch>
        </p:blipFill>
        <p:spPr>
          <a:xfrm>
            <a:off x="3212374" y="3074071"/>
            <a:ext cx="2750886" cy="2182463"/>
          </a:xfrm>
          <a:prstGeom prst="rect">
            <a:avLst/>
          </a:prstGeom>
        </p:spPr>
      </p:pic>
      <p:pic>
        <p:nvPicPr>
          <p:cNvPr id="9" name="Picture 8" descr="f3_3_attrib.png"/>
          <p:cNvPicPr>
            <a:picLocks noChangeAspect="1"/>
          </p:cNvPicPr>
          <p:nvPr/>
        </p:nvPicPr>
        <p:blipFill>
          <a:blip r:embed="rId4"/>
          <a:stretch>
            <a:fillRect/>
          </a:stretch>
        </p:blipFill>
        <p:spPr>
          <a:xfrm>
            <a:off x="6071159" y="3074071"/>
            <a:ext cx="2746470" cy="2182463"/>
          </a:xfrm>
          <a:prstGeom prst="rect">
            <a:avLst/>
          </a:prstGeom>
        </p:spPr>
      </p:pic>
      <p:pic>
        <p:nvPicPr>
          <p:cNvPr id="10" name="Picture 9" descr="f3_4_report.png"/>
          <p:cNvPicPr>
            <a:picLocks noChangeAspect="1"/>
          </p:cNvPicPr>
          <p:nvPr/>
        </p:nvPicPr>
        <p:blipFill>
          <a:blip r:embed="rId5"/>
          <a:stretch>
            <a:fillRect/>
          </a:stretch>
        </p:blipFill>
        <p:spPr>
          <a:xfrm>
            <a:off x="8925469" y="3074071"/>
            <a:ext cx="2751004" cy="2182463"/>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5" name="표 4"/>
          <p:cNvGraphicFramePr>
            <a:graphicFrameLocks noGrp="1"/>
          </p:cNvGraphicFramePr>
          <p:nvPr>
            <p:extLst>
              <p:ext uri="{D42A27DB-BD31-4B8C-83A1-F6EECF244321}">
                <p14:modId xmlns:p14="http://schemas.microsoft.com/office/powerpoint/2010/main" val="1504402377"/>
              </p:ext>
            </p:extLst>
          </p:nvPr>
        </p:nvGraphicFramePr>
        <p:xfrm>
          <a:off x="302952" y="2702225"/>
          <a:ext cx="11426308" cy="3836943"/>
        </p:xfrm>
        <a:graphic>
          <a:graphicData uri="http://schemas.openxmlformats.org/drawingml/2006/table">
            <a:tbl>
              <a:tblPr firstRow="1" bandRow="1">
                <a:tableStyleId>{5C22544A-7EE6-4342-B048-85BDC9FD1C3A}</a:tableStyleId>
              </a:tblPr>
              <a:tblGrid>
                <a:gridCol w="2856577">
                  <a:extLst>
                    <a:ext uri="{9D8B030D-6E8A-4147-A177-3AD203B41FA5}">
                      <a16:colId xmlns:a16="http://schemas.microsoft.com/office/drawing/2014/main" val="956832101"/>
                    </a:ext>
                  </a:extLst>
                </a:gridCol>
                <a:gridCol w="2856577">
                  <a:extLst>
                    <a:ext uri="{9D8B030D-6E8A-4147-A177-3AD203B41FA5}">
                      <a16:colId xmlns:a16="http://schemas.microsoft.com/office/drawing/2014/main" val="2325135401"/>
                    </a:ext>
                  </a:extLst>
                </a:gridCol>
                <a:gridCol w="2856577">
                  <a:extLst>
                    <a:ext uri="{9D8B030D-6E8A-4147-A177-3AD203B41FA5}">
                      <a16:colId xmlns:a16="http://schemas.microsoft.com/office/drawing/2014/main" val="1669866357"/>
                    </a:ext>
                  </a:extLst>
                </a:gridCol>
                <a:gridCol w="2856577">
                  <a:extLst>
                    <a:ext uri="{9D8B030D-6E8A-4147-A177-3AD203B41FA5}">
                      <a16:colId xmlns:a16="http://schemas.microsoft.com/office/drawing/2014/main" val="1337599892"/>
                    </a:ext>
                  </a:extLst>
                </a:gridCol>
              </a:tblGrid>
              <a:tr h="321846">
                <a:tc gridSpan="4">
                  <a:txBody>
                    <a:bodyPr/>
                    <a:lstStyle/>
                    <a:p>
                      <a:pPr algn="ctr" latinLnBrk="1"/>
                      <a:r>
                        <a:rPr lang="ko-KR" altLang="en-US">
                          <a:solidFill>
                            <a:schemeClr val="bg1"/>
                          </a:solidFill>
                        </a:rPr>
                        <a:t>기능</a:t>
                      </a:r>
                      <a:r>
                        <a:rPr lang="ko-KR" altLang="en-US" baseline="0">
                          <a:solidFill>
                            <a:schemeClr val="bg1"/>
                          </a:solidFill>
                        </a:rPr>
                        <a:t> </a:t>
                      </a:r>
                      <a:r>
                        <a:rPr lang="ko-KR" altLang="en-US">
                          <a:solidFill>
                            <a:schemeClr val="bg1"/>
                          </a:solidFill>
                        </a:rPr>
                        <a:t>흐름도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372472"/>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tc hMerge="1">
                  <a:txBody>
                    <a:bodyPr/>
                    <a:lstStyle/>
                    <a:p>
                      <a:pPr algn="ctr" latinLnBrk="1"/>
                      <a:endParaRPr lang="ko-KR" altLang="en-US"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F6F00"/>
                    </a:solidFill>
                  </a:tcPr>
                </a:tc>
                <a:extLst>
                  <a:ext uri="{0D108BD9-81ED-4DB2-BD59-A6C34878D82A}">
                    <a16:rowId xmlns:a16="http://schemas.microsoft.com/office/drawing/2014/main" val="1032358826"/>
                  </a:ext>
                </a:extLst>
              </a:tr>
              <a:tr h="2282463">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a:solidFill>
                            <a:srgbClr val="1A1A1A"/>
                          </a:solidFill>
                          <a:latin typeface="Noto Sans KR"/>
                          <a:ea typeface="Noto Sans KR"/>
                          <a:cs typeface="Noto Sans KR"/>
                        </a:rPr>
                        <a:t/>
                      </a:r>
                      <a:endParaRPr lang="en-US" altLang="ko-KR" sz="1800" b="0">
                        <a:solidFill>
                          <a:srgbClr val="FF0000"/>
                        </a:solidFill>
                        <a:latin typeface="+mn-lt"/>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3357600838"/>
                  </a:ext>
                </a:extLst>
              </a:tr>
              <a:tr h="1166258">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en-US" altLang="ko-KR" sz="1000" b="0">
                          <a:solidFill>
                            <a:srgbClr val="1A1A1A"/>
                          </a:solidFill>
                          <a:latin typeface="Noto Sans KR"/>
                          <a:ea typeface="Noto Sans KR"/>
                          <a:cs typeface="Noto Sans KR"/>
                        </a:rPr>
                        <a:t>- "이 판정에 쓴 공사 데이터" 표 - API·값·호출</a:t>
                      </a:r>
                      <a:endParaRPr lang="en-US" altLang="ko-KR" b="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r>
                        <a:rPr sz="1000">
                          <a:solidFill>
                            <a:srgbClr val="1A1A1A"/>
                          </a:solidFill>
                          <a:latin typeface="Noto Sans KR"/>
                          <a:ea typeface="Noto Sans KR"/>
                          <a:cs typeface="Noto Sans KR"/>
                        </a:rPr>
                        <a:t>- 연도별 전후 4주 외지인 곡선과 근거 표</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r>
                        <a:rPr sz="1000">
                          <a:solidFill>
                            <a:srgbClr val="1A1A1A"/>
                          </a:solidFill>
                          <a:latin typeface="Noto Sans KR"/>
                          <a:ea typeface="Noto Sans KR"/>
                          <a:cs typeface="Noto Sans KR"/>
                        </a:rPr>
                        <a:t>- 닮은 과거 축제 3곳 지도 (619건 재계산)</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tc>
                  <a:txBody>
                    <a:bodyPr/>
                    <a:lstStyle/>
                    <a:p>
                      <a:pPr>
                        <a:lnSpc>
                          <a:spcPct val="115000"/>
                        </a:lnSpc>
                      </a:pPr>
                      <a:r>
                        <a:rPr sz="1000">
                          <a:solidFill>
                            <a:srgbClr val="1A1A1A"/>
                          </a:solidFill>
                          <a:latin typeface="Noto Sans KR"/>
                          <a:ea typeface="Noto Sans KR"/>
                          <a:cs typeface="Noto Sans KR"/>
                        </a:rPr>
                        <a:t>- 자기검증 - 정답은 배수 1.5 이상 위험군, 기준선은 무작위</a:t>
                      </a: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4293083417"/>
                  </a:ext>
                </a:extLst>
              </a:tr>
            </a:tbl>
          </a:graphicData>
        </a:graphic>
      </p:graphicFrame>
      <p:graphicFrame>
        <p:nvGraphicFramePr>
          <p:cNvPr id="6" name="표 5"/>
          <p:cNvGraphicFramePr>
            <a:graphicFrameLocks noGrp="1"/>
          </p:cNvGraphicFramePr>
          <p:nvPr>
            <p:extLst>
              <p:ext uri="{D42A27DB-BD31-4B8C-83A1-F6EECF244321}">
                <p14:modId xmlns:p14="http://schemas.microsoft.com/office/powerpoint/2010/main" val="2591979266"/>
              </p:ext>
            </p:extLst>
          </p:nvPr>
        </p:nvGraphicFramePr>
        <p:xfrm>
          <a:off x="302952" y="1130530"/>
          <a:ext cx="11426308" cy="1371600"/>
        </p:xfrm>
        <a:graphic>
          <a:graphicData uri="http://schemas.openxmlformats.org/drawingml/2006/table">
            <a:tbl>
              <a:tblPr firstRow="1" bandRow="1">
                <a:tableStyleId>{5C22544A-7EE6-4342-B048-85BDC9FD1C3A}</a:tableStyleId>
              </a:tblPr>
              <a:tblGrid>
                <a:gridCol w="1782764">
                  <a:extLst>
                    <a:ext uri="{9D8B030D-6E8A-4147-A177-3AD203B41FA5}">
                      <a16:colId xmlns:a16="http://schemas.microsoft.com/office/drawing/2014/main" val="837638667"/>
                    </a:ext>
                  </a:extLst>
                </a:gridCol>
                <a:gridCol w="9643544">
                  <a:extLst>
                    <a:ext uri="{9D8B030D-6E8A-4147-A177-3AD203B41FA5}">
                      <a16:colId xmlns:a16="http://schemas.microsoft.com/office/drawing/2014/main" val="2364043552"/>
                    </a:ext>
                  </a:extLst>
                </a:gridCol>
              </a:tblGrid>
              <a:tr h="182880">
                <a:tc>
                  <a:txBody>
                    <a:bodyPr/>
                    <a:lstStyle/>
                    <a:p>
                      <a:pPr algn="ctr" latinLnBrk="1">
                        <a:lnSpc>
                          <a:spcPct val="115000"/>
                        </a:lnSpc>
                      </a:pPr>
                      <a:r>
                        <a:rPr lang="ko-KR" altLang="en-US" b="1" dirty="0" smtClean="0">
                          <a:solidFill>
                            <a:srgbClr val="1A1A1A"/>
                          </a:solidFill>
                          <a:latin typeface="Noto Sans KR"/>
                          <a:ea typeface="Noto Sans KR"/>
                          <a:cs typeface="Noto Sans KR"/>
                        </a:rPr>
                        <a:t>해시태그4</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lnSpc>
                          <a:spcPct val="115000"/>
                        </a:lnSpc>
                      </a:pPr>
                      <a:r>
                        <a:rPr lang="en-US" altLang="ko-KR" b="0" dirty="0" smtClean="0" sz="1100">
                          <a:solidFill>
                            <a:srgbClr val="1A1A1A"/>
                          </a:solidFill>
                          <a:latin typeface="Noto Sans KR"/>
                          <a:ea typeface="Noto Sans KR"/>
                          <a:cs typeface="Noto Sans KR"/>
                        </a:rPr>
                        <a:t>#데이터 기반</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576143207"/>
                  </a:ext>
                </a:extLst>
              </a:tr>
              <a:tr h="182880">
                <a:tc>
                  <a:txBody>
                    <a:bodyPr/>
                    <a:lstStyle/>
                    <a:p>
                      <a:pPr marL="0" marR="0" lvl="0" indent="0" algn="ctr" defTabSz="914400" rtl="0" eaLnBrk="1" fontAlgn="auto" latinLnBrk="1" hangingPunct="1">
                        <a:lnSpc>
                          <a:spcPct val="115000"/>
                        </a:lnSpc>
                        <a:spcBef>
                          <a:spcPts val="0"/>
                        </a:spcBef>
                        <a:spcAft>
                          <a:spcPts val="0"/>
                        </a:spcAft>
                        <a:buClrTx/>
                        <a:buSzTx/>
                        <a:buFontTx/>
                        <a:buNone/>
                        <a:tabLst/>
                        <a:defRPr/>
                      </a:pPr>
                      <a:r>
                        <a:rPr lang="ko-KR" altLang="en-US" b="1" dirty="0" err="1" smtClean="0">
                          <a:solidFill>
                            <a:srgbClr val="1A1A1A"/>
                          </a:solidFill>
                          <a:latin typeface="Noto Sans KR"/>
                          <a:ea typeface="Noto Sans KR"/>
                          <a:cs typeface="Noto Sans KR"/>
                        </a:rPr>
                        <a:t>연계기능4</a:t>
                      </a:r>
                      <a:endParaRPr lang="ko-KR" altLang="en-US" b="1" dirty="0" smtClean="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latinLnBrk="1">
                        <a:lnSpc>
                          <a:spcPct val="115000"/>
                        </a:lnSpc>
                      </a:pPr>
                      <a:r>
                        <a:rPr lang="en-US" altLang="ko-KR" b="0" dirty="0" smtClean="0" sz="1100">
                          <a:solidFill>
                            <a:srgbClr val="1A1A1A"/>
                          </a:solidFill>
                          <a:latin typeface="Noto Sans KR"/>
                          <a:ea typeface="Noto Sans KR"/>
                          <a:cs typeface="Noto Sans KR"/>
                        </a:rPr>
                        <a:t>실측 근거와 자기검증</a:t>
                      </a:r>
                      <a:endParaRPr lang="ko-KR" altLang="en-US" b="0" i="1" dirty="0">
                        <a:solidFill>
                          <a:schemeClr val="tx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1261657432"/>
                  </a:ext>
                </a:extLst>
              </a:tr>
              <a:tr h="236913">
                <a:tc>
                  <a:txBody>
                    <a:bodyPr/>
                    <a:lstStyle/>
                    <a:p>
                      <a:pPr algn="ctr" latinLnBrk="1">
                        <a:lnSpc>
                          <a:spcPct val="115000"/>
                        </a:lnSpc>
                      </a:pPr>
                      <a:r>
                        <a:rPr lang="ko-KR" altLang="en-US" b="1" dirty="0" err="1" smtClean="0">
                          <a:solidFill>
                            <a:srgbClr val="1A1A1A"/>
                          </a:solidFill>
                          <a:latin typeface="Noto Sans KR"/>
                          <a:ea typeface="Noto Sans KR"/>
                          <a:cs typeface="Noto Sans KR"/>
                        </a:rPr>
                        <a:t>기능설명4</a:t>
                      </a:r>
                      <a:endParaRPr lang="ko-KR" altLang="en-US" b="1" dirty="0">
                        <a:solidFill>
                          <a:schemeClr val="bg1"/>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499DBF"/>
                    </a:solidFill>
                  </a:tcPr>
                </a:tc>
                <a:tc>
                  <a:txBody>
                    <a:bodyPr/>
                    <a:lstStyle/>
                    <a:p>
                      <a:pPr marL="0" marR="0" lvl="0" indent="0" algn="l" defTabSz="914400" rtl="0" eaLnBrk="1" fontAlgn="auto" latinLnBrk="1" hangingPunct="1">
                        <a:lnSpc>
                          <a:spcPct val="115000"/>
                        </a:lnSpc>
                        <a:spcBef>
                          <a:spcPts val="0"/>
                        </a:spcBef>
                        <a:spcAft>
                          <a:spcPts val="0"/>
                        </a:spcAft>
                        <a:buClrTx/>
                        <a:buSzTx/>
                        <a:buFontTx/>
                        <a:buNone/>
                        <a:tabLst/>
                        <a:defRPr/>
                      </a:pPr>
                      <a:r>
                        <a:rPr lang="en-US" altLang="ko-KR" b="0" dirty="0" sz="1100">
                          <a:solidFill>
                            <a:srgbClr val="1A1A1A"/>
                          </a:solidFill>
                          <a:latin typeface="Noto Sans KR"/>
                          <a:ea typeface="Noto Sans KR"/>
                          <a:cs typeface="Noto Sans KR"/>
                        </a:rPr>
                        <a:t>판정에 쓴 모든 값이 어느 API 의 어느 셀에서 왔는지 되짚어지고, 방식의 적중률과 한계를 화면이 먼저 말합니다.</a:t>
                      </a:r>
                      <a:endParaRPr lang="en-US" altLang="ko-KR" b="0" dirty="0" smtClean="0">
                        <a:solidFill>
                          <a:srgbClr val="FF0000"/>
                        </a:solidFill>
                      </a:endParaRPr>
                    </a:p>
                  </a:txBody>
                  <a:tcPr anchor="ctr">
                    <a:lnL w="12700" cap="flat" cmpd="sng" algn="ctr">
                      <a:solidFill>
                        <a:schemeClr val="bg1">
                          <a:lumMod val="85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noFill/>
                  </a:tcPr>
                </a:tc>
                <a:extLst>
                  <a:ext uri="{0D108BD9-81ED-4DB2-BD59-A6C34878D82A}">
                    <a16:rowId xmlns:a16="http://schemas.microsoft.com/office/drawing/2014/main" val="2502682219"/>
                  </a:ext>
                </a:extLst>
              </a:tr>
            </a:tbl>
          </a:graphicData>
        </a:graphic>
      </p:graphicFrame>
      <p:pic>
        <p:nvPicPr>
          <p:cNvPr id="7" name="Picture 6" descr="f4_1_datause.png"/>
          <p:cNvPicPr>
            <a:picLocks noChangeAspect="1"/>
          </p:cNvPicPr>
          <p:nvPr/>
        </p:nvPicPr>
        <p:blipFill>
          <a:blip r:embed="rId2"/>
          <a:stretch>
            <a:fillRect/>
          </a:stretch>
        </p:blipFill>
        <p:spPr>
          <a:xfrm>
            <a:off x="356045" y="3074071"/>
            <a:ext cx="2750390" cy="2182463"/>
          </a:xfrm>
          <a:prstGeom prst="rect">
            <a:avLst/>
          </a:prstGeom>
        </p:spPr>
      </p:pic>
      <p:pic>
        <p:nvPicPr>
          <p:cNvPr id="8" name="Picture 7" descr="f4_2_evidence.png"/>
          <p:cNvPicPr>
            <a:picLocks noChangeAspect="1"/>
          </p:cNvPicPr>
          <p:nvPr/>
        </p:nvPicPr>
        <p:blipFill>
          <a:blip r:embed="rId3"/>
          <a:stretch>
            <a:fillRect/>
          </a:stretch>
        </p:blipFill>
        <p:spPr>
          <a:xfrm>
            <a:off x="3212374" y="3074071"/>
            <a:ext cx="2750886" cy="2182463"/>
          </a:xfrm>
          <a:prstGeom prst="rect">
            <a:avLst/>
          </a:prstGeom>
        </p:spPr>
      </p:pic>
      <p:pic>
        <p:nvPicPr>
          <p:cNvPr id="9" name="Picture 8" descr="f4_3_twins.png"/>
          <p:cNvPicPr>
            <a:picLocks noChangeAspect="1"/>
          </p:cNvPicPr>
          <p:nvPr/>
        </p:nvPicPr>
        <p:blipFill>
          <a:blip r:embed="rId4"/>
          <a:stretch>
            <a:fillRect/>
          </a:stretch>
        </p:blipFill>
        <p:spPr>
          <a:xfrm>
            <a:off x="6070816" y="3074071"/>
            <a:ext cx="2747156" cy="2182463"/>
          </a:xfrm>
          <a:prstGeom prst="rect">
            <a:avLst/>
          </a:prstGeom>
        </p:spPr>
      </p:pic>
      <p:pic>
        <p:nvPicPr>
          <p:cNvPr id="10" name="Picture 9" descr="f4_4_history.png"/>
          <p:cNvPicPr>
            <a:picLocks noChangeAspect="1"/>
          </p:cNvPicPr>
          <p:nvPr/>
        </p:nvPicPr>
        <p:blipFill>
          <a:blip r:embed="rId5"/>
          <a:stretch>
            <a:fillRect/>
          </a:stretch>
        </p:blipFill>
        <p:spPr>
          <a:xfrm>
            <a:off x="8925914" y="3074071"/>
            <a:ext cx="2750115" cy="2182463"/>
          </a:xfrm>
          <a:prstGeom prst="rect">
            <a:avLst/>
          </a:prstGeom>
        </p:spPr>
      </p:pic>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1745</TotalTime>
  <Words>706</Words>
  <Application>Microsoft Office PowerPoint</Application>
  <PresentationFormat>와이드스크린</PresentationFormat>
  <Paragraphs>127</Paragraphs>
  <Slides>9</Slides>
  <Notes>0</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9</vt:i4>
      </vt:variant>
    </vt:vector>
  </HeadingPairs>
  <TitlesOfParts>
    <vt:vector size="12" baseType="lpstr">
      <vt:lpstr>맑은 고딕</vt:lpstr>
      <vt:lpstr>Arial</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KTO</dc:creator>
  <cp:lastModifiedBy>USER</cp:lastModifiedBy>
  <cp:revision>103</cp:revision>
  <dcterms:created xsi:type="dcterms:W3CDTF">2026-07-07T05:25:59Z</dcterms:created>
  <dcterms:modified xsi:type="dcterms:W3CDTF">2026-08-11T04:23:23Z</dcterms:modified>
</cp:coreProperties>
</file>