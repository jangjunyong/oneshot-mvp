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59" r:id="rId2"/>
    <p:sldId id="258" r:id="rId3"/>
    <p:sldId id="270" r:id="rId4"/>
    <p:sldId id="267" r:id="rId5"/>
    <p:sldId id="260" r:id="rId6"/>
    <p:sldId id="271" r:id="rId16"/>
    <p:sldId id="272" r:id="rId17"/>
    <p:sldId id="273" r:id="rId18"/>
    <p:sldId id="268" r:id="rId7"/>
    <p:sldId id="264" r:id="rId8"/>
    <p:sldId id="265" r:id="rId9"/>
    <p:sldId id="266" r:id="rId10"/>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99DBF"/>
    <a:srgbClr val="372472"/>
    <a:srgbClr val="BBBCDE"/>
    <a:srgbClr val="280A41"/>
    <a:srgbClr val="230A3A"/>
    <a:srgbClr val="401AC1"/>
    <a:srgbClr val="200D45"/>
    <a:srgbClr val="FFED97"/>
    <a:srgbClr val="0000FF"/>
    <a:srgbClr val="FF6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4" d="100"/>
          <a:sy n="114" d="100"/>
        </p:scale>
        <p:origin x="414"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B3549DB-4EF3-40B0-A785-8572249070D6}" type="datetimeFigureOut">
              <a:rPr lang="ko-KR" altLang="en-US" smtClean="0"/>
              <a:t>2026-08-11</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E4097B3-0D7D-4E86-933F-EBF9BA5F97E0}" type="slidenum">
              <a:rPr lang="ko-KR" altLang="en-US" smtClean="0"/>
              <a:t>‹#›</a:t>
            </a:fld>
            <a:endParaRPr lang="ko-KR" altLang="en-US"/>
          </a:p>
        </p:txBody>
      </p:sp>
    </p:spTree>
    <p:extLst>
      <p:ext uri="{BB962C8B-B14F-4D97-AF65-F5344CB8AC3E}">
        <p14:creationId xmlns:p14="http://schemas.microsoft.com/office/powerpoint/2010/main" val="193217217"/>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표지">
    <p:spTree>
      <p:nvGrpSpPr>
        <p:cNvPr id="1" name=""/>
        <p:cNvGrpSpPr/>
        <p:nvPr/>
      </p:nvGrpSpPr>
      <p:grpSpPr>
        <a:xfrm>
          <a:off x="0" y="0"/>
          <a:ext cx="0" cy="0"/>
          <a:chOff x="0" y="0"/>
          <a:chExt cx="0" cy="0"/>
        </a:xfrm>
      </p:grpSpPr>
      <p:pic>
        <p:nvPicPr>
          <p:cNvPr id="3" name="그림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657105540"/>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서비스 소개">
    <p:spTree>
      <p:nvGrpSpPr>
        <p:cNvPr id="1" name=""/>
        <p:cNvGrpSpPr/>
        <p:nvPr/>
      </p:nvGrpSpPr>
      <p:grpSpPr>
        <a:xfrm>
          <a:off x="0" y="0"/>
          <a:ext cx="0" cy="0"/>
          <a:chOff x="0" y="0"/>
          <a:chExt cx="0" cy="0"/>
        </a:xfrm>
      </p:grpSpPr>
      <p:pic>
        <p:nvPicPr>
          <p:cNvPr id="2" name="그림 1"/>
          <p:cNvPicPr>
            <a:picLocks noChangeAspect="1"/>
          </p:cNvPicPr>
          <p:nvPr userDrawn="1"/>
        </p:nvPicPr>
        <p:blipFill>
          <a:blip r:embed="rId2"/>
          <a:stretch>
            <a:fillRect/>
          </a:stretch>
        </p:blipFill>
        <p:spPr>
          <a:xfrm>
            <a:off x="0" y="0"/>
            <a:ext cx="12146070" cy="6801799"/>
          </a:xfrm>
          <a:prstGeom prst="rect">
            <a:avLst/>
          </a:prstGeom>
        </p:spPr>
      </p:pic>
    </p:spTree>
    <p:extLst>
      <p:ext uri="{BB962C8B-B14F-4D97-AF65-F5344CB8AC3E}">
        <p14:creationId xmlns:p14="http://schemas.microsoft.com/office/powerpoint/2010/main" val="3536223215"/>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해시태그 연계 핵심 기능별 흐름도">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stretch>
            <a:fillRect/>
          </a:stretch>
        </p:blipFill>
        <p:spPr>
          <a:xfrm>
            <a:off x="0" y="0"/>
            <a:ext cx="12146070" cy="6820852"/>
          </a:xfrm>
          <a:prstGeom prst="rect">
            <a:avLst/>
          </a:prstGeom>
        </p:spPr>
      </p:pic>
    </p:spTree>
    <p:extLst>
      <p:ext uri="{BB962C8B-B14F-4D97-AF65-F5344CB8AC3E}">
        <p14:creationId xmlns:p14="http://schemas.microsoft.com/office/powerpoint/2010/main" val="1439664904"/>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서비스 관련 이미지">
    <p:spTree>
      <p:nvGrpSpPr>
        <p:cNvPr id="1" name=""/>
        <p:cNvGrpSpPr/>
        <p:nvPr/>
      </p:nvGrpSpPr>
      <p:grpSpPr>
        <a:xfrm>
          <a:off x="0" y="0"/>
          <a:ext cx="0" cy="0"/>
          <a:chOff x="0" y="0"/>
          <a:chExt cx="0" cy="0"/>
        </a:xfrm>
      </p:grpSpPr>
      <p:pic>
        <p:nvPicPr>
          <p:cNvPr id="10" name="그림 9"/>
          <p:cNvPicPr>
            <a:picLocks noChangeAspect="1"/>
          </p:cNvPicPr>
          <p:nvPr userDrawn="1"/>
        </p:nvPicPr>
        <p:blipFill>
          <a:blip r:embed="rId2"/>
          <a:stretch>
            <a:fillRect/>
          </a:stretch>
        </p:blipFill>
        <p:spPr>
          <a:xfrm>
            <a:off x="0" y="0"/>
            <a:ext cx="12146070" cy="6849431"/>
          </a:xfrm>
          <a:prstGeom prst="rect">
            <a:avLst/>
          </a:prstGeom>
        </p:spPr>
      </p:pic>
    </p:spTree>
    <p:extLst>
      <p:ext uri="{BB962C8B-B14F-4D97-AF65-F5344CB8AC3E}">
        <p14:creationId xmlns:p14="http://schemas.microsoft.com/office/powerpoint/2010/main" val="93538241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데이터 활용(한국관광공사 OpenAPI)">
    <p:spTree>
      <p:nvGrpSpPr>
        <p:cNvPr id="1" name=""/>
        <p:cNvGrpSpPr/>
        <p:nvPr/>
      </p:nvGrpSpPr>
      <p:grpSpPr>
        <a:xfrm>
          <a:off x="0" y="0"/>
          <a:ext cx="0" cy="0"/>
          <a:chOff x="0" y="0"/>
          <a:chExt cx="0" cy="0"/>
        </a:xfrm>
      </p:grpSpPr>
      <p:pic>
        <p:nvPicPr>
          <p:cNvPr id="4" name="그림 3"/>
          <p:cNvPicPr>
            <a:picLocks noChangeAspect="1"/>
          </p:cNvPicPr>
          <p:nvPr userDrawn="1"/>
        </p:nvPicPr>
        <p:blipFill>
          <a:blip r:embed="rId2"/>
          <a:stretch>
            <a:fillRect/>
          </a:stretch>
        </p:blipFill>
        <p:spPr>
          <a:xfrm>
            <a:off x="0" y="0"/>
            <a:ext cx="12107965" cy="6830378"/>
          </a:xfrm>
          <a:prstGeom prst="rect">
            <a:avLst/>
          </a:prstGeom>
        </p:spPr>
      </p:pic>
    </p:spTree>
    <p:extLst>
      <p:ext uri="{BB962C8B-B14F-4D97-AF65-F5344CB8AC3E}">
        <p14:creationId xmlns:p14="http://schemas.microsoft.com/office/powerpoint/2010/main" val="2561228989"/>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데이터 활용(기타)">
    <p:spTree>
      <p:nvGrpSpPr>
        <p:cNvPr id="1" name=""/>
        <p:cNvGrpSpPr/>
        <p:nvPr/>
      </p:nvGrpSpPr>
      <p:grpSpPr>
        <a:xfrm>
          <a:off x="0" y="0"/>
          <a:ext cx="0" cy="0"/>
          <a:chOff x="0" y="0"/>
          <a:chExt cx="0" cy="0"/>
        </a:xfrm>
      </p:grpSpPr>
      <p:pic>
        <p:nvPicPr>
          <p:cNvPr id="4" name="그림 3"/>
          <p:cNvPicPr>
            <a:picLocks noChangeAspect="1"/>
          </p:cNvPicPr>
          <p:nvPr userDrawn="1"/>
        </p:nvPicPr>
        <p:blipFill>
          <a:blip r:embed="rId2"/>
          <a:stretch>
            <a:fillRect/>
          </a:stretch>
        </p:blipFill>
        <p:spPr>
          <a:xfrm>
            <a:off x="0" y="0"/>
            <a:ext cx="12127017" cy="6820852"/>
          </a:xfrm>
          <a:prstGeom prst="rect">
            <a:avLst/>
          </a:prstGeom>
        </p:spPr>
      </p:pic>
    </p:spTree>
    <p:extLst>
      <p:ext uri="{BB962C8B-B14F-4D97-AF65-F5344CB8AC3E}">
        <p14:creationId xmlns:p14="http://schemas.microsoft.com/office/powerpoint/2010/main" val="3509833825"/>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서비스 차별성&amp;발전계획">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stretch>
            <a:fillRect/>
          </a:stretch>
        </p:blipFill>
        <p:spPr>
          <a:xfrm>
            <a:off x="0" y="0"/>
            <a:ext cx="12136544" cy="6839905"/>
          </a:xfrm>
          <a:prstGeom prst="rect">
            <a:avLst/>
          </a:prstGeom>
        </p:spPr>
      </p:pic>
    </p:spTree>
    <p:extLst>
      <p:ext uri="{BB962C8B-B14F-4D97-AF65-F5344CB8AC3E}">
        <p14:creationId xmlns:p14="http://schemas.microsoft.com/office/powerpoint/2010/main" val="1459249390"/>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1_빈 화면">
    <p:spTree>
      <p:nvGrpSpPr>
        <p:cNvPr id="1" name=""/>
        <p:cNvGrpSpPr/>
        <p:nvPr/>
      </p:nvGrpSpPr>
      <p:grpSpPr>
        <a:xfrm>
          <a:off x="0" y="0"/>
          <a:ext cx="0" cy="0"/>
          <a:chOff x="0" y="0"/>
          <a:chExt cx="0" cy="0"/>
        </a:xfrm>
      </p:grpSpPr>
      <p:sp>
        <p:nvSpPr>
          <p:cNvPr id="2" name="날짜 개체 틀 1"/>
          <p:cNvSpPr>
            <a:spLocks noGrp="1"/>
          </p:cNvSpPr>
          <p:nvPr>
            <p:ph type="dt" sz="half" idx="10"/>
          </p:nvPr>
        </p:nvSpPr>
        <p:spPr/>
        <p:txBody>
          <a:bodyPr/>
          <a:lstStyle/>
          <a:p>
            <a:fld id="{4A38FB6A-844E-4645-B6B8-D2945F9927BB}" type="datetimeFigureOut">
              <a:rPr lang="ko-KR" altLang="en-US" smtClean="0"/>
              <a:t>2026-08-11</a:t>
            </a:fld>
            <a:endParaRPr lang="ko-KR" altLang="en-US"/>
          </a:p>
        </p:txBody>
      </p:sp>
      <p:sp>
        <p:nvSpPr>
          <p:cNvPr id="3" name="바닥글 개체 틀 2"/>
          <p:cNvSpPr>
            <a:spLocks noGrp="1"/>
          </p:cNvSpPr>
          <p:nvPr>
            <p:ph type="ftr" sz="quarter" idx="11"/>
          </p:nvPr>
        </p:nvSpPr>
        <p:spPr/>
        <p:txBody>
          <a:bodyPr/>
          <a:lstStyle/>
          <a:p>
            <a:endParaRPr lang="ko-KR" altLang="en-US"/>
          </a:p>
        </p:txBody>
      </p:sp>
      <p:sp>
        <p:nvSpPr>
          <p:cNvPr id="4" name="슬라이드 번호 개체 틀 3"/>
          <p:cNvSpPr>
            <a:spLocks noGrp="1"/>
          </p:cNvSpPr>
          <p:nvPr>
            <p:ph type="sldNum" sz="quarter" idx="12"/>
          </p:nvPr>
        </p:nvSpPr>
        <p:spPr/>
        <p:txBody>
          <a:bodyPr/>
          <a:lstStyle/>
          <a:p>
            <a:fld id="{38832701-68F9-4777-ABB9-C14E97591467}" type="slidenum">
              <a:rPr lang="ko-KR" altLang="en-US" smtClean="0"/>
              <a:t>‹#›</a:t>
            </a:fld>
            <a:endParaRPr lang="ko-KR" altLang="en-US"/>
          </a:p>
        </p:txBody>
      </p:sp>
      <p:pic>
        <p:nvPicPr>
          <p:cNvPr id="5" name="그림 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90491511"/>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A38FB6A-844E-4645-B6B8-D2945F9927BB}" type="datetimeFigureOut">
              <a:rPr lang="ko-KR" altLang="en-US" smtClean="0"/>
              <a:t>2026-08-11</a:t>
            </a:fld>
            <a:endParaRPr lang="ko-KR" altLang="en-US"/>
          </a:p>
        </p:txBody>
      </p:sp>
      <p:sp>
        <p:nvSpPr>
          <p:cNvPr id="5" name="바닥글 개체 틀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8832701-68F9-4777-ABB9-C14E97591467}" type="slidenum">
              <a:rPr lang="ko-KR" altLang="en-US" smtClean="0"/>
              <a:t>‹#›</a:t>
            </a:fld>
            <a:endParaRPr lang="ko-KR" altLang="en-US"/>
          </a:p>
        </p:txBody>
      </p:sp>
    </p:spTree>
    <p:extLst>
      <p:ext uri="{BB962C8B-B14F-4D97-AF65-F5344CB8AC3E}">
        <p14:creationId xmlns:p14="http://schemas.microsoft.com/office/powerpoint/2010/main" val="2217332544"/>
      </p:ext>
    </p:extLst>
  </p:cSld>
  <p:clrMap bg1="lt1" tx1="dk1" bg2="lt2" tx2="dk2" accent1="accent1" accent2="accent2" accent3="accent3" accent4="accent4" accent5="accent5" accent6="accent6" hlink="hlink" folHlink="folHlink"/>
  <p:sldLayoutIdLst>
    <p:sldLayoutId id="2147483649" r:id="rId1"/>
    <p:sldLayoutId id="2147483655" r:id="rId2"/>
    <p:sldLayoutId id="2147483661" r:id="rId3"/>
    <p:sldLayoutId id="2147483666" r:id="rId4"/>
    <p:sldLayoutId id="2147483662" r:id="rId5"/>
    <p:sldLayoutId id="2147483663" r:id="rId6"/>
    <p:sldLayoutId id="2147483664" r:id="rId7"/>
    <p:sldLayoutId id="2147483668" r:id="rId8"/>
  </p:sldLayoutIdLst>
  <p:timing>
    <p:tnLst>
      <p:par>
        <p:cTn id="1" dur="indefinite" restart="never" nodeType="tmRoot"/>
      </p:par>
    </p:tnLst>
  </p:timing>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oneshot-mvp.vercel.app/judge-guide.pdf" TargetMode="External"/><Relationship Id="rId3" Type="http://schemas.openxmlformats.org/officeDocument/2006/relationships/hyperlink" Target="https://oneshot-mvp.vercel.app/sample-plan.pdf"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3.png"/><Relationship Id="rId3" Type="http://schemas.openxmlformats.org/officeDocument/2006/relationships/image" Target="../media/image2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oneshot-mvp.vercel.app/check?name=%EA%B5%B0%ED%8F%AC%EC%B2%A0%EC%AD%89%EC%B6%95%EC%A0%9C&amp;sido=%EA%B2%BD%EA%B8%B0&amp;sigungu=%EA%B5%B0%ED%8F%AC%EC%8B%9C&amp;n=600000&amp;basis=period&amp;counting=personDays&amp;budget=100000&amp;start=2027-04-17&amp;end=2027-04-25&amp;h1s=2024-04-20&amp;h1e=2024-04-28&amp;h2s=2025-04-19&amp;h2e=2025-04-27&amp;h3s=2026-04-18&amp;h3e=2026-04-26&amp;theme=2&amp;acc=4" TargetMode="External"/><Relationship Id="rId3" Type="http://schemas.openxmlformats.org/officeDocument/2006/relationships/hyperlink" Target="https://oneshot-mvp.vercel.app/check?name=%ED%99%94%EC%B2%9C%EC%82%B0%EC%B2%9C%EC%96%B4%EC%B6%95%EC%A0%9C&amp;sido=%EA%B0%95%EC%9B%90&amp;sigungu=%ED%99%94%EC%B2%9C%EA%B5%B0&amp;n=1860000&amp;basis=period&amp;counting=personDays&amp;pop=2.3&amp;start=2027-01-09&amp;end=2027-01-31&amp;h1s=2024-01-06&amp;h1e=2024-01-28&amp;h2s=2025-01-11&amp;h2e=2025-02-02&amp;h3s=2026-01-10&amp;h3e=2026-02-01"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image" Target="../media/image15.png"/><Relationship Id="rId4" Type="http://schemas.openxmlformats.org/officeDocument/2006/relationships/image" Target="../media/image18.png"/><Relationship Id="rId5"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401AC1"/>
            </a:gs>
            <a:gs pos="100000">
              <a:srgbClr val="280A41"/>
            </a:gs>
            <a:gs pos="75000">
              <a:srgbClr val="230A3A"/>
            </a:gs>
          </a:gsLst>
          <a:lin ang="2700000" scaled="1"/>
          <a:tileRect/>
        </a:gradFill>
        <a:effectLst/>
      </p:bgPr>
    </p:bg>
    <p:spTree>
      <p:nvGrpSpPr>
        <p:cNvPr id="1" name=""/>
        <p:cNvGrpSpPr/>
        <p:nvPr/>
      </p:nvGrpSpPr>
      <p:grpSpPr>
        <a:xfrm>
          <a:off x="0" y="0"/>
          <a:ext cx="0" cy="0"/>
          <a:chOff x="0" y="0"/>
          <a:chExt cx="0" cy="0"/>
        </a:xfrm>
      </p:grpSpPr>
      <p:graphicFrame>
        <p:nvGraphicFramePr>
          <p:cNvPr id="6" name="표 5"/>
          <p:cNvGraphicFramePr>
            <a:graphicFrameLocks noGrp="1"/>
          </p:cNvGraphicFramePr>
          <p:nvPr>
            <p:extLst>
              <p:ext uri="{D42A27DB-BD31-4B8C-83A1-F6EECF244321}">
                <p14:modId xmlns:p14="http://schemas.microsoft.com/office/powerpoint/2010/main" val="1189898654"/>
              </p:ext>
            </p:extLst>
          </p:nvPr>
        </p:nvGraphicFramePr>
        <p:xfrm>
          <a:off x="527397" y="4563687"/>
          <a:ext cx="6712988" cy="1112210"/>
        </p:xfrm>
        <a:graphic>
          <a:graphicData uri="http://schemas.openxmlformats.org/drawingml/2006/table">
            <a:tbl>
              <a:tblPr firstRow="1" bandRow="1">
                <a:tableStyleId>{5C22544A-7EE6-4342-B048-85BDC9FD1C3A}</a:tableStyleId>
              </a:tblPr>
              <a:tblGrid>
                <a:gridCol w="1891569">
                  <a:extLst>
                    <a:ext uri="{9D8B030D-6E8A-4147-A177-3AD203B41FA5}">
                      <a16:colId xmlns:a16="http://schemas.microsoft.com/office/drawing/2014/main" val="2581860913"/>
                    </a:ext>
                  </a:extLst>
                </a:gridCol>
                <a:gridCol w="4821419">
                  <a:extLst>
                    <a:ext uri="{9D8B030D-6E8A-4147-A177-3AD203B41FA5}">
                      <a16:colId xmlns:a16="http://schemas.microsoft.com/office/drawing/2014/main" val="1059508984"/>
                    </a:ext>
                  </a:extLst>
                </a:gridCol>
              </a:tblGrid>
              <a:tr h="547792">
                <a:tc>
                  <a:txBody>
                    <a:bodyPr/>
                    <a:lstStyle/>
                    <a:p>
                      <a:pPr algn="ctr" latinLnBrk="1"/>
                      <a:r>
                        <a:rPr lang="ko-KR" altLang="en-US" sz="2400" b="1">
                          <a:solidFill>
                            <a:schemeClr val="bg1"/>
                          </a:solidFill>
                        </a:rPr>
                        <a:t>팀 명</a:t>
                      </a:r>
                    </a:p>
                  </a:txBody>
                  <a:tcPr anchor="ctr">
                    <a:lnR w="12700" cap="flat" cmpd="sng" algn="ctr">
                      <a:solidFill>
                        <a:schemeClr val="bg1">
                          <a:lumMod val="85000"/>
                        </a:schemeClr>
                      </a:solidFill>
                      <a:prstDash val="solid"/>
                      <a:round/>
                      <a:headEnd type="none" w="med" len="med"/>
                      <a:tailEnd type="none" w="med" len="med"/>
                    </a:lnR>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r>
                        <a:rPr>
                          <a:solidFill>
                            <a:srgbClr val="1A1A1A"/>
                          </a:solidFill>
                        </a:rPr>
                        <a:t>장준용 (숭실대학교 AI소프트웨어학부)</a:t>
                      </a:r>
                    </a:p>
                  </a:txBody>
                  <a:tcPr anchor="ctr">
                    <a:lnL w="12700" cap="flat" cmpd="sng" algn="ctr">
                      <a:solidFill>
                        <a:schemeClr val="bg1">
                          <a:lumMod val="85000"/>
                        </a:schemeClr>
                      </a:solidFill>
                      <a:prstDash val="solid"/>
                      <a:round/>
                      <a:headEnd type="none" w="med" len="med"/>
                      <a:tailEnd type="none" w="med" len="med"/>
                    </a:lnL>
                    <a:lnB w="12700" cap="flat" cmpd="sng" algn="ctr">
                      <a:solidFill>
                        <a:schemeClr val="bg1">
                          <a:lumMod val="85000"/>
                        </a:schemeClr>
                      </a:solidFill>
                      <a:prstDash val="solid"/>
                      <a:round/>
                      <a:headEnd type="none" w="med" len="med"/>
                      <a:tailEnd type="none" w="med" len="med"/>
                    </a:lnB>
                    <a:solidFill>
                      <a:srgbClr val="BBBCDE"/>
                    </a:solidFill>
                  </a:tcPr>
                </a:tc>
                <a:extLst>
                  <a:ext uri="{0D108BD9-81ED-4DB2-BD59-A6C34878D82A}">
                    <a16:rowId xmlns:a16="http://schemas.microsoft.com/office/drawing/2014/main" val="3342559057"/>
                  </a:ext>
                </a:extLst>
              </a:tr>
              <a:tr h="564418">
                <a:tc>
                  <a:txBody>
                    <a:bodyPr/>
                    <a:lstStyle/>
                    <a:p>
                      <a:pPr algn="ctr" latinLnBrk="1"/>
                      <a:r>
                        <a:rPr lang="ko-KR" altLang="en-US" sz="2400" b="1">
                          <a:solidFill>
                            <a:schemeClr val="bg1"/>
                          </a:solidFill>
                        </a:rPr>
                        <a:t>서비스</a:t>
                      </a:r>
                      <a:r>
                        <a:rPr lang="ko-KR" altLang="en-US" sz="2400" b="1" baseline="0">
                          <a:solidFill>
                            <a:schemeClr val="bg1"/>
                          </a:solidFill>
                        </a:rPr>
                        <a:t> </a:t>
                      </a:r>
                      <a:r>
                        <a:rPr lang="ko-KR" altLang="en-US" sz="2400" b="1">
                          <a:solidFill>
                            <a:schemeClr val="bg1"/>
                          </a:solidFill>
                        </a:rPr>
                        <a:t>명</a:t>
                      </a:r>
                    </a:p>
                  </a:txBody>
                  <a:tcPr anchor="ctr">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solidFill>
                      <a:srgbClr val="372472"/>
                    </a:solidFill>
                  </a:tcPr>
                </a:tc>
                <a:tc>
                  <a:txBody>
                    <a:bodyPr/>
                    <a:lstStyle/>
                    <a:p>
                      <a:r>
                        <a:rPr>
                          <a:solidFill>
                            <a:srgbClr val="1A1A1A"/>
                          </a:solidFill>
                        </a:rPr>
                        <a:t>기획안 팩트체크 — 지자체 축제 예산 심의용 실측 검증</a:t>
                      </a:r>
                    </a:p>
                  </a:txBody>
                  <a:tcPr anchor="ctr">
                    <a:lnL w="12700" cap="flat" cmpd="sng" algn="ctr">
                      <a:solidFill>
                        <a:schemeClr val="bg1">
                          <a:lumMod val="85000"/>
                        </a:schemeClr>
                      </a:solidFill>
                      <a:prstDash val="solid"/>
                      <a:round/>
                      <a:headEnd type="none" w="med" len="med"/>
                      <a:tailEnd type="none" w="med" len="med"/>
                    </a:lnL>
                    <a:lnT w="12700" cap="flat" cmpd="sng" algn="ctr">
                      <a:solidFill>
                        <a:schemeClr val="bg1">
                          <a:lumMod val="85000"/>
                        </a:schemeClr>
                      </a:solidFill>
                      <a:prstDash val="solid"/>
                      <a:round/>
                      <a:headEnd type="none" w="med" len="med"/>
                      <a:tailEnd type="none" w="med" len="med"/>
                    </a:lnT>
                    <a:solidFill>
                      <a:srgbClr val="BBBCDE"/>
                    </a:solidFill>
                  </a:tcPr>
                </a:tc>
                <a:extLst>
                  <a:ext uri="{0D108BD9-81ED-4DB2-BD59-A6C34878D82A}">
                    <a16:rowId xmlns:a16="http://schemas.microsoft.com/office/drawing/2014/main" val="2441169869"/>
                  </a:ext>
                </a:extLst>
              </a:tr>
            </a:tbl>
          </a:graphicData>
        </a:graphic>
      </p:graphicFrame>
    </p:spTree>
    <p:extLst>
      <p:ext uri="{BB962C8B-B14F-4D97-AF65-F5344CB8AC3E}">
        <p14:creationId xmlns:p14="http://schemas.microsoft.com/office/powerpoint/2010/main" val="1353449824"/>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표 2"/>
          <p:cNvGraphicFramePr>
            <a:graphicFrameLocks noGrp="1"/>
          </p:cNvGraphicFramePr>
          <p:nvPr>
            <p:extLst>
              <p:ext uri="{D42A27DB-BD31-4B8C-83A1-F6EECF244321}">
                <p14:modId xmlns:p14="http://schemas.microsoft.com/office/powerpoint/2010/main" val="4119378647"/>
              </p:ext>
            </p:extLst>
          </p:nvPr>
        </p:nvGraphicFramePr>
        <p:xfrm>
          <a:off x="271088" y="1065402"/>
          <a:ext cx="11649825" cy="5650000"/>
        </p:xfrm>
        <a:graphic>
          <a:graphicData uri="http://schemas.openxmlformats.org/drawingml/2006/table">
            <a:tbl>
              <a:tblPr firstRow="1" bandRow="1">
                <a:tableStyleId>{5C22544A-7EE6-4342-B048-85BDC9FD1C3A}</a:tableStyleId>
              </a:tblPr>
              <a:tblGrid>
                <a:gridCol w="1955222">
                  <a:extLst>
                    <a:ext uri="{9D8B030D-6E8A-4147-A177-3AD203B41FA5}">
                      <a16:colId xmlns:a16="http://schemas.microsoft.com/office/drawing/2014/main" val="1299753452"/>
                    </a:ext>
                  </a:extLst>
                </a:gridCol>
                <a:gridCol w="9694603">
                  <a:extLst>
                    <a:ext uri="{9D8B030D-6E8A-4147-A177-3AD203B41FA5}">
                      <a16:colId xmlns:a16="http://schemas.microsoft.com/office/drawing/2014/main" val="3999346814"/>
                    </a:ext>
                  </a:extLst>
                </a:gridCol>
              </a:tblGrid>
              <a:tr h="480000">
                <a:tc>
                  <a:txBody>
                    <a:bodyPr/>
                    <a:lstStyle/>
                    <a:p>
                      <a:pPr algn="ctr" latinLnBrk="1"/>
                      <a:r>
                        <a:rPr lang="ko-KR" altLang="en-US" b="1">
                          <a:solidFill>
                            <a:schemeClr val="bg1"/>
                          </a:solidFill>
                        </a:rPr>
                        <a:t>서비스명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lvl="0" indent="0" algn="just" rtl="0">
                        <a:spcBef>
                          <a:spcPts val="0"/>
                        </a:spcBef>
                        <a:spcAft>
                          <a:spcPts val="0"/>
                        </a:spcAft>
                        <a:buNone/>
                      </a:pPr>
                      <a:r>
                        <a:rPr lang="en-US" altLang="ko-KR" sz="1200" b="0" smtClean="0">
                          <a:solidFill>
                            <a:srgbClr val="1A1A1A"/>
                          </a:solidFill>
                          <a:latin typeface="+mn-lt"/>
                        </a:rPr>
                        <a:t>기획안 팩트체크 — 지자체 축제 예산 심의용 실측 검증</a:t>
                      </a:r>
                      <a:endParaRPr lang="en-US" altLang="ko-KR" sz="1800" b="0" baseline="0" smtClean="0">
                        <a:solidFill>
                          <a:schemeClr val="tx1"/>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903409156"/>
                  </a:ext>
                </a:extLst>
              </a:tr>
              <a:tr h="420000">
                <a:tc>
                  <a:txBody>
                    <a:bodyPr/>
                    <a:lstStyle/>
                    <a:p>
                      <a:pPr algn="ctr" latinLnBrk="1"/>
                      <a:r>
                        <a:rPr lang="ko-KR" altLang="en-US" b="1">
                          <a:solidFill>
                            <a:schemeClr val="bg1"/>
                          </a:solidFill>
                        </a:rPr>
                        <a:t>서비스 유형</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lvl="0" indent="0" algn="just" rtl="0">
                        <a:spcBef>
                          <a:spcPts val="0"/>
                        </a:spcBef>
                        <a:spcAft>
                          <a:spcPts val="0"/>
                        </a:spcAft>
                        <a:buNone/>
                      </a:pPr>
                      <a:r>
                        <a:rPr lang="en-US" altLang="ko-KR" sz="1200" b="0">
                          <a:solidFill>
                            <a:srgbClr val="1A1A1A"/>
                          </a:solidFill>
                          <a:latin typeface="+mn-lt"/>
                        </a:rPr>
                        <a:t>웹 서비스 (데스크톱 크롬 권장 · 로그인 없음 · 설치 없음)</a:t>
                      </a:r>
                      <a:endParaRPr lang="en-US" altLang="ko-KR" sz="1800" b="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126837495"/>
                  </a:ext>
                </a:extLst>
              </a:tr>
              <a:tr h="820000">
                <a:tc>
                  <a:txBody>
                    <a:bodyPr/>
                    <a:lstStyle/>
                    <a:p>
                      <a:pPr algn="ctr" latinLnBrk="1"/>
                      <a:r>
                        <a:rPr lang="ko-KR" altLang="en-US" b="1">
                          <a:solidFill>
                            <a:schemeClr val="bg1"/>
                          </a:solidFill>
                        </a:rPr>
                        <a:t>서비스 </a:t>
                      </a:r>
                      <a:r>
                        <a:rPr lang="ko-KR" altLang="en-US" b="1" smtClean="0">
                          <a:solidFill>
                            <a:schemeClr val="bg1"/>
                          </a:solidFill>
                        </a:rPr>
                        <a:t>타깃</a:t>
                      </a:r>
                      <a:endParaRPr lang="en-US" altLang="ko-KR"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a:solidFill>
                            <a:srgbClr val="1A1A1A"/>
                          </a:solidFill>
                          <a:latin typeface="+mn-lt"/>
                        </a:rPr>
                        <a:t>시·군 문화관광과 축제 담당 공무원과 축제 위탁사 실무자. 예산을 집행하기 전에 기획안의 예상 방문객·예산이 근거가 있는지를 심의에 증빙해야 하는데, 기댈 것이 작년 발표치와 경험뿐인 사람.</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064568051"/>
                  </a:ext>
                </a:extLst>
              </a:tr>
              <a:tr h="1300000">
                <a:tc>
                  <a:txBody>
                    <a:bodyPr/>
                    <a:lstStyle/>
                    <a:p>
                      <a:pPr algn="ctr" latinLnBrk="1"/>
                      <a:r>
                        <a:rPr lang="ko-KR" altLang="en-US" b="1">
                          <a:solidFill>
                            <a:schemeClr val="bg1"/>
                          </a:solidFill>
                        </a:rPr>
                        <a:t>서비스 개요</a:t>
                      </a:r>
                      <a:endParaRPr lang="en-US" altLang="ko-KR"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a:solidFill>
                            <a:srgbClr val="1A1A1A"/>
                          </a:solidFill>
                          <a:latin typeface="+mn-lt"/>
                        </a:rPr>
                        <a:t>축제 기획서(PDF)를 올리면 예상 방문객·개최 기간·예산을 옮겨 적고, 그 축제가 지난 회차에 실제로 겪은 한국관광공사 KT 시군구 일별 실측(외지인 배수·순증)과 같은 기준으로 재서 통과/주의/과대/과소/상한 초과/근거 없음을 판정합니다. 내년 배수 구간, 1인당 예산 대조, 같은 시기 경쟁 축제 귀속 경고, 결재 첨부용 검증 보고서 A4 2장을 내고, 행사장 도면 위 보행 시뮬레이션으로 쏠림이 어디서 막히는지를 미리 봅니다. 판정·시뮬에 생성형 모델을 쓰지 않습니다.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a:solidFill>
                            <a:srgbClr val="1A1A1A"/>
                          </a:solidFill>
                          <a:latin typeface="+mn-lt"/>
                        </a:rPr>
                        <a:t>심사용 경로: 시연 안내 </a:t>
                      </a:r>
                      <a:r>
                        <a:rPr lang="en-US" altLang="ko-KR" sz="1200">
                          <a:solidFill>
                            <a:srgbClr val="1A1A1A"/>
                          </a:solidFill>
                          <a:latin typeface="+mn-lt"/>
                          <a:hlinkClick r:id="rId2"/>
                        </a:rPr>
                        <a:t>https://oneshot-mvp.vercel.app/judge-guide.pdf</a:t>
                      </a:r>
                      <a:r>
                        <a:rPr lang="en-US" altLang="ko-KR" sz="1200">
                          <a:solidFill>
                            <a:srgbClr val="1A1A1A"/>
                          </a:solidFill>
                          <a:latin typeface="+mn-lt"/>
                        </a:rPr>
                        <a:t> · 예비 데모 기획서 </a:t>
                      </a:r>
                      <a:r>
                        <a:rPr lang="en-US" altLang="ko-KR" sz="1200">
                          <a:solidFill>
                            <a:srgbClr val="1A1A1A"/>
                          </a:solidFill>
                          <a:latin typeface="+mn-lt"/>
                          <a:hlinkClick r:id="rId3"/>
                        </a:rPr>
                        <a:t>https://oneshot-mvp.vercel.app/sample-plan.pdf</a:t>
                      </a:r>
                      <a:r>
                        <a:rPr lang="en-US" altLang="ko-KR" sz="1200">
                          <a:solidFill>
                            <a:srgbClr val="1A1A1A"/>
                          </a:solidFill>
                          <a:latin typeface="+mn-lt"/>
                        </a:rPr>
                        <a:t> (첫 화면에 올리면 판정이 열립니다)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869164922"/>
                  </a:ext>
                </a:extLst>
              </a:tr>
              <a:tr h="560000">
                <a:tc>
                  <a:txBody>
                    <a:bodyPr/>
                    <a:lstStyle/>
                    <a:p>
                      <a:pPr algn="ctr" latinLnBrk="1"/>
                      <a:r>
                        <a:rPr lang="ko-KR" altLang="en-US" b="1" smtClean="0">
                          <a:solidFill>
                            <a:schemeClr val="bg1"/>
                          </a:solidFill>
                        </a:rPr>
                        <a:t>선택 </a:t>
                      </a:r>
                      <a:r>
                        <a:rPr lang="ko-KR" altLang="en-US" b="1" err="1" smtClean="0">
                          <a:solidFill>
                            <a:schemeClr val="bg1"/>
                          </a:solidFill>
                        </a:rPr>
                        <a:t>지정과제</a:t>
                      </a:r>
                      <a:endParaRPr lang="ko-KR" altLang="en-US"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lvl="0" indent="0" algn="just" rtl="0">
                        <a:spcBef>
                          <a:spcPts val="0"/>
                        </a:spcBef>
                        <a:spcAft>
                          <a:spcPts val="0"/>
                        </a:spcAft>
                        <a:buNone/>
                      </a:pPr>
                      <a:r>
                        <a:rPr lang="en-US" altLang="ko-KR" sz="1200" b="0" baseline="0" smtClean="0">
                          <a:solidFill>
                            <a:srgbClr val="1A1A1A"/>
                          </a:solidFill>
                          <a:latin typeface="+mn-lt"/>
                        </a:rPr>
                        <a:t>과제번호 9번 — 축제 흥행 예보 서비스 (#축제/행사 기획 #사전 수요 예측 #보완 피드백 제공 #데이터 기반)</a:t>
                      </a:r>
                      <a:endParaRPr lang="en-US" altLang="ko-KR" sz="1800" b="0" baseline="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17412154"/>
                  </a:ext>
                </a:extLst>
              </a:tr>
              <a:tr h="207000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1800" b="1" err="1" smtClean="0">
                          <a:solidFill>
                            <a:schemeClr val="bg1"/>
                          </a:solidFill>
                        </a:rPr>
                        <a:t>지정과제</a:t>
                      </a:r>
                      <a:endParaRPr lang="en-US" altLang="ko-KR" sz="1800" b="1" baseline="0" smtClean="0">
                        <a:solidFill>
                          <a:schemeClr val="bg1"/>
                        </a:solidFill>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1800" b="1" baseline="0" smtClean="0">
                          <a:solidFill>
                            <a:schemeClr val="bg1"/>
                          </a:solidFill>
                        </a:rPr>
                        <a:t>선택</a:t>
                      </a:r>
                      <a:r>
                        <a:rPr lang="en-US" altLang="ko-KR" sz="1800" b="1" baseline="0" smtClean="0">
                          <a:solidFill>
                            <a:schemeClr val="bg1"/>
                          </a:solidFill>
                        </a:rPr>
                        <a:t> </a:t>
                      </a:r>
                      <a:r>
                        <a:rPr lang="ko-KR" altLang="en-US" sz="1800" b="1" baseline="0" smtClean="0">
                          <a:solidFill>
                            <a:schemeClr val="bg1"/>
                          </a:solidFill>
                        </a:rPr>
                        <a:t>이유</a:t>
                      </a:r>
                      <a:endParaRPr lang="ko-KR" altLang="en-US" sz="1800" b="1"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smtClean="0">
                          <a:solidFill>
                            <a:srgbClr val="1A1A1A"/>
                          </a:solidFill>
                          <a:latin typeface="+mn-lt"/>
                        </a:rPr>
                        <a:t>해결과제 원문은 두 문장입니다. ① 축제 수요 예측 실패 및 주관적 경험 의존형 기획으로 인한 예산 낭비 리스크 ② 대규모 관광객 쏠림에 따른 축제 만족도 저하. 이 서비스는 ①을 판정으로, ②를 도면 시뮬레이션으로 정면에서 다룹니다.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smtClean="0">
                          <a:solidFill>
                            <a:srgbClr val="1A1A1A"/>
                          </a:solidFill>
                          <a:latin typeface="+mn-lt"/>
                        </a:rPr>
                        <a:t>발표되는 방문객 수는 산출 방식이 공개되지 않고, 내년 기획안은 그 발표치를 옮겨 적는 데서 시작합니다. 군포철쭉축제 2025 발표 최다일 217,502명은 같은 날 KT 가 센 군포시 전체 체류 262,457명의 83%였습니다. 공사 데이터랩에 이동통신 실측이 이미 있는데 기획 단계에서 쓰이지 않습니다. 그 실측을 담당자가 결재에 들고 갈 수 있는 판정문으로 옮기면 풀리는 문제라고 봤습니다.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98133503"/>
                  </a:ext>
                </a:extLst>
              </a:tr>
            </a:tbl>
          </a:graphicData>
        </a:graphic>
      </p:graphicFrame>
    </p:spTree>
    <p:extLst>
      <p:ext uri="{BB962C8B-B14F-4D97-AF65-F5344CB8AC3E}">
        <p14:creationId xmlns:p14="http://schemas.microsoft.com/office/powerpoint/2010/main" val="1526000993"/>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표 7"/>
          <p:cNvGraphicFramePr>
            <a:graphicFrameLocks noGrp="1"/>
          </p:cNvGraphicFramePr>
          <p:nvPr>
            <p:extLst>
              <p:ext uri="{D42A27DB-BD31-4B8C-83A1-F6EECF244321}">
                <p14:modId xmlns:p14="http://schemas.microsoft.com/office/powerpoint/2010/main" val="3976248600"/>
              </p:ext>
            </p:extLst>
          </p:nvPr>
        </p:nvGraphicFramePr>
        <p:xfrm>
          <a:off x="271088" y="1065401"/>
          <a:ext cx="11649825" cy="5570000"/>
        </p:xfrm>
        <a:graphic>
          <a:graphicData uri="http://schemas.openxmlformats.org/drawingml/2006/table">
            <a:tbl>
              <a:tblPr firstRow="1" bandRow="1">
                <a:tableStyleId>{5C22544A-7EE6-4342-B048-85BDC9FD1C3A}</a:tableStyleId>
              </a:tblPr>
              <a:tblGrid>
                <a:gridCol w="1955222">
                  <a:extLst>
                    <a:ext uri="{9D8B030D-6E8A-4147-A177-3AD203B41FA5}">
                      <a16:colId xmlns:a16="http://schemas.microsoft.com/office/drawing/2014/main" val="1299753452"/>
                    </a:ext>
                  </a:extLst>
                </a:gridCol>
                <a:gridCol w="9694603">
                  <a:extLst>
                    <a:ext uri="{9D8B030D-6E8A-4147-A177-3AD203B41FA5}">
                      <a16:colId xmlns:a16="http://schemas.microsoft.com/office/drawing/2014/main" val="3999346814"/>
                    </a:ext>
                  </a:extLst>
                </a:gridCol>
              </a:tblGrid>
              <a:tr h="330000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b="1" baseline="0" dirty="0" err="1" smtClean="0">
                          <a:solidFill>
                            <a:schemeClr val="bg1"/>
                          </a:solidFill>
                        </a:rPr>
                        <a:t>지정과제</a:t>
                      </a:r>
                      <a:r>
                        <a:rPr lang="ko-KR" altLang="en-US" b="1" baseline="0" dirty="0" smtClean="0">
                          <a:solidFill>
                            <a:schemeClr val="bg1"/>
                          </a:solidFill>
                        </a:rPr>
                        <a:t> 기반</a:t>
                      </a:r>
                      <a:endParaRPr lang="en-US" altLang="ko-KR" b="1" baseline="0" dirty="0" smtClean="0">
                        <a:solidFill>
                          <a:schemeClr val="bg1"/>
                        </a:solidFill>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b="1" baseline="0" dirty="0" smtClean="0">
                          <a:solidFill>
                            <a:schemeClr val="bg1"/>
                          </a:solidFill>
                        </a:rPr>
                        <a:t>서비스 기획 방향</a:t>
                      </a:r>
                      <a:endParaRPr lang="en-US" altLang="ko-KR" b="1" baseline="0" dirty="0"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rgbClr val="1A1A1A"/>
                          </a:solidFill>
                          <a:latin typeface="+mn-lt"/>
                        </a:rPr>
                        <a:t>기획안의 숫자를 실측으로 판정한다 — 방향은 이것 하나입니다.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rgbClr val="1A1A1A"/>
                          </a:solidFill>
                          <a:latin typeface="+mn-lt"/>
                        </a:rPr>
                        <a:t>① 자(尺)는 하나: 이 축제 자신의 지난 회차 실측 배수(평소 대비 외지인). 발표치가 아니라 KT 가 센 값입니다.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rgbClr val="1A1A1A"/>
                          </a:solidFill>
                          <a:latin typeface="+mn-lt"/>
                        </a:rPr>
                        <a:t>② 세 단계로 잽니다: 모집단 상한(하드 게이트) → 순증분(보조 신호) → 동일 정의 배수(주 근거). 임계값은 화면에 적습니다.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rgbClr val="1A1A1A"/>
                          </a:solidFill>
                          <a:latin typeface="+mn-lt"/>
                        </a:rPr>
                        <a:t>③ 흥행 가능성은 예측값이 아니라 세 실측 위치로 답합니다: 자기 이력 안 위치 · 같은 인구 구간 또래 안 위치 · 축제 신호.</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rgbClr val="1A1A1A"/>
                          </a:solidFill>
                          <a:latin typeface="+mn-lt"/>
                        </a:rPr>
                        <a:t>④ 판정문에는 보완 문장이 따릅니다(무엇을 다시 잡고 무엇의 출처를 밝힐지). "안전하다"는 말은 어느 라벨에도 없습니다.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rgbClr val="1A1A1A"/>
                          </a:solidFill>
                          <a:latin typeface="+mn-lt"/>
                        </a:rPr>
                        <a:t>⑤ 화면의 명·원 숫자는 전부 출처(API·값·기간·조회일)가 붙은 셀로만 나가고, 테스트가 매번 그것을 셉니다.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rgbClr val="1A1A1A"/>
                          </a:solidFill>
                          <a:latin typeface="+mn-lt"/>
                        </a:rPr>
                        <a:t>⑥ 결과는 A4 두 장으로 인쇄됩니다. 결재는 화면이 아니라 종이로 올라가기 때문입니다.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903409156"/>
                  </a:ext>
                </a:extLst>
              </a:tr>
              <a:tr h="2270000">
                <a:tc>
                  <a:txBody>
                    <a:bodyPr/>
                    <a:lstStyle/>
                    <a:p>
                      <a:pPr algn="ctr" latinLnBrk="1"/>
                      <a:r>
                        <a:rPr lang="ko-KR" altLang="en-US" b="1" dirty="0" smtClean="0">
                          <a:solidFill>
                            <a:schemeClr val="bg1"/>
                          </a:solidFill>
                        </a:rPr>
                        <a:t>해시태그</a:t>
                      </a:r>
                      <a:r>
                        <a:rPr lang="en-US" altLang="ko-KR" b="1" baseline="0" dirty="0" smtClean="0">
                          <a:solidFill>
                            <a:schemeClr val="bg1"/>
                          </a:solidFill>
                        </a:rPr>
                        <a:t> </a:t>
                      </a:r>
                      <a:r>
                        <a:rPr lang="ko-KR" altLang="en-US" b="1" dirty="0" smtClean="0">
                          <a:solidFill>
                            <a:schemeClr val="bg1"/>
                          </a:solidFill>
                        </a:rPr>
                        <a:t>목록</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rgbClr val="1A1A1A"/>
                          </a:solidFill>
                          <a:latin typeface="+mn-lt"/>
                        </a:rPr>
                        <a:t>#축제/행사 기획 — 기획서 PDF 입력 → 판정 → 행사장 도면 보행 시뮬레이션(배치 편집·스트레스 테스트)</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rgbClr val="1A1A1A"/>
                          </a:solidFill>
                          <a:latin typeface="+mn-lt"/>
                        </a:rPr>
                        <a:t>#사전 수요 예측 — 예상 방문객 3단 판정, 내년 배수 구간, 흥행 가능성의 세 실측 위치</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rgbClr val="1A1A1A"/>
                          </a:solidFill>
                          <a:latin typeface="+mn-lt"/>
                        </a:rPr>
                        <a:t>#보완 피드백 제공 — 라벨별 보완 문장, 1인당 예산 대조, 개최 기간·요일, 귀속 경고, 검증 보고서 A4 2장</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rgbClr val="1A1A1A"/>
                          </a:solidFill>
                          <a:latin typeface="+mn-lt"/>
                        </a:rPr>
                        <a:t>#데이터 기반 — 공사 KT 일별 실측 2,658일×272개 전수 적재, 셀마다 출처, 619건 자기검증, −52주 백테스트</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899883579"/>
                  </a:ext>
                </a:extLst>
              </a:tr>
            </a:tbl>
          </a:graphicData>
        </a:graphic>
      </p:graphicFrame>
    </p:spTree>
    <p:extLst>
      <p:ext uri="{BB962C8B-B14F-4D97-AF65-F5344CB8AC3E}">
        <p14:creationId xmlns:p14="http://schemas.microsoft.com/office/powerpoint/2010/main" val="73284859"/>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표 8"/>
          <p:cNvGraphicFramePr>
            <a:graphicFrameLocks noGrp="1"/>
          </p:cNvGraphicFramePr>
          <p:nvPr>
            <p:extLst>
              <p:ext uri="{D42A27DB-BD31-4B8C-83A1-F6EECF244321}">
                <p14:modId xmlns:p14="http://schemas.microsoft.com/office/powerpoint/2010/main" val="1138217558"/>
              </p:ext>
            </p:extLst>
          </p:nvPr>
        </p:nvGraphicFramePr>
        <p:xfrm>
          <a:off x="180961" y="1551963"/>
          <a:ext cx="11830079" cy="4990000"/>
        </p:xfrm>
        <a:graphic>
          <a:graphicData uri="http://schemas.openxmlformats.org/drawingml/2006/table">
            <a:tbl>
              <a:tblPr firstRow="1" bandRow="1">
                <a:tableStyleId>{5C22544A-7EE6-4342-B048-85BDC9FD1C3A}</a:tableStyleId>
              </a:tblPr>
              <a:tblGrid>
                <a:gridCol w="2570619">
                  <a:extLst>
                    <a:ext uri="{9D8B030D-6E8A-4147-A177-3AD203B41FA5}">
                      <a16:colId xmlns:a16="http://schemas.microsoft.com/office/drawing/2014/main" val="95366056"/>
                    </a:ext>
                  </a:extLst>
                </a:gridCol>
                <a:gridCol w="2620520">
                  <a:extLst>
                    <a:ext uri="{9D8B030D-6E8A-4147-A177-3AD203B41FA5}">
                      <a16:colId xmlns:a16="http://schemas.microsoft.com/office/drawing/2014/main" val="2325135401"/>
                    </a:ext>
                  </a:extLst>
                </a:gridCol>
                <a:gridCol w="6638940">
                  <a:extLst>
                    <a:ext uri="{9D8B030D-6E8A-4147-A177-3AD203B41FA5}">
                      <a16:colId xmlns:a16="http://schemas.microsoft.com/office/drawing/2014/main" val="2514411670"/>
                    </a:ext>
                  </a:extLst>
                </a:gridCol>
              </a:tblGrid>
              <a:tr h="45000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1600" b="1" smtClean="0">
                          <a:solidFill>
                            <a:schemeClr val="bg1"/>
                          </a:solidFill>
                        </a:rPr>
                        <a:t>해시태그</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1600" b="1" smtClean="0">
                          <a:solidFill>
                            <a:schemeClr val="bg1"/>
                          </a:solidFill>
                        </a:rPr>
                        <a:t>연계 기능</a:t>
                      </a:r>
                      <a:endParaRPr lang="ko-KR" altLang="en-US" sz="1600"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1600" b="1" baseline="0" smtClean="0">
                          <a:solidFill>
                            <a:schemeClr val="bg1"/>
                          </a:solidFill>
                        </a:rPr>
                        <a:t>연계 상세 내용</a:t>
                      </a:r>
                      <a:endParaRPr lang="ko-KR" altLang="en-US" sz="1600"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extLst>
                  <a:ext uri="{0D108BD9-81ED-4DB2-BD59-A6C34878D82A}">
                    <a16:rowId xmlns:a16="http://schemas.microsoft.com/office/drawing/2014/main" val="3357600838"/>
                  </a:ext>
                </a:extLst>
              </a:tr>
              <a:tr h="113500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200" b="0" baseline="0" smtClean="0">
                          <a:solidFill>
                            <a:srgbClr val="1A1A1A"/>
                          </a:solidFill>
                          <a:latin typeface="+mn-lt"/>
                        </a:rPr>
                        <a:t>#축제/행사 기획</a:t>
                      </a:r>
                      <a:endParaRPr lang="en-US" altLang="ko-KR" sz="1800" b="0" baseline="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기획서 PDF 입력</a:t>
                      </a:r>
                      <a:endParaRPr lang="en-US" altLang="ko-KR" sz="1800" b="0" baseline="0" smtClean="0">
                        <a:solidFill>
                          <a:srgbClr val="FF0000"/>
                        </a:solidFill>
                        <a:latin typeface="+mn-lt"/>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행사장 도면 시뮬레이션</a:t>
                      </a:r>
                      <a:endParaRPr lang="en-US" altLang="ko-KR" sz="1800" b="0" baseline="0" smtClean="0">
                        <a:solidFill>
                          <a:srgbClr val="FF0000"/>
                        </a:solidFill>
                        <a:latin typeface="+mn-lt"/>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배치 편집·스트레스 테스트</a:t>
                      </a:r>
                      <a:endParaRPr lang="en-US" altLang="ko-KR" sz="1800" b="0" baseline="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baseline="0" dirty="0" smtClean="0">
                          <a:solidFill>
                            <a:srgbClr val="1A1A1A"/>
                          </a:solidFill>
                          <a:latin typeface="+mn-lt"/>
                        </a:rPr>
                        <a:t>첫 화면에 기획서 PDF 를 올리면 예상 방문객·기간·지역·예산·지난 회차를 옮겨 적어 판정 화면으로 갑니다(모델은 옮겨 적기 1회, 판정에는 안 씀). 시뮬레이션 탭은 같은 기획안을 물고 열리고, 배치도를 밑그림으로 깔아 출입구·부스·통로를 놓은 뒤 보행자를 흘려 어디가 막히는지 잽니다. 유입 시나리오·출입구 몫은 입력이고 기본값은 출처 없는 가정이라고 적습니다. 스트레스 테스트는 유입 배수를 0.5씩 올려 행안부 "위험"(5명/㎡)이 60초 넘게 유지되는 첫 배수를 냅니다. 말로 물으면 시뮬 수치로만 답합니다.</a:t>
                      </a:r>
                      <a:endParaRPr lang="en-US" altLang="ko-KR" sz="1800" b="0" baseline="0" dirty="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r h="113500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200" b="0" baseline="0" smtClean="0">
                          <a:solidFill>
                            <a:srgbClr val="1A1A1A"/>
                          </a:solidFill>
                          <a:latin typeface="+mn-lt"/>
                        </a:rPr>
                        <a:t>#사전 수요 예측</a:t>
                      </a:r>
                      <a:endParaRPr lang="en-US" altLang="ko-KR" sz="1800" b="0" baseline="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예상 방문객 3단 판정</a:t>
                      </a:r>
                      <a:endParaRPr lang="en-US" altLang="ko-KR" sz="1800" b="0" baseline="0" smtClean="0">
                        <a:solidFill>
                          <a:srgbClr val="FF0000"/>
                        </a:solidFill>
                        <a:latin typeface="+mn-lt"/>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내년 배수 구간</a:t>
                      </a:r>
                      <a:endParaRPr lang="en-US" altLang="ko-KR" sz="1800" b="0" baseline="0" smtClean="0">
                        <a:solidFill>
                          <a:srgbClr val="FF0000"/>
                        </a:solidFill>
                        <a:latin typeface="+mn-lt"/>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흥행 가능성의 세 실측 위치</a:t>
                      </a:r>
                      <a:endParaRPr lang="en-US" altLang="ko-KR" sz="1800" b="0" baseline="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baseline="0" dirty="0" smtClean="0">
                          <a:solidFill>
                            <a:srgbClr val="1A1A1A"/>
                          </a:solidFill>
                          <a:latin typeface="+mn-lt"/>
                        </a:rPr>
                        <a:t>① 모집단 상한: 예상 방문객 ÷ 작년 축제 기간 시군구 전체 체류(0.80 이상 상한 초과 · 0.50 이상 과대) ② 순증분: ÷ 작년 축제가 실제로 끌어온 순증(3.0 이상 주의 신호) ③ 동일 정의 배수: 기획안이 요구하는 평소 대비 배수 ÷ 이 축제 이력의 최대 배수(0.70/1.00/1.30 → 과소/통과/주의/과대). 연인원이 실인원 상한을 넘으면 손익분기 회전율(군포 발표 217,502명 → 1.04회, 화천 186만 → 2.93회)을 냅니다. 내년 배수 구간은 이력 연도별 배수의 최소~최대(군포 평균 1.1~1.3배·최대일 1.4~1.6배), 이력이 없으면 같은 인구 구간 또래의 중앙값~상위 5%. 흥행 가능성은 자기 이력 안 위치·또래 안 위치·연도별 축제 신호(뚜렷함/약함)로 보입니다.</a:t>
                      </a:r>
                      <a:endParaRPr lang="en-US" altLang="ko-KR" sz="1800" b="0" baseline="0" dirty="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r h="113500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200" b="0" baseline="0" smtClean="0">
                          <a:solidFill>
                            <a:srgbClr val="1A1A1A"/>
                          </a:solidFill>
                          <a:latin typeface="+mn-lt"/>
                        </a:rPr>
                        <a:t>#보완 피드백 제공</a:t>
                      </a:r>
                      <a:endParaRPr lang="en-US" altLang="ko-KR" sz="1800" b="0" baseline="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라벨별 보완 문장</a:t>
                      </a:r>
                      <a:endParaRPr lang="en-US" altLang="ko-KR" sz="1800" b="0" baseline="0" smtClean="0">
                        <a:solidFill>
                          <a:srgbClr val="FF0000"/>
                        </a:solidFill>
                        <a:latin typeface="+mn-lt"/>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1인당 예산 대조</a:t>
                      </a:r>
                      <a:endParaRPr lang="en-US" altLang="ko-KR" sz="1800" b="0" baseline="0" smtClean="0">
                        <a:solidFill>
                          <a:srgbClr val="FF0000"/>
                        </a:solidFill>
                        <a:latin typeface="+mn-lt"/>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귀속 경고 · 검증 보고서 A4 2장</a:t>
                      </a:r>
                      <a:endParaRPr lang="en-US" altLang="ko-KR" sz="1800" b="0" baseline="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baseline="0" dirty="0" smtClean="0">
                          <a:solidFill>
                            <a:srgbClr val="1A1A1A"/>
                          </a:solidFill>
                          <a:latin typeface="+mn-lt"/>
                        </a:rPr>
                        <a:t>판정 라벨마다 담당자가 다음에 할 일을 문장으로 냅니다("예상 방문객을 이 축제 이력 배수 안에서 다시 잡고 원래 숫자의 출처와 산정 방식을 밝힌다"). 1인당 예산은 기획안 기준과 작년 실측 순증 기준을 나란히 놓아 오차를 보입니다. 개최 기간·요일은 이력 최대일 요일·주말 포함·길이로 봅니다. 작년 축제 기간 반경 50km 에 다른 축제가 있었으면(공사 searchFestival2 실시간) "이 배수는 시군구 배수이고 이 축제 몫만이 아니다"라고 경고합니다. 검증 보고서 A4 2장(결론·판정표·구간·보완 / 연도별 실측·출처·정의와 임계)은 브라우저 인쇄로 PDF 가 됩니다.</a:t>
                      </a:r>
                      <a:endParaRPr lang="en-US" altLang="ko-KR" sz="1800" b="0" baseline="0" dirty="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r h="113500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200" b="0" baseline="0" smtClean="0">
                          <a:solidFill>
                            <a:srgbClr val="1A1A1A"/>
                          </a:solidFill>
                          <a:latin typeface="+mn-lt"/>
                        </a:rPr>
                        <a:t>#데이터 기반</a:t>
                      </a:r>
                      <a:endParaRPr lang="en-US" altLang="ko-KR" sz="1800" b="0" baseline="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KT 일별 실측 전수 적재</a:t>
                      </a:r>
                      <a:endParaRPr lang="en-US" altLang="ko-KR" sz="1800" b="0" baseline="0" smtClean="0">
                        <a:solidFill>
                          <a:srgbClr val="FF0000"/>
                        </a:solidFill>
                        <a:latin typeface="+mn-lt"/>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셀마다 출처</a:t>
                      </a:r>
                      <a:endParaRPr lang="en-US" altLang="ko-KR" sz="1800" b="0" baseline="0" smtClean="0">
                        <a:solidFill>
                          <a:srgbClr val="FF0000"/>
                        </a:solidFill>
                        <a:latin typeface="+mn-lt"/>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619건 자기검증 · 백테스트</a:t>
                      </a:r>
                      <a:endParaRPr lang="en-US" altLang="ko-KR" sz="1800" b="0" baseline="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baseline="0" dirty="0" smtClean="0">
                          <a:solidFill>
                            <a:srgbClr val="1A1A1A"/>
                          </a:solidFill>
                          <a:latin typeface="+mn-lt"/>
                        </a:rPr>
                        <a:t>공사 TourAPI 데이터랩 서비스(locgoRegnVisitrDDList)로 시군구 272개 × 2019-05-01~2026-08-09(2,658일) 일별 방문자(현지인·외지인·외국인)를 개발 기간 안에 전수 호출해 697,403행을 적재했습니다. 판정·구간·백테스트의 유일한 실측 원천이고, 데이터랩 축제 목록 619건의 배수도 이 자료로 전부 재계산했습니다. 화면의 명·배·원 숫자는 API·값·기간·조회일 네 속성이 붙은 셀로만 나가고 e2e 테스트가 출처 밖의 "N명"을 셉니다. 실측 근거 화면은 연도별 전후 4주 곡선과 표를 보이고, 619건 leave-one-out(정밀도 65.8% · 재현율 61.6% · 무작위 대비 3.26배)과 −52주 근사 백테스트(표본 381건, 두 해 채택 325건 중 167건(51.4%))를 한계와 함께 적습니다.</a:t>
                      </a:r>
                      <a:endParaRPr lang="en-US" altLang="ko-KR" sz="1800" b="0" baseline="0" dirty="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bl>
          </a:graphicData>
        </a:graphic>
      </p:graphicFrame>
      <p:sp>
        <p:nvSpPr>
          <p:cNvPr id="4" name="TextBox 3"/>
          <p:cNvSpPr txBox="1"/>
          <p:nvPr/>
        </p:nvSpPr>
        <p:spPr>
          <a:xfrm>
            <a:off x="174567" y="1101012"/>
            <a:ext cx="3382365" cy="307777"/>
          </a:xfrm>
          <a:prstGeom prst="rect">
            <a:avLst/>
          </a:prstGeom>
          <a:solidFill>
            <a:srgbClr val="372472"/>
          </a:solidFill>
        </p:spPr>
        <p:txBody>
          <a:bodyPr wrap="square" rtlCol="0">
            <a:spAutoFit/>
          </a:bodyPr>
          <a:lstStyle/>
          <a:p>
            <a:pPr algn="ctr"/>
            <a:r>
              <a:rPr lang="ko-KR" altLang="en-US" sz="1400" b="1" dirty="0" smtClean="0">
                <a:solidFill>
                  <a:schemeClr val="bg1"/>
                </a:solidFill>
              </a:rPr>
              <a:t>해시태그 연계 핵심기능 및 상세내용</a:t>
            </a:r>
            <a:endParaRPr lang="ko-KR" altLang="en-US" sz="1400" b="1" dirty="0">
              <a:solidFill>
                <a:schemeClr val="bg1"/>
              </a:solidFill>
            </a:endParaRPr>
          </a:p>
        </p:txBody>
      </p:sp>
    </p:spTree>
    <p:extLst>
      <p:ext uri="{BB962C8B-B14F-4D97-AF65-F5344CB8AC3E}">
        <p14:creationId xmlns:p14="http://schemas.microsoft.com/office/powerpoint/2010/main" val="4098688186"/>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표 4"/>
          <p:cNvGraphicFramePr>
            <a:graphicFrameLocks noGrp="1"/>
          </p:cNvGraphicFramePr>
          <p:nvPr>
            <p:extLst>
              <p:ext uri="{D42A27DB-BD31-4B8C-83A1-F6EECF244321}">
                <p14:modId xmlns:p14="http://schemas.microsoft.com/office/powerpoint/2010/main" val="1504402377"/>
              </p:ext>
            </p:extLst>
          </p:nvPr>
        </p:nvGraphicFramePr>
        <p:xfrm>
          <a:off x="302952" y="2702225"/>
          <a:ext cx="11426308" cy="3836943"/>
        </p:xfrm>
        <a:graphic>
          <a:graphicData uri="http://schemas.openxmlformats.org/drawingml/2006/table">
            <a:tbl>
              <a:tblPr firstRow="1" bandRow="1">
                <a:tableStyleId>{5C22544A-7EE6-4342-B048-85BDC9FD1C3A}</a:tableStyleId>
              </a:tblPr>
              <a:tblGrid>
                <a:gridCol w="2856577">
                  <a:extLst>
                    <a:ext uri="{9D8B030D-6E8A-4147-A177-3AD203B41FA5}">
                      <a16:colId xmlns:a16="http://schemas.microsoft.com/office/drawing/2014/main" val="956832101"/>
                    </a:ext>
                  </a:extLst>
                </a:gridCol>
                <a:gridCol w="2856577">
                  <a:extLst>
                    <a:ext uri="{9D8B030D-6E8A-4147-A177-3AD203B41FA5}">
                      <a16:colId xmlns:a16="http://schemas.microsoft.com/office/drawing/2014/main" val="2325135401"/>
                    </a:ext>
                  </a:extLst>
                </a:gridCol>
                <a:gridCol w="2856577">
                  <a:extLst>
                    <a:ext uri="{9D8B030D-6E8A-4147-A177-3AD203B41FA5}">
                      <a16:colId xmlns:a16="http://schemas.microsoft.com/office/drawing/2014/main" val="1669866357"/>
                    </a:ext>
                  </a:extLst>
                </a:gridCol>
                <a:gridCol w="2856577">
                  <a:extLst>
                    <a:ext uri="{9D8B030D-6E8A-4147-A177-3AD203B41FA5}">
                      <a16:colId xmlns:a16="http://schemas.microsoft.com/office/drawing/2014/main" val="1337599892"/>
                    </a:ext>
                  </a:extLst>
                </a:gridCol>
              </a:tblGrid>
              <a:tr h="321846">
                <a:tc gridSpan="4">
                  <a:txBody>
                    <a:bodyPr/>
                    <a:lstStyle/>
                    <a:p>
                      <a:pPr algn="ctr" latinLnBrk="1"/>
                      <a:r>
                        <a:rPr lang="ko-KR" altLang="en-US">
                          <a:solidFill>
                            <a:schemeClr val="bg1"/>
                          </a:solidFill>
                        </a:rPr>
                        <a:t>기능</a:t>
                      </a:r>
                      <a:r>
                        <a:rPr lang="ko-KR" altLang="en-US" baseline="0">
                          <a:solidFill>
                            <a:schemeClr val="bg1"/>
                          </a:solidFill>
                        </a:rPr>
                        <a:t> </a:t>
                      </a:r>
                      <a:r>
                        <a:rPr lang="ko-KR" altLang="en-US">
                          <a:solidFill>
                            <a:schemeClr val="bg1"/>
                          </a:solidFill>
                        </a:rPr>
                        <a:t>흐름도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extLst>
                  <a:ext uri="{0D108BD9-81ED-4DB2-BD59-A6C34878D82A}">
                    <a16:rowId xmlns:a16="http://schemas.microsoft.com/office/drawing/2014/main" val="1032358826"/>
                  </a:ext>
                </a:extLst>
              </a:tr>
              <a:tr h="2282463">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a:solidFill>
                            <a:srgbClr val="1A1A1A"/>
                          </a:solidFill>
                          <a:latin typeface="+mn-lt"/>
                        </a:rPr>
                        <a:t/>
                      </a:r>
                      <a:endParaRPr lang="en-US" altLang="ko-KR" sz="1800" b="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57600838"/>
                  </a:ext>
                </a:extLst>
              </a:tr>
              <a:tr h="1166258">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a:solidFill>
                            <a:srgbClr val="1A1A1A"/>
                          </a:solidFill>
                          <a:latin typeface="+mn-lt"/>
                        </a:rPr>
                        <a:t>① 첫 화면에 기획서 PDF 를 올리고 [읽어서 판정하기]</a:t>
                      </a:r>
                      <a:endParaRPr lang="en-US" altLang="ko-KR" b="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② 판정 화면 상단 [시뮬레이션] 탭 → 배치도 밑그림 깔기(축척 두 점 + 거리)</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③ 출입구·부스·통로를 놓고 [시뮬레이션 시작] → 도면 위 보행자 흐름과 밀도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④ 오른쪽 패널: 시각·장내 인원·최대 밀도 등급, 병목 상위·대기열·출입구별 입장. [배수 올려 가며 재생]으로 상한 배수</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bl>
          </a:graphicData>
        </a:graphic>
      </p:graphicFrame>
      <p:graphicFrame>
        <p:nvGraphicFramePr>
          <p:cNvPr id="6" name="표 5"/>
          <p:cNvGraphicFramePr>
            <a:graphicFrameLocks noGrp="1"/>
          </p:cNvGraphicFramePr>
          <p:nvPr>
            <p:extLst>
              <p:ext uri="{D42A27DB-BD31-4B8C-83A1-F6EECF244321}">
                <p14:modId xmlns:p14="http://schemas.microsoft.com/office/powerpoint/2010/main" val="2591979266"/>
              </p:ext>
            </p:extLst>
          </p:nvPr>
        </p:nvGraphicFramePr>
        <p:xfrm>
          <a:off x="302952" y="1130530"/>
          <a:ext cx="11426308" cy="1371600"/>
        </p:xfrm>
        <a:graphic>
          <a:graphicData uri="http://schemas.openxmlformats.org/drawingml/2006/table">
            <a:tbl>
              <a:tblPr firstRow="1" bandRow="1">
                <a:tableStyleId>{5C22544A-7EE6-4342-B048-85BDC9FD1C3A}</a:tableStyleId>
              </a:tblPr>
              <a:tblGrid>
                <a:gridCol w="1782764">
                  <a:extLst>
                    <a:ext uri="{9D8B030D-6E8A-4147-A177-3AD203B41FA5}">
                      <a16:colId xmlns:a16="http://schemas.microsoft.com/office/drawing/2014/main" val="837638667"/>
                    </a:ext>
                  </a:extLst>
                </a:gridCol>
                <a:gridCol w="9643544">
                  <a:extLst>
                    <a:ext uri="{9D8B030D-6E8A-4147-A177-3AD203B41FA5}">
                      <a16:colId xmlns:a16="http://schemas.microsoft.com/office/drawing/2014/main" val="2364043552"/>
                    </a:ext>
                  </a:extLst>
                </a:gridCol>
              </a:tblGrid>
              <a:tr h="182880">
                <a:tc>
                  <a:txBody>
                    <a:bodyPr/>
                    <a:lstStyle/>
                    <a:p>
                      <a:pPr algn="ctr" latinLnBrk="1"/>
                      <a:r>
                        <a:rPr lang="ko-KR" altLang="en-US" b="1" dirty="0" smtClean="0">
                          <a:solidFill>
                            <a:srgbClr val="1A1A1A"/>
                          </a:solidFill>
                        </a:rPr>
                        <a:t>해시태그1</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latinLnBrk="1"/>
                      <a:r>
                        <a:rPr lang="en-US" altLang="ko-KR" b="0" dirty="0" smtClean="0" sz="1200">
                          <a:solidFill>
                            <a:srgbClr val="1A1A1A"/>
                          </a:solidFill>
                        </a:rPr>
                        <a:t>#축제/행사 기획</a:t>
                      </a:r>
                      <a:endParaRPr lang="ko-KR" altLang="en-US" b="0" i="1"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576143207"/>
                  </a:ext>
                </a:extLst>
              </a:tr>
              <a:tr h="18288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b="1" dirty="0" err="1" smtClean="0">
                          <a:solidFill>
                            <a:srgbClr val="1A1A1A"/>
                          </a:solidFill>
                        </a:rPr>
                        <a:t>연계기능1</a:t>
                      </a:r>
                      <a:endParaRPr lang="ko-KR" altLang="en-US" b="1" dirty="0"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latinLnBrk="1"/>
                      <a:r>
                        <a:rPr lang="en-US" altLang="ko-KR" b="0" dirty="0" smtClean="0" sz="1200">
                          <a:solidFill>
                            <a:srgbClr val="1A1A1A"/>
                          </a:solidFill>
                        </a:rPr>
                        <a:t>기획서 입력에서 도면 시뮬레이션까지</a:t>
                      </a:r>
                      <a:endParaRPr lang="ko-KR" altLang="en-US" b="0" i="1"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261657432"/>
                  </a:ext>
                </a:extLst>
              </a:tr>
              <a:tr h="236913">
                <a:tc>
                  <a:txBody>
                    <a:bodyPr/>
                    <a:lstStyle/>
                    <a:p>
                      <a:pPr algn="ctr" latinLnBrk="1"/>
                      <a:r>
                        <a:rPr lang="ko-KR" altLang="en-US" b="1" dirty="0" err="1" smtClean="0">
                          <a:solidFill>
                            <a:srgbClr val="1A1A1A"/>
                          </a:solidFill>
                        </a:rPr>
                        <a:t>기능설명1</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b="0" dirty="0" sz="1100">
                          <a:solidFill>
                            <a:srgbClr val="1A1A1A"/>
                          </a:solidFill>
                        </a:rPr>
                        <a:t>기획서 PDF 한 장으로 판정 화면이 열리고, 같은 기획안으로 행사장 도면에 들어가 배치를 고치고 보행자를 흘립니다.</a:t>
                      </a:r>
                      <a:endParaRPr lang="en-US" altLang="ko-KR" b="0" dirty="0" smtClean="0">
                        <a:solidFill>
                          <a:srgbClr val="FF0000"/>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502682219"/>
                  </a:ext>
                </a:extLst>
              </a:tr>
            </a:tbl>
          </a:graphicData>
        </a:graphic>
      </p:graphicFrame>
      <p:pic>
        <p:nvPicPr>
          <p:cNvPr id="7" name="Picture 6" descr="f1_1_home.png"/>
          <p:cNvPicPr>
            <a:picLocks noChangeAspect="1"/>
          </p:cNvPicPr>
          <p:nvPr/>
        </p:nvPicPr>
        <p:blipFill>
          <a:blip r:embed="rId2"/>
          <a:stretch>
            <a:fillRect/>
          </a:stretch>
        </p:blipFill>
        <p:spPr>
          <a:xfrm>
            <a:off x="352952" y="3513866"/>
            <a:ext cx="2756577" cy="1302873"/>
          </a:xfrm>
          <a:prstGeom prst="rect">
            <a:avLst/>
          </a:prstGeom>
        </p:spPr>
      </p:pic>
      <p:pic>
        <p:nvPicPr>
          <p:cNvPr id="8" name="Picture 7" descr="f1_2_underlay.png"/>
          <p:cNvPicPr>
            <a:picLocks noChangeAspect="1"/>
          </p:cNvPicPr>
          <p:nvPr/>
        </p:nvPicPr>
        <p:blipFill>
          <a:blip r:embed="rId3"/>
          <a:stretch>
            <a:fillRect/>
          </a:stretch>
        </p:blipFill>
        <p:spPr>
          <a:xfrm>
            <a:off x="4033808" y="3074071"/>
            <a:ext cx="1108019" cy="2182463"/>
          </a:xfrm>
          <a:prstGeom prst="rect">
            <a:avLst/>
          </a:prstGeom>
        </p:spPr>
      </p:pic>
      <p:pic>
        <p:nvPicPr>
          <p:cNvPr id="9" name="Picture 8" descr="f1_3_venue.png"/>
          <p:cNvPicPr>
            <a:picLocks noChangeAspect="1"/>
          </p:cNvPicPr>
          <p:nvPr/>
        </p:nvPicPr>
        <p:blipFill>
          <a:blip r:embed="rId4"/>
          <a:stretch>
            <a:fillRect/>
          </a:stretch>
        </p:blipFill>
        <p:spPr>
          <a:xfrm>
            <a:off x="6345198" y="3074071"/>
            <a:ext cx="2198393" cy="2182463"/>
          </a:xfrm>
          <a:prstGeom prst="rect">
            <a:avLst/>
          </a:prstGeom>
        </p:spPr>
      </p:pic>
      <p:pic>
        <p:nvPicPr>
          <p:cNvPr id="10" name="Picture 9" descr="f1_4_panel.png"/>
          <p:cNvPicPr>
            <a:picLocks noChangeAspect="1"/>
          </p:cNvPicPr>
          <p:nvPr/>
        </p:nvPicPr>
        <p:blipFill>
          <a:blip r:embed="rId5"/>
          <a:stretch>
            <a:fillRect/>
          </a:stretch>
        </p:blipFill>
        <p:spPr>
          <a:xfrm>
            <a:off x="9669616" y="3074071"/>
            <a:ext cx="1262710" cy="2182463"/>
          </a:xfrm>
          <a:prstGeom prst="rect">
            <a:avLst/>
          </a:prstGeom>
        </p:spPr>
      </p:pic>
    </p:spTree>
    <p:extLst>
      <p:ext uri="{BB962C8B-B14F-4D97-AF65-F5344CB8AC3E}">
        <p14:creationId xmlns:p14="http://schemas.microsoft.com/office/powerpoint/2010/main" val="6719406"/>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표 2"/>
          <p:cNvGraphicFramePr>
            <a:graphicFrameLocks noGrp="1"/>
          </p:cNvGraphicFramePr>
          <p:nvPr>
            <p:extLst>
              <p:ext uri="{D42A27DB-BD31-4B8C-83A1-F6EECF244321}">
                <p14:modId xmlns:p14="http://schemas.microsoft.com/office/powerpoint/2010/main" val="3096162552"/>
              </p:ext>
            </p:extLst>
          </p:nvPr>
        </p:nvGraphicFramePr>
        <p:xfrm>
          <a:off x="271088" y="1065401"/>
          <a:ext cx="11649825" cy="5570000"/>
        </p:xfrm>
        <a:graphic>
          <a:graphicData uri="http://schemas.openxmlformats.org/drawingml/2006/table">
            <a:tbl>
              <a:tblPr firstRow="1" bandRow="1">
                <a:tableStyleId>{5C22544A-7EE6-4342-B048-85BDC9FD1C3A}</a:tableStyleId>
              </a:tblPr>
              <a:tblGrid>
                <a:gridCol w="1955222">
                  <a:extLst>
                    <a:ext uri="{9D8B030D-6E8A-4147-A177-3AD203B41FA5}">
                      <a16:colId xmlns:a16="http://schemas.microsoft.com/office/drawing/2014/main" val="1299753452"/>
                    </a:ext>
                  </a:extLst>
                </a:gridCol>
                <a:gridCol w="9694603">
                  <a:extLst>
                    <a:ext uri="{9D8B030D-6E8A-4147-A177-3AD203B41FA5}">
                      <a16:colId xmlns:a16="http://schemas.microsoft.com/office/drawing/2014/main" val="3999346814"/>
                    </a:ext>
                  </a:extLst>
                </a:gridCol>
              </a:tblGrid>
              <a:tr h="2400000">
                <a:tc>
                  <a:txBody>
                    <a:bodyPr/>
                    <a:lstStyle/>
                    <a:p>
                      <a:pPr algn="ctr" latinLnBrk="1"/>
                      <a:r>
                        <a:rPr lang="ko-KR" altLang="en-US" b="1" smtClean="0">
                          <a:solidFill>
                            <a:schemeClr val="bg1"/>
                          </a:solidFill>
                        </a:rPr>
                        <a:t>서비스</a:t>
                      </a:r>
                      <a:endParaRPr lang="en-US" altLang="ko-KR" b="1" smtClean="0">
                        <a:solidFill>
                          <a:schemeClr val="bg1"/>
                        </a:solidFill>
                      </a:endParaRPr>
                    </a:p>
                    <a:p>
                      <a:pPr algn="ctr" latinLnBrk="1"/>
                      <a:r>
                        <a:rPr lang="ko-KR" altLang="en-US" b="1" smtClean="0">
                          <a:solidFill>
                            <a:schemeClr val="bg1"/>
                          </a:solidFill>
                        </a:rPr>
                        <a:t>대표 이미지</a:t>
                      </a:r>
                      <a:endParaRPr lang="en-US" altLang="ko-KR" b="1" smtClean="0">
                        <a:solidFill>
                          <a:schemeClr val="bg1"/>
                        </a:solidFill>
                      </a:endParaRPr>
                    </a:p>
                    <a:p>
                      <a:pPr algn="ctr" latinLnBrk="1"/>
                      <a:r>
                        <a:rPr lang="en-US" altLang="ko-KR" b="1" smtClean="0">
                          <a:solidFill>
                            <a:schemeClr val="bg1"/>
                          </a:solidFill>
                        </a:rPr>
                        <a:t>(</a:t>
                      </a:r>
                      <a:r>
                        <a:rPr lang="ko-KR" altLang="en-US" b="1" err="1" smtClean="0">
                          <a:solidFill>
                            <a:schemeClr val="bg1"/>
                          </a:solidFill>
                        </a:rPr>
                        <a:t>썸네일</a:t>
                      </a:r>
                      <a:r>
                        <a:rPr lang="en-US" altLang="ko-KR" b="1" smtClean="0">
                          <a:solidFill>
                            <a:schemeClr val="bg1"/>
                          </a:solidFill>
                        </a:rPr>
                        <a:t>)</a:t>
                      </a:r>
                      <a:endParaRPr lang="ko-KR" altLang="en-US" b="1"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000" b="0" smtClean="0">
                          <a:solidFill>
                            <a:srgbClr val="1A1A1A"/>
                          </a:solidFill>
                          <a:latin typeface="+mn-lt"/>
                        </a:rPr>
                        <a:t/>
                      </a:r>
                      <a:endParaRPr lang="en-US" altLang="ko-KR" sz="1800" b="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903409156"/>
                  </a:ext>
                </a:extLst>
              </a:tr>
              <a:tr h="3170000">
                <a:tc>
                  <a:txBody>
                    <a:bodyPr/>
                    <a:lstStyle/>
                    <a:p>
                      <a:pPr algn="ctr" latinLnBrk="1"/>
                      <a:r>
                        <a:rPr lang="ko-KR" altLang="en-US" b="1" smtClean="0">
                          <a:solidFill>
                            <a:schemeClr val="bg1"/>
                          </a:solidFill>
                        </a:rPr>
                        <a:t>서비스</a:t>
                      </a:r>
                      <a:endParaRPr lang="en-US" altLang="ko-KR" b="1" smtClean="0">
                        <a:solidFill>
                          <a:schemeClr val="bg1"/>
                        </a:solidFill>
                      </a:endParaRPr>
                    </a:p>
                    <a:p>
                      <a:pPr algn="ctr" latinLnBrk="1"/>
                      <a:r>
                        <a:rPr lang="ko-KR" altLang="en-US" b="1" smtClean="0">
                          <a:solidFill>
                            <a:schemeClr val="bg1"/>
                          </a:solidFill>
                        </a:rPr>
                        <a:t>상세 이미지</a:t>
                      </a:r>
                      <a:endParaRPr lang="en-US" altLang="ko-KR" b="1"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000" b="0" smtClean="0">
                          <a:solidFill>
                            <a:srgbClr val="1A1A1A"/>
                          </a:solidFill>
                          <a:latin typeface="+mn-lt"/>
                        </a:rPr>
                        <a:t/>
                      </a:r>
                      <a:endParaRPr lang="en-US" altLang="ko-KR" sz="1800" b="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899883579"/>
                  </a:ext>
                </a:extLst>
              </a:tr>
            </a:tbl>
          </a:graphicData>
        </a:graphic>
      </p:graphicFrame>
      <p:pic>
        <p:nvPicPr>
          <p:cNvPr id="4" name="Picture 3" descr="hero_wide.png"/>
          <p:cNvPicPr>
            <a:picLocks noChangeAspect="1"/>
          </p:cNvPicPr>
          <p:nvPr/>
        </p:nvPicPr>
        <p:blipFill>
          <a:blip r:embed="rId2"/>
          <a:stretch>
            <a:fillRect/>
          </a:stretch>
        </p:blipFill>
        <p:spPr>
          <a:xfrm>
            <a:off x="6053945" y="1115401"/>
            <a:ext cx="2039333" cy="2300000"/>
          </a:xfrm>
          <a:prstGeom prst="rect">
            <a:avLst/>
          </a:prstGeom>
        </p:spPr>
      </p:pic>
      <p:pic>
        <p:nvPicPr>
          <p:cNvPr id="5" name="Picture 4" descr="detail_montage.png"/>
          <p:cNvPicPr>
            <a:picLocks noChangeAspect="1"/>
          </p:cNvPicPr>
          <p:nvPr/>
        </p:nvPicPr>
        <p:blipFill>
          <a:blip r:embed="rId3"/>
          <a:stretch>
            <a:fillRect/>
          </a:stretch>
        </p:blipFill>
        <p:spPr>
          <a:xfrm>
            <a:off x="4019727" y="3515401"/>
            <a:ext cx="6107769" cy="3070000"/>
          </a:xfrm>
          <a:prstGeom prst="rect">
            <a:avLst/>
          </a:prstGeom>
        </p:spPr>
      </p:pic>
    </p:spTree>
    <p:extLst>
      <p:ext uri="{BB962C8B-B14F-4D97-AF65-F5344CB8AC3E}">
        <p14:creationId xmlns:p14="http://schemas.microsoft.com/office/powerpoint/2010/main" val="2822969208"/>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74567" y="1101012"/>
            <a:ext cx="4770658" cy="307777"/>
          </a:xfrm>
          <a:prstGeom prst="rect">
            <a:avLst/>
          </a:prstGeom>
          <a:solidFill>
            <a:srgbClr val="372472"/>
          </a:solidFill>
        </p:spPr>
        <p:txBody>
          <a:bodyPr wrap="square" rtlCol="0">
            <a:spAutoFit/>
          </a:bodyPr>
          <a:lstStyle/>
          <a:p>
            <a:pPr algn="ctr"/>
            <a:r>
              <a:rPr lang="ko-KR" altLang="en-US" sz="1400" b="1">
                <a:solidFill>
                  <a:schemeClr val="bg1"/>
                </a:solidFill>
              </a:rPr>
              <a:t>서비스 개발에 활용한 한국관광공사 </a:t>
            </a:r>
            <a:r>
              <a:rPr lang="en-US" altLang="ko-KR" sz="1400" b="1">
                <a:solidFill>
                  <a:schemeClr val="bg1"/>
                </a:solidFill>
              </a:rPr>
              <a:t>OpenAPI </a:t>
            </a:r>
            <a:r>
              <a:rPr lang="ko-KR" altLang="en-US" sz="1400" b="1">
                <a:solidFill>
                  <a:schemeClr val="bg1"/>
                </a:solidFill>
              </a:rPr>
              <a:t>리스트</a:t>
            </a:r>
          </a:p>
        </p:txBody>
      </p:sp>
      <p:graphicFrame>
        <p:nvGraphicFramePr>
          <p:cNvPr id="7" name="표 6"/>
          <p:cNvGraphicFramePr>
            <a:graphicFrameLocks noGrp="1"/>
          </p:cNvGraphicFramePr>
          <p:nvPr>
            <p:extLst>
              <p:ext uri="{D42A27DB-BD31-4B8C-83A1-F6EECF244321}">
                <p14:modId xmlns:p14="http://schemas.microsoft.com/office/powerpoint/2010/main" val="3601316057"/>
              </p:ext>
            </p:extLst>
          </p:nvPr>
        </p:nvGraphicFramePr>
        <p:xfrm>
          <a:off x="174566" y="1646098"/>
          <a:ext cx="11746191" cy="3789680"/>
        </p:xfrm>
        <a:graphic>
          <a:graphicData uri="http://schemas.openxmlformats.org/drawingml/2006/table">
            <a:tbl>
              <a:tblPr firstRow="1" bandRow="1">
                <a:tableStyleId>{5C22544A-7EE6-4342-B048-85BDC9FD1C3A}</a:tableStyleId>
              </a:tblPr>
              <a:tblGrid>
                <a:gridCol w="829450">
                  <a:extLst>
                    <a:ext uri="{9D8B030D-6E8A-4147-A177-3AD203B41FA5}">
                      <a16:colId xmlns:a16="http://schemas.microsoft.com/office/drawing/2014/main" val="842166946"/>
                    </a:ext>
                  </a:extLst>
                </a:gridCol>
                <a:gridCol w="1834747">
                  <a:extLst>
                    <a:ext uri="{9D8B030D-6E8A-4147-A177-3AD203B41FA5}">
                      <a16:colId xmlns:a16="http://schemas.microsoft.com/office/drawing/2014/main" val="3903607114"/>
                    </a:ext>
                  </a:extLst>
                </a:gridCol>
                <a:gridCol w="9081994">
                  <a:extLst>
                    <a:ext uri="{9D8B030D-6E8A-4147-A177-3AD203B41FA5}">
                      <a16:colId xmlns:a16="http://schemas.microsoft.com/office/drawing/2014/main" val="2519424337"/>
                    </a:ext>
                  </a:extLst>
                </a:gridCol>
              </a:tblGrid>
              <a:tr h="370840">
                <a:tc rowSpan="2">
                  <a:txBody>
                    <a:bodyPr/>
                    <a:lstStyle/>
                    <a:p>
                      <a:pPr algn="ctr" latinLnBrk="1"/>
                      <a:r>
                        <a:rPr lang="en-US" altLang="ko-KR" sz="3200" b="1">
                          <a:solidFill>
                            <a:schemeClr val="tx1"/>
                          </a:solidFill>
                        </a:rPr>
                        <a:t>1</a:t>
                      </a:r>
                      <a:endParaRPr lang="ko-KR" altLang="en-US" sz="3200" b="1">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r>
                        <a:rPr lang="en-US" altLang="ko-KR" b="1">
                          <a:solidFill>
                            <a:schemeClr val="bg1"/>
                          </a:solidFill>
                        </a:rPr>
                        <a:t>API</a:t>
                      </a:r>
                      <a:r>
                        <a:rPr lang="ko-KR" altLang="en-US" b="1">
                          <a:solidFill>
                            <a:schemeClr val="bg1"/>
                          </a:solidFill>
                        </a:rPr>
                        <a:t>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b="0" sz="1100">
                          <a:solidFill>
                            <a:srgbClr val="1A1A1A"/>
                          </a:solidFill>
                        </a:rPr>
                        <a:t>한국관광공사 TourAPI 4.0 관광 데이터랩 서비스 — 지역별 방문자 수 일별 (DataLabService/locgoRegnVisitrDDList, KT 이동통신 기반)</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377720883"/>
                  </a:ext>
                </a:extLst>
              </a:tr>
              <a:tr h="370840">
                <a:tc vMerge="1">
                  <a:txBody>
                    <a:bodyPr/>
                    <a:lstStyle/>
                    <a:p>
                      <a:pPr latinLnBrk="1"/>
                      <a:endParaRPr lang="ko-KR" altLang="en-US" dirty="0"/>
                    </a:p>
                  </a:txBody>
                  <a:tcPr/>
                </a:tc>
                <a:tc>
                  <a:txBody>
                    <a:bodyPr/>
                    <a:lstStyle/>
                    <a:p>
                      <a:pPr algn="ctr" latinLnBrk="1"/>
                      <a:r>
                        <a:rPr lang="ko-KR" altLang="en-US" b="1">
                          <a:solidFill>
                            <a:schemeClr val="bg1"/>
                          </a:solidFill>
                        </a:rPr>
                        <a:t>상세설명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b="0" sz="1100">
                          <a:solidFill>
                            <a:srgbClr val="1A1A1A"/>
                          </a:solidFill>
                        </a:rPr>
                        <a:t>판정 3단계의 분모(작년 축제 기간 전체 체류·순증·평소 대비 외지인 배수), 자기 이력 연도별 배수, 내년 배수 구간, 축제 신호, 데이터랩 축제 목록 619건 배수 재계산의 유일한 실측 원천. 시군구 272개 × 2019-05-01~2026-08-09(2,658일)를 개발 기간 안에 전수 호출해 697,403행을 빌드 전에 적재하고 판정은 그 적재본으로 냅니다. 제출 인증키의 호출 이력으로 확인됩니다.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7522436"/>
                  </a:ext>
                </a:extLst>
              </a:tr>
              <a:tr h="381000">
                <a:tc rowSpan="2">
                  <a:txBody>
                    <a:bodyPr/>
                    <a:lstStyle/>
                    <a:p>
                      <a:pPr algn="ctr" latinLnBrk="1"/>
                      <a:r>
                        <a:rPr lang="en-US" altLang="ko-KR" sz="3200" b="1">
                          <a:solidFill>
                            <a:schemeClr val="tx1"/>
                          </a:solidFill>
                        </a:rPr>
                        <a:t>2</a:t>
                      </a:r>
                      <a:endParaRPr lang="ko-KR" altLang="en-US" sz="3200" b="1">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r>
                        <a:rPr lang="en-US" altLang="ko-KR" b="1">
                          <a:solidFill>
                            <a:schemeClr val="bg1"/>
                          </a:solidFill>
                        </a:rPr>
                        <a:t>API</a:t>
                      </a:r>
                      <a:r>
                        <a:rPr lang="ko-KR" altLang="en-US" b="1">
                          <a:solidFill>
                            <a:schemeClr val="bg1"/>
                          </a:solidFill>
                        </a:rPr>
                        <a:t>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100">
                          <a:solidFill>
                            <a:srgbClr val="1A1A1A"/>
                          </a:solidFill>
                        </a:rPr>
                        <a:t>한국관광공사 TourAPI 4.0 국문 관광정보 서비스 — 축제 검색 (searchFestival2)</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858026807"/>
                  </a:ext>
                </a:extLst>
              </a:tr>
              <a:tr h="381000">
                <a:tc vMerge="1">
                  <a:txBody>
                    <a:bodyPr/>
                    <a:lstStyle/>
                    <a:p>
                      <a:pPr latinLnBrk="1"/>
                      <a:endParaRPr lang="ko-KR" altLang="en-US"/>
                    </a:p>
                  </a:txBody>
                  <a:tcPr/>
                </a:tc>
                <a:tc>
                  <a:txBody>
                    <a:bodyPr/>
                    <a:lstStyle/>
                    <a:p>
                      <a:pPr algn="ctr" latinLnBrk="1"/>
                      <a:r>
                        <a:rPr lang="ko-KR" altLang="en-US" b="1">
                          <a:solidFill>
                            <a:schemeClr val="bg1"/>
                          </a:solidFill>
                        </a:rPr>
                        <a:t>상세설명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100">
                          <a:solidFill>
                            <a:srgbClr val="1A1A1A"/>
                          </a:solidFill>
                        </a:rPr>
                        <a:t>판정 화면에서 실시간 호출. 작년 축제 기간 반경 50km 안에 등록된 다른 축제를 찾아 "이 배수는 개최 시군구 배수이고 이 축제 몫만이 아니다"라는 귀속 경고를 냅니다(군포 2026 기준 등록 행사 36건, 실시간 값). 호출이 실패해도 판정은 그대로 서고 실패 사실을 표시합니다.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3851369"/>
                  </a:ext>
                </a:extLst>
              </a:tr>
            </a:tbl>
          </a:graphicData>
        </a:graphic>
      </p:graphicFrame>
    </p:spTree>
    <p:extLst>
      <p:ext uri="{BB962C8B-B14F-4D97-AF65-F5344CB8AC3E}">
        <p14:creationId xmlns:p14="http://schemas.microsoft.com/office/powerpoint/2010/main" val="2222947038"/>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74567" y="1101012"/>
            <a:ext cx="3893580" cy="307777"/>
          </a:xfrm>
          <a:prstGeom prst="rect">
            <a:avLst/>
          </a:prstGeom>
          <a:solidFill>
            <a:srgbClr val="372472"/>
          </a:solidFill>
        </p:spPr>
        <p:txBody>
          <a:bodyPr wrap="square" rtlCol="0">
            <a:spAutoFit/>
          </a:bodyPr>
          <a:lstStyle/>
          <a:p>
            <a:pPr algn="ctr"/>
            <a:r>
              <a:rPr lang="ko-KR" altLang="en-US" sz="1400" b="1">
                <a:solidFill>
                  <a:schemeClr val="bg1"/>
                </a:solidFill>
              </a:rPr>
              <a:t>서비스 개발에 활용한 기타 </a:t>
            </a:r>
            <a:r>
              <a:rPr lang="en-US" altLang="ko-KR" sz="1400" b="1">
                <a:solidFill>
                  <a:schemeClr val="bg1"/>
                </a:solidFill>
              </a:rPr>
              <a:t>API, </a:t>
            </a:r>
            <a:r>
              <a:rPr lang="ko-KR" altLang="en-US" sz="1400" b="1" err="1">
                <a:solidFill>
                  <a:schemeClr val="bg1"/>
                </a:solidFill>
              </a:rPr>
              <a:t>파일데이터</a:t>
            </a:r>
            <a:endParaRPr lang="ko-KR" altLang="en-US" sz="1400" b="1">
              <a:solidFill>
                <a:schemeClr val="bg1"/>
              </a:solidFill>
            </a:endParaRPr>
          </a:p>
        </p:txBody>
      </p:sp>
      <p:graphicFrame>
        <p:nvGraphicFramePr>
          <p:cNvPr id="7" name="표 6"/>
          <p:cNvGraphicFramePr>
            <a:graphicFrameLocks noGrp="1"/>
          </p:cNvGraphicFramePr>
          <p:nvPr>
            <p:extLst>
              <p:ext uri="{D42A27DB-BD31-4B8C-83A1-F6EECF244321}">
                <p14:modId xmlns:p14="http://schemas.microsoft.com/office/powerpoint/2010/main" val="2926134091"/>
              </p:ext>
            </p:extLst>
          </p:nvPr>
        </p:nvGraphicFramePr>
        <p:xfrm>
          <a:off x="174566" y="1646098"/>
          <a:ext cx="11628657" cy="2265680"/>
        </p:xfrm>
        <a:graphic>
          <a:graphicData uri="http://schemas.openxmlformats.org/drawingml/2006/table">
            <a:tbl>
              <a:tblPr firstRow="1" bandRow="1">
                <a:tableStyleId>{5C22544A-7EE6-4342-B048-85BDC9FD1C3A}</a:tableStyleId>
              </a:tblPr>
              <a:tblGrid>
                <a:gridCol w="821150">
                  <a:extLst>
                    <a:ext uri="{9D8B030D-6E8A-4147-A177-3AD203B41FA5}">
                      <a16:colId xmlns:a16="http://schemas.microsoft.com/office/drawing/2014/main" val="842166946"/>
                    </a:ext>
                  </a:extLst>
                </a:gridCol>
                <a:gridCol w="1816388">
                  <a:extLst>
                    <a:ext uri="{9D8B030D-6E8A-4147-A177-3AD203B41FA5}">
                      <a16:colId xmlns:a16="http://schemas.microsoft.com/office/drawing/2014/main" val="3903607114"/>
                    </a:ext>
                  </a:extLst>
                </a:gridCol>
                <a:gridCol w="8991119">
                  <a:extLst>
                    <a:ext uri="{9D8B030D-6E8A-4147-A177-3AD203B41FA5}">
                      <a16:colId xmlns:a16="http://schemas.microsoft.com/office/drawing/2014/main" val="2519424337"/>
                    </a:ext>
                  </a:extLst>
                </a:gridCol>
              </a:tblGrid>
              <a:tr h="370840">
                <a:tc rowSpan="2">
                  <a:txBody>
                    <a:bodyPr/>
                    <a:lstStyle/>
                    <a:p>
                      <a:pPr algn="ctr" latinLnBrk="1"/>
                      <a:r>
                        <a:rPr lang="en-US" altLang="ko-KR" sz="3200" b="1">
                          <a:solidFill>
                            <a:srgbClr val="1A1A1A"/>
                          </a:solidFill>
                        </a:rPr>
                        <a:t>1</a:t>
                      </a:r>
                      <a:endParaRPr lang="ko-KR" altLang="en-US" sz="3200" b="1">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r>
                        <a:rPr lang="ko-KR" altLang="en-US" b="1" err="1">
                          <a:solidFill>
                            <a:srgbClr val="1A1A1A"/>
                          </a:solidFill>
                        </a:rPr>
                        <a:t>데이터명</a:t>
                      </a:r>
                      <a:endParaRPr lang="ko-KR" altLang="en-US"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000">
                          <a:solidFill>
                            <a:srgbClr val="1A1A1A"/>
                          </a:solidFill>
                        </a:rPr>
                        <a:t>한국관광 데이터랩 축제 목록 (공사 웹, 정적 수집 · OpenAPI 아님)</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377720883"/>
                  </a:ext>
                </a:extLst>
              </a:tr>
              <a:tr h="370840">
                <a:tc vMerge="1">
                  <a:txBody>
                    <a:bodyPr/>
                    <a:lstStyle/>
                    <a:p>
                      <a:pPr latinLnBrk="1"/>
                      <a:endParaRPr lang="ko-KR" altLang="en-US" dirty="0"/>
                    </a:p>
                  </a:txBody>
                  <a:tcPr/>
                </a:tc>
                <a:tc>
                  <a:txBody>
                    <a:bodyPr/>
                    <a:lstStyle/>
                    <a:p>
                      <a:pPr algn="ctr" latinLnBrk="1"/>
                      <a:r>
                        <a:rPr lang="ko-KR" altLang="en-US" b="1">
                          <a:solidFill>
                            <a:srgbClr val="1A1A1A"/>
                          </a:solidFill>
                        </a:rPr>
                        <a:t>상세설명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000">
                          <a:solidFill>
                            <a:srgbClr val="1A1A1A"/>
                          </a:solidFill>
                        </a:rPr>
                        <a:t>전국 축제 619건의 이름·지역·기간·테마. 배수는 목록 값이 아니라 위 KT 일별 자료로 619/619 재계산. 또래 구간과 닮은 과거 축제(보조 근거)의 표본.</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7522436"/>
                  </a:ext>
                </a:extLst>
              </a:tr>
              <a:tr h="381000">
                <a:tc rowSpan="2">
                  <a:txBody>
                    <a:bodyPr/>
                    <a:lstStyle/>
                    <a:p>
                      <a:pPr algn="ctr" latinLnBrk="1"/>
                      <a:r>
                        <a:rPr lang="en-US" altLang="ko-KR" sz="3200" b="1">
                          <a:solidFill>
                            <a:srgbClr val="1A1A1A"/>
                          </a:solidFill>
                        </a:rPr>
                        <a:t>2</a:t>
                      </a:r>
                      <a:endParaRPr lang="ko-KR" altLang="en-US" sz="3200" b="1">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r>
                        <a:rPr lang="ko-KR" altLang="en-US" b="1" err="1">
                          <a:solidFill>
                            <a:srgbClr val="1A1A1A"/>
                          </a:solidFill>
                        </a:rPr>
                        <a:t>데이터명</a:t>
                      </a:r>
                      <a:endParaRPr lang="ko-KR" altLang="en-US"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000">
                          <a:solidFill>
                            <a:srgbClr val="1A1A1A"/>
                          </a:solidFill>
                        </a:rPr>
                        <a:t>행정안전부 주민등록 인구 (data.go.kr 15097972, 2026-08 기준)</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858026807"/>
                  </a:ext>
                </a:extLst>
              </a:tr>
              <a:tr h="381000">
                <a:tc vMerge="1">
                  <a:txBody>
                    <a:bodyPr/>
                    <a:lstStyle/>
                    <a:p>
                      <a:pPr latinLnBrk="1"/>
                      <a:endParaRPr lang="ko-KR" altLang="en-US"/>
                    </a:p>
                  </a:txBody>
                  <a:tcPr/>
                </a:tc>
                <a:tc>
                  <a:txBody>
                    <a:bodyPr/>
                    <a:lstStyle/>
                    <a:p>
                      <a:pPr algn="ctr" latinLnBrk="1"/>
                      <a:r>
                        <a:rPr lang="ko-KR" altLang="en-US" b="1">
                          <a:solidFill>
                            <a:srgbClr val="1A1A1A"/>
                          </a:solidFill>
                        </a:rPr>
                        <a:t>상세설명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000">
                          <a:solidFill>
                            <a:srgbClr val="1A1A1A"/>
                          </a:solidFill>
                        </a:rPr>
                        <a:t>시군구 인구. 또래(같은 인구 구간) 구간의 기준이고 닮음 판정 다섯 축 중 하나. 담당자 입력 → 행안부 표 → 없음 순.</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3851369"/>
                  </a:ext>
                </a:extLst>
              </a:tr>
              <a:tr h="381000">
                <a:tc rowSpan="2">
                  <a:txBody>
                    <a:bodyPr/>
                    <a:lstStyle/>
                    <a:p>
                      <a:pPr algn="ctr" latinLnBrk="1"/>
                      <a:r>
                        <a:rPr lang="en-US" altLang="ko-KR" sz="3200" b="1">
                          <a:solidFill>
                            <a:srgbClr val="1A1A1A"/>
                          </a:solidFill>
                        </a:rPr>
                        <a:t>3</a:t>
                      </a:r>
                      <a:endParaRPr lang="ko-KR" altLang="en-US" sz="3200" b="1">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r>
                        <a:rPr lang="ko-KR" altLang="en-US" b="1" err="1">
                          <a:solidFill>
                            <a:srgbClr val="1A1A1A"/>
                          </a:solidFill>
                        </a:rPr>
                        <a:t>데이터명</a:t>
                      </a:r>
                      <a:endParaRPr lang="ko-KR" altLang="en-US"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000">
                          <a:solidFill>
                            <a:srgbClr val="1A1A1A"/>
                          </a:solidFill>
                        </a:rPr>
                        <a:t>OpenStreetMap 부지·도로·산책로 + 군포철쭉축제 2026 공식 안내도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087554315"/>
                  </a:ext>
                </a:extLst>
              </a:tr>
              <a:tr h="381000">
                <a:tc vMerge="1">
                  <a:txBody>
                    <a:bodyPr/>
                    <a:lstStyle/>
                    <a:p>
                      <a:pPr algn="ctr" latinLnBrk="1"/>
                      <a:endParaRPr lang="ko-KR" altLang="en-US" sz="3200"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chemeClr val="tx1"/>
                    </a:solidFill>
                  </a:tcPr>
                </a:tc>
                <a:tc>
                  <a:txBody>
                    <a:bodyPr/>
                    <a:lstStyle/>
                    <a:p>
                      <a:pPr algn="ctr" latinLnBrk="1"/>
                      <a:r>
                        <a:rPr lang="ko-KR" altLang="en-US" b="1">
                          <a:solidFill>
                            <a:srgbClr val="1A1A1A"/>
                          </a:solidFill>
                        </a:rPr>
                        <a:t>상세설명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000">
                          <a:solidFill>
                            <a:srgbClr val="1A1A1A"/>
                          </a:solidFill>
                        </a:rPr>
                        <a:t>행사장 도면(군포 1건)의 바닥과 부스 배치. 부스 좌표는 georeference 전 가정이라고 화면에 적습니다.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090228473"/>
                  </a:ext>
                </a:extLst>
              </a:tr>
              <a:tr h="381000">
                <a:tc rowSpan="2">
                  <a:txBody>
                    <a:bodyPr/>
                    <a:lstStyle/>
                    <a:p>
                      <a:pPr algn="ctr" latinLnBrk="1"/>
                      <a:r>
                        <a:rPr lang="en-US" altLang="ko-KR" sz="3200" b="1">
                          <a:solidFill>
                            <a:srgbClr val="1A1A1A"/>
                          </a:solidFill>
                        </a:rPr>
                        <a:t>4</a:t>
                      </a:r>
                      <a:endParaRPr lang="ko-KR" altLang="en-US" sz="3200" b="1">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r>
                        <a:rPr lang="ko-KR" altLang="en-US" b="1" err="1">
                          <a:solidFill>
                            <a:srgbClr val="1A1A1A"/>
                          </a:solidFill>
                        </a:rPr>
                        <a:t>데이터명</a:t>
                      </a:r>
                      <a:endParaRPr lang="ko-KR" altLang="en-US"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000">
                          <a:solidFill>
                            <a:srgbClr val="1A1A1A"/>
                          </a:solidFill>
                        </a:rPr>
                        <a:t>국토교통부 브이월드 지도 타일 (WMTS) · Natural Earth 1:10m (퍼블릭 도메인)</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858026807"/>
                  </a:ext>
                </a:extLst>
              </a:tr>
              <a:tr h="381000">
                <a:tc vMerge="1">
                  <a:txBody>
                    <a:bodyPr/>
                    <a:lstStyle/>
                    <a:p>
                      <a:pPr latinLnBrk="1"/>
                      <a:endParaRPr lang="ko-KR" altLang="en-US"/>
                    </a:p>
                  </a:txBody>
                  <a:tcPr/>
                </a:tc>
                <a:tc>
                  <a:txBody>
                    <a:bodyPr/>
                    <a:lstStyle/>
                    <a:p>
                      <a:pPr algn="ctr" latinLnBrk="1"/>
                      <a:r>
                        <a:rPr lang="ko-KR" altLang="en-US" b="1">
                          <a:solidFill>
                            <a:srgbClr val="1A1A1A"/>
                          </a:solidFill>
                        </a:rPr>
                        <a:t>상세설명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000">
                          <a:solidFill>
                            <a:srgbClr val="1A1A1A"/>
                          </a:solidFill>
                        </a:rPr>
                        <a:t>도면 화면의 위성·일반 배경(대조용)과 닮은 축제 지도의 해안선. 판정에는 쓰지 않습니다.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3851369"/>
                  </a:ext>
                </a:extLst>
              </a:tr>
              <a:tr h="381000">
                <a:tc rowSpan="2">
                  <a:txBody>
                    <a:bodyPr/>
                    <a:lstStyle/>
                    <a:p>
                      <a:pPr algn="ctr" latinLnBrk="1"/>
                      <a:r>
                        <a:rPr lang="en-US" altLang="ko-KR" sz="3200" b="1">
                          <a:solidFill>
                            <a:srgbClr val="1A1A1A"/>
                          </a:solidFill>
                        </a:rPr>
                        <a:t>5</a:t>
                      </a:r>
                      <a:endParaRPr lang="ko-KR" altLang="en-US" sz="3200" b="1">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r>
                        <a:rPr lang="ko-KR" altLang="en-US" b="1" err="1">
                          <a:solidFill>
                            <a:srgbClr val="1A1A1A"/>
                          </a:solidFill>
                        </a:rPr>
                        <a:t>데이터명</a:t>
                      </a:r>
                      <a:endParaRPr lang="ko-KR" altLang="en-US"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000">
                          <a:solidFill>
                            <a:srgbClr val="1A1A1A"/>
                          </a:solidFill>
                        </a:rPr>
                        <a:t>우주항공청 월력요항 (공휴일, 2018~2027)</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858026807"/>
                  </a:ext>
                </a:extLst>
              </a:tr>
              <a:tr h="381000">
                <a:tc vMerge="1">
                  <a:txBody>
                    <a:bodyPr/>
                    <a:lstStyle/>
                    <a:p>
                      <a:pPr latinLnBrk="1"/>
                      <a:endParaRPr lang="ko-KR" altLang="en-US"/>
                    </a:p>
                  </a:txBody>
                  <a:tcPr/>
                </a:tc>
                <a:tc>
                  <a:txBody>
                    <a:bodyPr/>
                    <a:lstStyle/>
                    <a:p>
                      <a:pPr algn="ctr" latinLnBrk="1"/>
                      <a:r>
                        <a:rPr lang="ko-KR" altLang="en-US" b="1">
                          <a:solidFill>
                            <a:srgbClr val="1A1A1A"/>
                          </a:solidFill>
                        </a:rPr>
                        <a:t>상세설명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000">
                          <a:solidFill>
                            <a:srgbClr val="1A1A1A"/>
                          </a:solidFill>
                        </a:rPr>
                        <a:t>축제 신호 계산에서 설·추석 연휴를 평소 창에서 제외하고 겹치면 표시. 판정 배수에는 넣지 않습니다.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3851369"/>
                  </a:ext>
                </a:extLst>
              </a:tr>
            </a:tbl>
          </a:graphicData>
        </a:graphic>
      </p:graphicFrame>
    </p:spTree>
    <p:extLst>
      <p:ext uri="{BB962C8B-B14F-4D97-AF65-F5344CB8AC3E}">
        <p14:creationId xmlns:p14="http://schemas.microsoft.com/office/powerpoint/2010/main" val="3177356487"/>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표 2"/>
          <p:cNvGraphicFramePr>
            <a:graphicFrameLocks noGrp="1"/>
          </p:cNvGraphicFramePr>
          <p:nvPr>
            <p:extLst>
              <p:ext uri="{D42A27DB-BD31-4B8C-83A1-F6EECF244321}">
                <p14:modId xmlns:p14="http://schemas.microsoft.com/office/powerpoint/2010/main" val="1957205643"/>
              </p:ext>
            </p:extLst>
          </p:nvPr>
        </p:nvGraphicFramePr>
        <p:xfrm>
          <a:off x="287250" y="1218429"/>
          <a:ext cx="11649825" cy="5070000"/>
        </p:xfrm>
        <a:graphic>
          <a:graphicData uri="http://schemas.openxmlformats.org/drawingml/2006/table">
            <a:tbl>
              <a:tblPr firstRow="1" bandRow="1">
                <a:tableStyleId>{5C22544A-7EE6-4342-B048-85BDC9FD1C3A}</a:tableStyleId>
              </a:tblPr>
              <a:tblGrid>
                <a:gridCol w="1955222">
                  <a:extLst>
                    <a:ext uri="{9D8B030D-6E8A-4147-A177-3AD203B41FA5}">
                      <a16:colId xmlns:a16="http://schemas.microsoft.com/office/drawing/2014/main" val="1299753452"/>
                    </a:ext>
                  </a:extLst>
                </a:gridCol>
                <a:gridCol w="9694603">
                  <a:extLst>
                    <a:ext uri="{9D8B030D-6E8A-4147-A177-3AD203B41FA5}">
                      <a16:colId xmlns:a16="http://schemas.microsoft.com/office/drawing/2014/main" val="3999346814"/>
                    </a:ext>
                  </a:extLst>
                </a:gridCol>
              </a:tblGrid>
              <a:tr h="2540000">
                <a:tc>
                  <a:txBody>
                    <a:bodyPr/>
                    <a:lstStyle/>
                    <a:p>
                      <a:pPr algn="ctr" latinLnBrk="1"/>
                      <a:r>
                        <a:rPr lang="ko-KR" altLang="en-US" b="1">
                          <a:solidFill>
                            <a:schemeClr val="bg1"/>
                          </a:solidFill>
                        </a:rPr>
                        <a:t>차별성</a:t>
                      </a:r>
                      <a:endParaRPr lang="en-US" altLang="ko-KR"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lvl="0" indent="0" algn="just" rtl="0">
                        <a:spcBef>
                          <a:spcPts val="0"/>
                        </a:spcBef>
                        <a:spcAft>
                          <a:spcPts val="0"/>
                        </a:spcAft>
                        <a:buNone/>
                      </a:pPr>
                      <a:r>
                        <a:rPr lang="en-US" altLang="ko-KR" sz="1000" b="0">
                          <a:solidFill>
                            <a:srgbClr val="1A1A1A"/>
                          </a:solidFill>
                          <a:latin typeface="+mn-lt"/>
                        </a:rPr>
                        <a:t>첫째, 발표치가 아니라 실측이 판정합니다. 자(尺)는 이 축제 자신이 지난 회차에 겪은 공사 KT 일별 실측 배수이고, 기획안의 숫자를 그 자로 세 번 잽니다. 예상 방문객 수를 새로 만들어 내지 않으므로 틀릴 수 있는 예측기가 되지 않습니다.</a:t>
                      </a:r>
                      <a:endParaRPr lang="en-US" altLang="ko-KR" sz="1800" b="0">
                        <a:solidFill>
                          <a:srgbClr val="FF0000"/>
                        </a:solidFill>
                        <a:latin typeface="+mn-lt"/>
                      </a:endParaRPr>
                    </a:p>
                    <a:p>
                      <a:pPr marL="0" lvl="0" indent="0" algn="just" rtl="0">
                        <a:spcBef>
                          <a:spcPts val="0"/>
                        </a:spcBef>
                        <a:spcAft>
                          <a:spcPts val="0"/>
                        </a:spcAft>
                        <a:buNone/>
                      </a:pPr>
                      <a:r>
                        <a:rPr lang="en-US" altLang="ko-KR" sz="1000" b="0">
                          <a:solidFill>
                            <a:srgbClr val="1A1A1A"/>
                          </a:solidFill>
                          <a:latin typeface="+mn-lt"/>
                        </a:rPr>
                        <a:t>둘째, 공사 데이터를 한 번 부르는 것이 아니라 전수로 적재했습니다(시군구 272개 × 최장 2,658일, 시군구마다 시작일이 달라 합계 697,403행). 데이터랩 축제 목록 619건의 배수도 같은 자료로 전부 다시 계산해, 또래 비교와 자기검증(정밀도 65.8% · 재현율 61.6% · 무작위 대비 3.26배)이 같은 정의 위에 섭니다.</a:t>
                      </a:r>
                      <a:endParaRPr lang="en-US" altLang="ko-KR" sz="1800" b="0">
                        <a:solidFill>
                          <a:srgbClr val="FF0000"/>
                        </a:solidFill>
                        <a:latin typeface="+mn-lt"/>
                      </a:endParaRPr>
                    </a:p>
                    <a:p>
                      <a:pPr marL="0" lvl="0" indent="0" algn="just" rtl="0">
                        <a:spcBef>
                          <a:spcPts val="0"/>
                        </a:spcBef>
                        <a:spcAft>
                          <a:spcPts val="0"/>
                        </a:spcAft>
                        <a:buNone/>
                      </a:pPr>
                      <a:r>
                        <a:rPr lang="en-US" altLang="ko-KR" sz="1000" b="0">
                          <a:solidFill>
                            <a:srgbClr val="1A1A1A"/>
                          </a:solidFill>
                          <a:latin typeface="+mn-lt"/>
                        </a:rPr>
                        <a:t>셋째, 출력이 결재 문서입니다. 판정문 + 보완 문장 + 검증 보고서 A4 2장. 담당자가 예산 심의에서 "왜 이 숫자인가"에 댈 근거입니다.</a:t>
                      </a:r>
                      <a:endParaRPr lang="en-US" altLang="ko-KR" sz="1800" b="0">
                        <a:solidFill>
                          <a:srgbClr val="FF0000"/>
                        </a:solidFill>
                        <a:latin typeface="+mn-lt"/>
                      </a:endParaRPr>
                    </a:p>
                    <a:p>
                      <a:pPr marL="0" lvl="0" indent="0" algn="just" rtl="0">
                        <a:spcBef>
                          <a:spcPts val="0"/>
                        </a:spcBef>
                        <a:spcAft>
                          <a:spcPts val="0"/>
                        </a:spcAft>
                        <a:buNone/>
                      </a:pPr>
                      <a:r>
                        <a:rPr lang="en-US" altLang="ko-KR" sz="1000" b="0">
                          <a:solidFill>
                            <a:srgbClr val="1A1A1A"/>
                          </a:solidFill>
                          <a:latin typeface="+mn-lt"/>
                        </a:rPr>
                        <a:t>넷째, 화면이 자기 한계를 먼저 말합니다. 명·원 숫자는 출처 셀로만 나가고(e2e 가 셉니다), 임계값은 정한 값이라고 적으며, 내년 구간의 적중률은 −52주 근사(표본 381건, 두 해 채택 325건 중 167건(51.4%))로만 쟀다고 카드가 말합니다. 판정·시뮬에 생성형 모델을 쓰지 않아 같은 입력에 늘 같은 답입니다.</a:t>
                      </a:r>
                      <a:endParaRPr lang="en-US" altLang="ko-KR" sz="1800" b="0">
                        <a:solidFill>
                          <a:srgbClr val="FF0000"/>
                        </a:solidFill>
                        <a:latin typeface="+mn-lt"/>
                      </a:endParaRPr>
                    </a:p>
                    <a:p>
                      <a:pPr marL="0" lvl="0" indent="0" algn="just" rtl="0">
                        <a:spcBef>
                          <a:spcPts val="0"/>
                        </a:spcBef>
                        <a:spcAft>
                          <a:spcPts val="0"/>
                        </a:spcAft>
                        <a:buNone/>
                      </a:pPr>
                      <a:r>
                        <a:rPr lang="en-US" altLang="ko-KR" sz="750" b="0">
                          <a:solidFill>
                            <a:srgbClr val="1A1A1A"/>
                          </a:solidFill>
                          <a:latin typeface="+mn-lt"/>
                        </a:rPr>
                        <a:t>완성 판정 화면(클릭) — 군포철쭉축제 2027 → 주의: </a:t>
                      </a:r>
                      <a:r>
                        <a:rPr lang="en-US" altLang="ko-KR" sz="750" b="0">
                          <a:solidFill>
                            <a:srgbClr val="1A1A1A"/>
                          </a:solidFill>
                          <a:latin typeface="+mn-lt"/>
                          <a:hlinkClick r:id="rId2"/>
                        </a:rPr>
                        <a:t>https://oneshot-mvp.vercel.app/check?name=%EA%B5%B0%ED%8F%AC%EC%B2%A0%EC%AD%89%EC%B6%95%EC%A0%9C&amp;sido=%EA%B2%BD%EA%B8%B0&amp;sigungu=%EA%B5%B0%ED%8F%AC%EC%8B%9C&amp;n=600000&amp;basis=period&amp;counting=personDays&amp;budget=100000&amp;start=2027-04-17&amp;end=2027-04-25&amp;h1s=2024-04-20&amp;h1e=2024-04-28&amp;h2s=2025-04-19&amp;h2e=2025-04-27&amp;h3s=2026-04-18&amp;h3e=2026-04-26&amp;theme=2&amp;acc=4</a:t>
                      </a:r>
                      <a:endParaRPr lang="en-US" altLang="ko-KR" sz="1800" b="0">
                        <a:solidFill>
                          <a:srgbClr val="FF0000"/>
                        </a:solidFill>
                        <a:latin typeface="+mn-lt"/>
                      </a:endParaRPr>
                    </a:p>
                    <a:p>
                      <a:pPr marL="0" lvl="0" indent="0" algn="just" rtl="0">
                        <a:spcBef>
                          <a:spcPts val="0"/>
                        </a:spcBef>
                        <a:spcAft>
                          <a:spcPts val="0"/>
                        </a:spcAft>
                        <a:buNone/>
                      </a:pPr>
                      <a:r>
                        <a:rPr lang="en-US" altLang="ko-KR" sz="750" b="0">
                          <a:solidFill>
                            <a:srgbClr val="1A1A1A"/>
                          </a:solidFill>
                          <a:latin typeface="+mn-lt"/>
                        </a:rPr>
                        <a:t>화천산천어축제 2027 → 상한 초과: </a:t>
                      </a:r>
                      <a:r>
                        <a:rPr lang="en-US" altLang="ko-KR" sz="750" b="0">
                          <a:solidFill>
                            <a:srgbClr val="1A1A1A"/>
                          </a:solidFill>
                          <a:latin typeface="+mn-lt"/>
                          <a:hlinkClick r:id="rId3"/>
                        </a:rPr>
                        <a:t>https://oneshot-mvp.vercel.app/check?name=%ED%99%94%EC%B2%9C%EC%82%B0%EC%B2%9C%EC%96%B4%EC%B6%95%EC%A0%9C&amp;sido=%EA%B0%95%EC%9B%90&amp;sigungu=%ED%99%94%EC%B2%9C%EA%B5%B0&amp;n=1860000&amp;basis=period&amp;counting=personDays&amp;pop=2.3&amp;start=2027-01-09&amp;end=2027-01-31&amp;h1s=2024-01-06&amp;h1e=2024-01-28&amp;h2s=2025-01-11&amp;h2e=2025-02-02&amp;h3s=2026-01-10&amp;h3e=2026-02-01</a:t>
                      </a:r>
                      <a:endParaRPr lang="en-US" altLang="ko-KR" sz="1800" b="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903409156"/>
                  </a:ext>
                </a:extLst>
              </a:tr>
              <a:tr h="2530000">
                <a:tc>
                  <a:txBody>
                    <a:bodyPr/>
                    <a:lstStyle/>
                    <a:p>
                      <a:pPr algn="ctr" latinLnBrk="1"/>
                      <a:r>
                        <a:rPr lang="ko-KR" altLang="en-US" b="1">
                          <a:solidFill>
                            <a:schemeClr val="bg1"/>
                          </a:solidFill>
                        </a:rPr>
                        <a:t>발전계획</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000">
                          <a:solidFill>
                            <a:srgbClr val="1A1A1A"/>
                          </a:solidFill>
                          <a:latin typeface="+mn-lt"/>
                        </a:rPr>
                        <a:t>1) 공사 소비·내비게이션 검색·SNS 지수(AreaTarResDemService) 연동 — 활용신청 진행 중. 예산 항목별(먹거리·주차·홍보) 근거를 같은 판정문 안에 늘립니다.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000">
                          <a:solidFill>
                            <a:srgbClr val="1A1A1A"/>
                          </a:solidFill>
                          <a:latin typeface="+mn-lt"/>
                        </a:rPr>
                        <a:t>2) 다년 기간 수집 — 문화체육관광부 지역축제 파일의 회차별 기간을 모아 −52주 근사가 아니라 실제 다년 표본으로 내년 구간의 적중률을 다시 재고, 임계값도 군포 한 건이 아니라 다도시로 다시 맞춥니다.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000">
                          <a:solidFill>
                            <a:srgbClr val="1A1A1A"/>
                          </a:solidFill>
                          <a:latin typeface="+mn-lt"/>
                        </a:rPr>
                        <a:t>3) 사후 평가 루프 — 개최 뒤 실측이 데이터랩에 쌓이면 기획안 대비 실적을 같은 자로 다시 재고 다음 기획안 판정에 넘깁니다. 담당자 업무가 결과보고서 → 내년 기획안으로 이어지는 흐름 그대로입니다.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000">
                          <a:solidFill>
                            <a:srgbClr val="1A1A1A"/>
                          </a:solidFill>
                          <a:latin typeface="+mn-lt"/>
                        </a:rPr>
                        <a:t>4) 안전관리계획 서식 연동 — 행정안전부 「지역축제장 안전관리 매뉴얼」의 "최대 수용인원"·"관람객 동선" 칸에 판정표와 도면 시뮬레이션 결과를 그대로 붙여, 매뉴얼에 없는 통로 폭·밀집도 산출 근거의 빈칸을 채웁니다.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000">
                          <a:solidFill>
                            <a:srgbClr val="1A1A1A"/>
                          </a:solidFill>
                          <a:latin typeface="+mn-lt"/>
                        </a:rPr>
                        <a:t>5) 배치도 자동 인식 — 지금은 배치도를 밑그림으로 깔고 따라 그립니다. 실물 배치도로 정확도를 잰 뒤 모델 초안 생성을 붙입니다.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000">
                          <a:solidFill>
                            <a:srgbClr val="1A1A1A"/>
                          </a:solidFill>
                          <a:latin typeface="+mn-lt"/>
                        </a:rPr>
                        <a:t>운영: 정적 사이트 + 서버리스(Vercel)라 고정비가 없고, 공사 데이터는 월 1회 프리페치(개발계정 1,000회/일 안)로 갱신합니다. 운영계정 전환 시 실시간 호출 한도 문제도 사라집니다.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17412154"/>
                  </a:ext>
                </a:extLst>
              </a:tr>
            </a:tbl>
          </a:graphicData>
        </a:graphic>
      </p:graphicFrame>
    </p:spTree>
    <p:extLst>
      <p:ext uri="{BB962C8B-B14F-4D97-AF65-F5344CB8AC3E}">
        <p14:creationId xmlns:p14="http://schemas.microsoft.com/office/powerpoint/2010/main" val="3988568962"/>
      </p:ext>
    </p:extLst>
  </p:cSld>
  <p:clrMapOvr>
    <a:masterClrMapping/>
  </p:clrMapOvr>
  <p:timing>
    <p:tnLst>
      <p:par>
        <p:cTn id="1" dur="indefinite" restart="never" nodeType="tmRoot"/>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5" name="표 4"/>
          <p:cNvGraphicFramePr>
            <a:graphicFrameLocks noGrp="1"/>
          </p:cNvGraphicFramePr>
          <p:nvPr>
            <p:extLst>
              <p:ext uri="{D42A27DB-BD31-4B8C-83A1-F6EECF244321}">
                <p14:modId xmlns:p14="http://schemas.microsoft.com/office/powerpoint/2010/main" val="1504402377"/>
              </p:ext>
            </p:extLst>
          </p:nvPr>
        </p:nvGraphicFramePr>
        <p:xfrm>
          <a:off x="302952" y="2702225"/>
          <a:ext cx="11426308" cy="3836943"/>
        </p:xfrm>
        <a:graphic>
          <a:graphicData uri="http://schemas.openxmlformats.org/drawingml/2006/table">
            <a:tbl>
              <a:tblPr firstRow="1" bandRow="1">
                <a:tableStyleId>{5C22544A-7EE6-4342-B048-85BDC9FD1C3A}</a:tableStyleId>
              </a:tblPr>
              <a:tblGrid>
                <a:gridCol w="2856577">
                  <a:extLst>
                    <a:ext uri="{9D8B030D-6E8A-4147-A177-3AD203B41FA5}">
                      <a16:colId xmlns:a16="http://schemas.microsoft.com/office/drawing/2014/main" val="956832101"/>
                    </a:ext>
                  </a:extLst>
                </a:gridCol>
                <a:gridCol w="2856577">
                  <a:extLst>
                    <a:ext uri="{9D8B030D-6E8A-4147-A177-3AD203B41FA5}">
                      <a16:colId xmlns:a16="http://schemas.microsoft.com/office/drawing/2014/main" val="2325135401"/>
                    </a:ext>
                  </a:extLst>
                </a:gridCol>
                <a:gridCol w="2856577">
                  <a:extLst>
                    <a:ext uri="{9D8B030D-6E8A-4147-A177-3AD203B41FA5}">
                      <a16:colId xmlns:a16="http://schemas.microsoft.com/office/drawing/2014/main" val="1669866357"/>
                    </a:ext>
                  </a:extLst>
                </a:gridCol>
                <a:gridCol w="2856577">
                  <a:extLst>
                    <a:ext uri="{9D8B030D-6E8A-4147-A177-3AD203B41FA5}">
                      <a16:colId xmlns:a16="http://schemas.microsoft.com/office/drawing/2014/main" val="1337599892"/>
                    </a:ext>
                  </a:extLst>
                </a:gridCol>
              </a:tblGrid>
              <a:tr h="321846">
                <a:tc gridSpan="4">
                  <a:txBody>
                    <a:bodyPr/>
                    <a:lstStyle/>
                    <a:p>
                      <a:pPr algn="ctr" latinLnBrk="1"/>
                      <a:r>
                        <a:rPr lang="ko-KR" altLang="en-US">
                          <a:solidFill>
                            <a:schemeClr val="bg1"/>
                          </a:solidFill>
                        </a:rPr>
                        <a:t>기능</a:t>
                      </a:r>
                      <a:r>
                        <a:rPr lang="ko-KR" altLang="en-US" baseline="0">
                          <a:solidFill>
                            <a:schemeClr val="bg1"/>
                          </a:solidFill>
                        </a:rPr>
                        <a:t> </a:t>
                      </a:r>
                      <a:r>
                        <a:rPr lang="ko-KR" altLang="en-US">
                          <a:solidFill>
                            <a:schemeClr val="bg1"/>
                          </a:solidFill>
                        </a:rPr>
                        <a:t>흐름도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extLst>
                  <a:ext uri="{0D108BD9-81ED-4DB2-BD59-A6C34878D82A}">
                    <a16:rowId xmlns:a16="http://schemas.microsoft.com/office/drawing/2014/main" val="1032358826"/>
                  </a:ext>
                </a:extLst>
              </a:tr>
              <a:tr h="2282463">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a:solidFill>
                            <a:srgbClr val="1A1A1A"/>
                          </a:solidFill>
                          <a:latin typeface="+mn-lt"/>
                        </a:rPr>
                        <a:t/>
                      </a:r>
                      <a:endParaRPr lang="en-US" altLang="ko-KR" sz="1800" b="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57600838"/>
                  </a:ext>
                </a:extLst>
              </a:tr>
              <a:tr h="1166258">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a:solidFill>
                            <a:srgbClr val="1A1A1A"/>
                          </a:solidFill>
                          <a:latin typeface="+mn-lt"/>
                        </a:rPr>
                        <a:t>① 판정 화면 맨 위 라벨(통과/주의/과대/과소/상한 초과/근거 없음)과 한 문단 판정문</a:t>
                      </a:r>
                      <a:endParaRPr lang="en-US" altLang="ko-KR" b="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② 판정표: 1단계 모집단 상한 → 2단계 순증분 → 3단계 동일 정의 배수(임계값 표기)</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③ 내년 배수 구간 카드(평균·최대일) + 또래 구간 + 자기 이력 연도별 배수·축제 신호</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④ 이력이 없으면 "근거 없음"과 또래 구간만 낸다 — 지어내지 않는다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bl>
          </a:graphicData>
        </a:graphic>
      </p:graphicFrame>
      <p:graphicFrame>
        <p:nvGraphicFramePr>
          <p:cNvPr id="6" name="표 5"/>
          <p:cNvGraphicFramePr>
            <a:graphicFrameLocks noGrp="1"/>
          </p:cNvGraphicFramePr>
          <p:nvPr>
            <p:extLst>
              <p:ext uri="{D42A27DB-BD31-4B8C-83A1-F6EECF244321}">
                <p14:modId xmlns:p14="http://schemas.microsoft.com/office/powerpoint/2010/main" val="2591979266"/>
              </p:ext>
            </p:extLst>
          </p:nvPr>
        </p:nvGraphicFramePr>
        <p:xfrm>
          <a:off x="302952" y="1130530"/>
          <a:ext cx="11426308" cy="1371600"/>
        </p:xfrm>
        <a:graphic>
          <a:graphicData uri="http://schemas.openxmlformats.org/drawingml/2006/table">
            <a:tbl>
              <a:tblPr firstRow="1" bandRow="1">
                <a:tableStyleId>{5C22544A-7EE6-4342-B048-85BDC9FD1C3A}</a:tableStyleId>
              </a:tblPr>
              <a:tblGrid>
                <a:gridCol w="1782764">
                  <a:extLst>
                    <a:ext uri="{9D8B030D-6E8A-4147-A177-3AD203B41FA5}">
                      <a16:colId xmlns:a16="http://schemas.microsoft.com/office/drawing/2014/main" val="837638667"/>
                    </a:ext>
                  </a:extLst>
                </a:gridCol>
                <a:gridCol w="9643544">
                  <a:extLst>
                    <a:ext uri="{9D8B030D-6E8A-4147-A177-3AD203B41FA5}">
                      <a16:colId xmlns:a16="http://schemas.microsoft.com/office/drawing/2014/main" val="2364043552"/>
                    </a:ext>
                  </a:extLst>
                </a:gridCol>
              </a:tblGrid>
              <a:tr h="182880">
                <a:tc>
                  <a:txBody>
                    <a:bodyPr/>
                    <a:lstStyle/>
                    <a:p>
                      <a:pPr algn="ctr" latinLnBrk="1"/>
                      <a:r>
                        <a:rPr lang="ko-KR" altLang="en-US" b="1" dirty="0" smtClean="0">
                          <a:solidFill>
                            <a:srgbClr val="1A1A1A"/>
                          </a:solidFill>
                        </a:rPr>
                        <a:t>해시태그2</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latinLnBrk="1"/>
                      <a:r>
                        <a:rPr lang="en-US" altLang="ko-KR" b="0" dirty="0" smtClean="0" sz="1200">
                          <a:solidFill>
                            <a:srgbClr val="1A1A1A"/>
                          </a:solidFill>
                        </a:rPr>
                        <a:t>#사전 수요 예측</a:t>
                      </a:r>
                      <a:endParaRPr lang="ko-KR" altLang="en-US" b="0" i="1"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576143207"/>
                  </a:ext>
                </a:extLst>
              </a:tr>
              <a:tr h="18288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b="1" dirty="0" err="1" smtClean="0">
                          <a:solidFill>
                            <a:srgbClr val="1A1A1A"/>
                          </a:solidFill>
                        </a:rPr>
                        <a:t>연계기능2</a:t>
                      </a:r>
                      <a:endParaRPr lang="ko-KR" altLang="en-US" b="1" dirty="0"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latinLnBrk="1"/>
                      <a:r>
                        <a:rPr lang="en-US" altLang="ko-KR" b="0" dirty="0" smtClean="0" sz="1200">
                          <a:solidFill>
                            <a:srgbClr val="1A1A1A"/>
                          </a:solidFill>
                        </a:rPr>
                        <a:t>예상 방문객 3단 판정과 내년 배수 구간</a:t>
                      </a:r>
                      <a:endParaRPr lang="ko-KR" altLang="en-US" b="0" i="1"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261657432"/>
                  </a:ext>
                </a:extLst>
              </a:tr>
              <a:tr h="236913">
                <a:tc>
                  <a:txBody>
                    <a:bodyPr/>
                    <a:lstStyle/>
                    <a:p>
                      <a:pPr algn="ctr" latinLnBrk="1"/>
                      <a:r>
                        <a:rPr lang="ko-KR" altLang="en-US" b="1" dirty="0" err="1" smtClean="0">
                          <a:solidFill>
                            <a:srgbClr val="1A1A1A"/>
                          </a:solidFill>
                        </a:rPr>
                        <a:t>기능설명2</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b="0" dirty="0" sz="1100">
                          <a:solidFill>
                            <a:srgbClr val="1A1A1A"/>
                          </a:solidFill>
                        </a:rPr>
                        <a:t>기획안의 숫자를 이 축제 자신의 지난 회차 실측과 같은 자로 세 번 재고, 내년 배수 구간과 흥행 가능성의 위치를 냅니다.</a:t>
                      </a:r>
                      <a:endParaRPr lang="en-US" altLang="ko-KR" b="0" dirty="0" smtClean="0">
                        <a:solidFill>
                          <a:srgbClr val="FF0000"/>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502682219"/>
                  </a:ext>
                </a:extLst>
              </a:tr>
            </a:tbl>
          </a:graphicData>
        </a:graphic>
      </p:graphicFrame>
      <p:pic>
        <p:nvPicPr>
          <p:cNvPr id="7" name="Picture 6" descr="f1_1_home.png"/>
          <p:cNvPicPr>
            <a:picLocks noChangeAspect="1"/>
          </p:cNvPicPr>
          <p:nvPr/>
        </p:nvPicPr>
        <p:blipFill>
          <a:blip r:embed="rId2"/>
          <a:stretch>
            <a:fillRect/>
          </a:stretch>
        </p:blipFill>
        <p:spPr>
          <a:xfrm>
            <a:off x="352952" y="3513866"/>
            <a:ext cx="2756577" cy="1302873"/>
          </a:xfrm>
          <a:prstGeom prst="rect">
            <a:avLst/>
          </a:prstGeom>
        </p:spPr>
      </p:pic>
      <p:pic>
        <p:nvPicPr>
          <p:cNvPr id="8" name="Picture 7" descr="f1_2_underlay.png"/>
          <p:cNvPicPr>
            <a:picLocks noChangeAspect="1"/>
          </p:cNvPicPr>
          <p:nvPr/>
        </p:nvPicPr>
        <p:blipFill>
          <a:blip r:embed="rId3"/>
          <a:stretch>
            <a:fillRect/>
          </a:stretch>
        </p:blipFill>
        <p:spPr>
          <a:xfrm>
            <a:off x="4033808" y="3074071"/>
            <a:ext cx="1108019" cy="2182463"/>
          </a:xfrm>
          <a:prstGeom prst="rect">
            <a:avLst/>
          </a:prstGeom>
        </p:spPr>
      </p:pic>
      <p:pic>
        <p:nvPicPr>
          <p:cNvPr id="9" name="Picture 8" descr="f1_3_venue.png"/>
          <p:cNvPicPr>
            <a:picLocks noChangeAspect="1"/>
          </p:cNvPicPr>
          <p:nvPr/>
        </p:nvPicPr>
        <p:blipFill>
          <a:blip r:embed="rId4"/>
          <a:stretch>
            <a:fillRect/>
          </a:stretch>
        </p:blipFill>
        <p:spPr>
          <a:xfrm>
            <a:off x="6345198" y="3074071"/>
            <a:ext cx="2198393" cy="2182463"/>
          </a:xfrm>
          <a:prstGeom prst="rect">
            <a:avLst/>
          </a:prstGeom>
        </p:spPr>
      </p:pic>
      <p:pic>
        <p:nvPicPr>
          <p:cNvPr id="10" name="Picture 9" descr="f1_4_panel.png"/>
          <p:cNvPicPr>
            <a:picLocks noChangeAspect="1"/>
          </p:cNvPicPr>
          <p:nvPr/>
        </p:nvPicPr>
        <p:blipFill>
          <a:blip r:embed="rId5"/>
          <a:stretch>
            <a:fillRect/>
          </a:stretch>
        </p:blipFill>
        <p:spPr>
          <a:xfrm>
            <a:off x="9669616" y="3074071"/>
            <a:ext cx="1262710" cy="2182463"/>
          </a:xfrm>
          <a:prstGeom prst="rect">
            <a:avLst/>
          </a:prstGeom>
        </p:spPr>
      </p:pic>
      <p:pic>
        <p:nvPicPr>
          <p:cNvPr id="11" name="Picture 10" descr="f2_1_verdict.png"/>
          <p:cNvPicPr>
            <a:picLocks noChangeAspect="1"/>
          </p:cNvPicPr>
          <p:nvPr/>
        </p:nvPicPr>
        <p:blipFill>
          <a:blip r:embed="rId2"/>
          <a:stretch>
            <a:fillRect/>
          </a:stretch>
        </p:blipFill>
        <p:spPr>
          <a:xfrm>
            <a:off x="352952" y="3370317"/>
            <a:ext cx="2756577" cy="1589971"/>
          </a:xfrm>
          <a:prstGeom prst="rect">
            <a:avLst/>
          </a:prstGeom>
        </p:spPr>
      </p:pic>
      <p:pic>
        <p:nvPicPr>
          <p:cNvPr id="12" name="Picture 11" descr="f2_2_stages.png"/>
          <p:cNvPicPr>
            <a:picLocks noChangeAspect="1"/>
          </p:cNvPicPr>
          <p:nvPr/>
        </p:nvPicPr>
        <p:blipFill>
          <a:blip r:embed="rId3"/>
          <a:stretch>
            <a:fillRect/>
          </a:stretch>
        </p:blipFill>
        <p:spPr>
          <a:xfrm>
            <a:off x="3343729" y="3074071"/>
            <a:ext cx="2488177" cy="2182463"/>
          </a:xfrm>
          <a:prstGeom prst="rect">
            <a:avLst/>
          </a:prstGeom>
        </p:spPr>
      </p:pic>
      <p:pic>
        <p:nvPicPr>
          <p:cNvPr id="13" name="Picture 12" descr="f2_3_range.png"/>
          <p:cNvPicPr>
            <a:picLocks noChangeAspect="1"/>
          </p:cNvPicPr>
          <p:nvPr/>
        </p:nvPicPr>
        <p:blipFill>
          <a:blip r:embed="rId4"/>
          <a:stretch>
            <a:fillRect/>
          </a:stretch>
        </p:blipFill>
        <p:spPr>
          <a:xfrm>
            <a:off x="6066106" y="3300206"/>
            <a:ext cx="2756577" cy="1730192"/>
          </a:xfrm>
          <a:prstGeom prst="rect">
            <a:avLst/>
          </a:prstGeom>
        </p:spPr>
      </p:pic>
      <p:pic>
        <p:nvPicPr>
          <p:cNvPr id="14" name="Picture 13" descr="f2_4_first.png"/>
          <p:cNvPicPr>
            <a:picLocks noChangeAspect="1"/>
          </p:cNvPicPr>
          <p:nvPr/>
        </p:nvPicPr>
        <p:blipFill>
          <a:blip r:embed="rId5"/>
          <a:stretch>
            <a:fillRect/>
          </a:stretch>
        </p:blipFill>
        <p:spPr>
          <a:xfrm>
            <a:off x="9590459" y="3074071"/>
            <a:ext cx="1421025" cy="2182463"/>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5" name="표 4"/>
          <p:cNvGraphicFramePr>
            <a:graphicFrameLocks noGrp="1"/>
          </p:cNvGraphicFramePr>
          <p:nvPr>
            <p:extLst>
              <p:ext uri="{D42A27DB-BD31-4B8C-83A1-F6EECF244321}">
                <p14:modId xmlns:p14="http://schemas.microsoft.com/office/powerpoint/2010/main" val="1504402377"/>
              </p:ext>
            </p:extLst>
          </p:nvPr>
        </p:nvGraphicFramePr>
        <p:xfrm>
          <a:off x="302952" y="2702225"/>
          <a:ext cx="11426308" cy="3836943"/>
        </p:xfrm>
        <a:graphic>
          <a:graphicData uri="http://schemas.openxmlformats.org/drawingml/2006/table">
            <a:tbl>
              <a:tblPr firstRow="1" bandRow="1">
                <a:tableStyleId>{5C22544A-7EE6-4342-B048-85BDC9FD1C3A}</a:tableStyleId>
              </a:tblPr>
              <a:tblGrid>
                <a:gridCol w="2856577">
                  <a:extLst>
                    <a:ext uri="{9D8B030D-6E8A-4147-A177-3AD203B41FA5}">
                      <a16:colId xmlns:a16="http://schemas.microsoft.com/office/drawing/2014/main" val="956832101"/>
                    </a:ext>
                  </a:extLst>
                </a:gridCol>
                <a:gridCol w="2856577">
                  <a:extLst>
                    <a:ext uri="{9D8B030D-6E8A-4147-A177-3AD203B41FA5}">
                      <a16:colId xmlns:a16="http://schemas.microsoft.com/office/drawing/2014/main" val="2325135401"/>
                    </a:ext>
                  </a:extLst>
                </a:gridCol>
                <a:gridCol w="2856577">
                  <a:extLst>
                    <a:ext uri="{9D8B030D-6E8A-4147-A177-3AD203B41FA5}">
                      <a16:colId xmlns:a16="http://schemas.microsoft.com/office/drawing/2014/main" val="1669866357"/>
                    </a:ext>
                  </a:extLst>
                </a:gridCol>
                <a:gridCol w="2856577">
                  <a:extLst>
                    <a:ext uri="{9D8B030D-6E8A-4147-A177-3AD203B41FA5}">
                      <a16:colId xmlns:a16="http://schemas.microsoft.com/office/drawing/2014/main" val="1337599892"/>
                    </a:ext>
                  </a:extLst>
                </a:gridCol>
              </a:tblGrid>
              <a:tr h="321846">
                <a:tc gridSpan="4">
                  <a:txBody>
                    <a:bodyPr/>
                    <a:lstStyle/>
                    <a:p>
                      <a:pPr algn="ctr" latinLnBrk="1"/>
                      <a:r>
                        <a:rPr lang="ko-KR" altLang="en-US">
                          <a:solidFill>
                            <a:schemeClr val="bg1"/>
                          </a:solidFill>
                        </a:rPr>
                        <a:t>기능</a:t>
                      </a:r>
                      <a:r>
                        <a:rPr lang="ko-KR" altLang="en-US" baseline="0">
                          <a:solidFill>
                            <a:schemeClr val="bg1"/>
                          </a:solidFill>
                        </a:rPr>
                        <a:t> </a:t>
                      </a:r>
                      <a:r>
                        <a:rPr lang="ko-KR" altLang="en-US">
                          <a:solidFill>
                            <a:schemeClr val="bg1"/>
                          </a:solidFill>
                        </a:rPr>
                        <a:t>흐름도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extLst>
                  <a:ext uri="{0D108BD9-81ED-4DB2-BD59-A6C34878D82A}">
                    <a16:rowId xmlns:a16="http://schemas.microsoft.com/office/drawing/2014/main" val="1032358826"/>
                  </a:ext>
                </a:extLst>
              </a:tr>
              <a:tr h="2282463">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a:solidFill>
                            <a:srgbClr val="1A1A1A"/>
                          </a:solidFill>
                          <a:latin typeface="+mn-lt"/>
                        </a:rPr>
                        <a:t/>
                      </a:r>
                      <a:endParaRPr lang="en-US" altLang="ko-KR" sz="1800" b="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57600838"/>
                  </a:ext>
                </a:extLst>
              </a:tr>
              <a:tr h="1166258">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a:solidFill>
                            <a:srgbClr val="1A1A1A"/>
                          </a:solidFill>
                          <a:latin typeface="+mn-lt"/>
                        </a:rPr>
                        <a:t>① 판정문 아래 보완 문장과 "이 판정이 말하지 않는 것" 단서</a:t>
                      </a:r>
                      <a:endParaRPr lang="en-US" altLang="ko-KR" b="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② 1인당 예산 대조(기획안 기준 vs 작년 실측 순증 기준) · 개최 기간·요일 판정</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③ 귀속 경고(작년 반경 50km 다른 축제, 공사 API 실시간)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④ [검증 보고서 두 장] → 브라우저 인쇄로 PDF, 결재에 첨부</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bl>
          </a:graphicData>
        </a:graphic>
      </p:graphicFrame>
      <p:graphicFrame>
        <p:nvGraphicFramePr>
          <p:cNvPr id="6" name="표 5"/>
          <p:cNvGraphicFramePr>
            <a:graphicFrameLocks noGrp="1"/>
          </p:cNvGraphicFramePr>
          <p:nvPr>
            <p:extLst>
              <p:ext uri="{D42A27DB-BD31-4B8C-83A1-F6EECF244321}">
                <p14:modId xmlns:p14="http://schemas.microsoft.com/office/powerpoint/2010/main" val="2591979266"/>
              </p:ext>
            </p:extLst>
          </p:nvPr>
        </p:nvGraphicFramePr>
        <p:xfrm>
          <a:off x="302952" y="1130530"/>
          <a:ext cx="11426308" cy="1371600"/>
        </p:xfrm>
        <a:graphic>
          <a:graphicData uri="http://schemas.openxmlformats.org/drawingml/2006/table">
            <a:tbl>
              <a:tblPr firstRow="1" bandRow="1">
                <a:tableStyleId>{5C22544A-7EE6-4342-B048-85BDC9FD1C3A}</a:tableStyleId>
              </a:tblPr>
              <a:tblGrid>
                <a:gridCol w="1782764">
                  <a:extLst>
                    <a:ext uri="{9D8B030D-6E8A-4147-A177-3AD203B41FA5}">
                      <a16:colId xmlns:a16="http://schemas.microsoft.com/office/drawing/2014/main" val="837638667"/>
                    </a:ext>
                  </a:extLst>
                </a:gridCol>
                <a:gridCol w="9643544">
                  <a:extLst>
                    <a:ext uri="{9D8B030D-6E8A-4147-A177-3AD203B41FA5}">
                      <a16:colId xmlns:a16="http://schemas.microsoft.com/office/drawing/2014/main" val="2364043552"/>
                    </a:ext>
                  </a:extLst>
                </a:gridCol>
              </a:tblGrid>
              <a:tr h="182880">
                <a:tc>
                  <a:txBody>
                    <a:bodyPr/>
                    <a:lstStyle/>
                    <a:p>
                      <a:pPr algn="ctr" latinLnBrk="1"/>
                      <a:r>
                        <a:rPr lang="ko-KR" altLang="en-US" b="1" dirty="0" smtClean="0">
                          <a:solidFill>
                            <a:srgbClr val="1A1A1A"/>
                          </a:solidFill>
                        </a:rPr>
                        <a:t>해시태그3</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latinLnBrk="1"/>
                      <a:r>
                        <a:rPr lang="en-US" altLang="ko-KR" b="0" dirty="0" smtClean="0" sz="1200">
                          <a:solidFill>
                            <a:srgbClr val="1A1A1A"/>
                          </a:solidFill>
                        </a:rPr>
                        <a:t>#보완 피드백 제공</a:t>
                      </a:r>
                      <a:endParaRPr lang="ko-KR" altLang="en-US" b="0" i="1"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576143207"/>
                  </a:ext>
                </a:extLst>
              </a:tr>
              <a:tr h="18288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b="1" dirty="0" err="1" smtClean="0">
                          <a:solidFill>
                            <a:srgbClr val="1A1A1A"/>
                          </a:solidFill>
                        </a:rPr>
                        <a:t>연계기능3</a:t>
                      </a:r>
                      <a:endParaRPr lang="ko-KR" altLang="en-US" b="1" dirty="0"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latinLnBrk="1"/>
                      <a:r>
                        <a:rPr lang="en-US" altLang="ko-KR" b="0" dirty="0" smtClean="0" sz="1200">
                          <a:solidFill>
                            <a:srgbClr val="1A1A1A"/>
                          </a:solidFill>
                        </a:rPr>
                        <a:t>보완 문장에서 검증 보고서까지</a:t>
                      </a:r>
                      <a:endParaRPr lang="ko-KR" altLang="en-US" b="0" i="1"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261657432"/>
                  </a:ext>
                </a:extLst>
              </a:tr>
              <a:tr h="236913">
                <a:tc>
                  <a:txBody>
                    <a:bodyPr/>
                    <a:lstStyle/>
                    <a:p>
                      <a:pPr algn="ctr" latinLnBrk="1"/>
                      <a:r>
                        <a:rPr lang="ko-KR" altLang="en-US" b="1" dirty="0" err="1" smtClean="0">
                          <a:solidFill>
                            <a:srgbClr val="1A1A1A"/>
                          </a:solidFill>
                        </a:rPr>
                        <a:t>기능설명3</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b="0" dirty="0" sz="1100">
                          <a:solidFill>
                            <a:srgbClr val="1A1A1A"/>
                          </a:solidFill>
                        </a:rPr>
                        <a:t>라벨마다 다음에 할 일을 문장으로 내고, 예산·기간·경쟁 축제를 대조한 뒤 결재 첨부용 A4 두 장으로 인쇄합니다.</a:t>
                      </a:r>
                      <a:endParaRPr lang="en-US" altLang="ko-KR" b="0" dirty="0" smtClean="0">
                        <a:solidFill>
                          <a:srgbClr val="FF0000"/>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502682219"/>
                  </a:ext>
                </a:extLst>
              </a:tr>
            </a:tbl>
          </a:graphicData>
        </a:graphic>
      </p:graphicFrame>
      <p:pic>
        <p:nvPicPr>
          <p:cNvPr id="7" name="Picture 6" descr="f1_1_home.png"/>
          <p:cNvPicPr>
            <a:picLocks noChangeAspect="1"/>
          </p:cNvPicPr>
          <p:nvPr/>
        </p:nvPicPr>
        <p:blipFill>
          <a:blip r:embed="rId2"/>
          <a:stretch>
            <a:fillRect/>
          </a:stretch>
        </p:blipFill>
        <p:spPr>
          <a:xfrm>
            <a:off x="352952" y="3513866"/>
            <a:ext cx="2756577" cy="1302873"/>
          </a:xfrm>
          <a:prstGeom prst="rect">
            <a:avLst/>
          </a:prstGeom>
        </p:spPr>
      </p:pic>
      <p:pic>
        <p:nvPicPr>
          <p:cNvPr id="8" name="Picture 7" descr="f1_2_underlay.png"/>
          <p:cNvPicPr>
            <a:picLocks noChangeAspect="1"/>
          </p:cNvPicPr>
          <p:nvPr/>
        </p:nvPicPr>
        <p:blipFill>
          <a:blip r:embed="rId3"/>
          <a:stretch>
            <a:fillRect/>
          </a:stretch>
        </p:blipFill>
        <p:spPr>
          <a:xfrm>
            <a:off x="4033808" y="3074071"/>
            <a:ext cx="1108019" cy="2182463"/>
          </a:xfrm>
          <a:prstGeom prst="rect">
            <a:avLst/>
          </a:prstGeom>
        </p:spPr>
      </p:pic>
      <p:pic>
        <p:nvPicPr>
          <p:cNvPr id="9" name="Picture 8" descr="f1_3_venue.png"/>
          <p:cNvPicPr>
            <a:picLocks noChangeAspect="1"/>
          </p:cNvPicPr>
          <p:nvPr/>
        </p:nvPicPr>
        <p:blipFill>
          <a:blip r:embed="rId4"/>
          <a:stretch>
            <a:fillRect/>
          </a:stretch>
        </p:blipFill>
        <p:spPr>
          <a:xfrm>
            <a:off x="6345198" y="3074071"/>
            <a:ext cx="2198393" cy="2182463"/>
          </a:xfrm>
          <a:prstGeom prst="rect">
            <a:avLst/>
          </a:prstGeom>
        </p:spPr>
      </p:pic>
      <p:pic>
        <p:nvPicPr>
          <p:cNvPr id="10" name="Picture 9" descr="f1_4_panel.png"/>
          <p:cNvPicPr>
            <a:picLocks noChangeAspect="1"/>
          </p:cNvPicPr>
          <p:nvPr/>
        </p:nvPicPr>
        <p:blipFill>
          <a:blip r:embed="rId5"/>
          <a:stretch>
            <a:fillRect/>
          </a:stretch>
        </p:blipFill>
        <p:spPr>
          <a:xfrm>
            <a:off x="9669616" y="3074071"/>
            <a:ext cx="1262710" cy="2182463"/>
          </a:xfrm>
          <a:prstGeom prst="rect">
            <a:avLst/>
          </a:prstGeom>
        </p:spPr>
      </p:pic>
      <p:pic>
        <p:nvPicPr>
          <p:cNvPr id="11" name="Picture 10" descr="f3_1_other.png"/>
          <p:cNvPicPr>
            <a:picLocks noChangeAspect="1"/>
          </p:cNvPicPr>
          <p:nvPr/>
        </p:nvPicPr>
        <p:blipFill>
          <a:blip r:embed="rId2"/>
          <a:stretch>
            <a:fillRect/>
          </a:stretch>
        </p:blipFill>
        <p:spPr>
          <a:xfrm>
            <a:off x="1020728" y="3074071"/>
            <a:ext cx="1421025" cy="2182463"/>
          </a:xfrm>
          <a:prstGeom prst="rect">
            <a:avLst/>
          </a:prstGeom>
        </p:spPr>
      </p:pic>
      <p:pic>
        <p:nvPicPr>
          <p:cNvPr id="12" name="Picture 11" descr="f2_3_range.png"/>
          <p:cNvPicPr>
            <a:picLocks noChangeAspect="1"/>
          </p:cNvPicPr>
          <p:nvPr/>
        </p:nvPicPr>
        <p:blipFill>
          <a:blip r:embed="rId3"/>
          <a:stretch>
            <a:fillRect/>
          </a:stretch>
        </p:blipFill>
        <p:spPr>
          <a:xfrm>
            <a:off x="3209529" y="3300206"/>
            <a:ext cx="2756577" cy="1730192"/>
          </a:xfrm>
          <a:prstGeom prst="rect">
            <a:avLst/>
          </a:prstGeom>
        </p:spPr>
      </p:pic>
      <p:pic>
        <p:nvPicPr>
          <p:cNvPr id="13" name="Picture 12" descr="f3_3_attrib.png"/>
          <p:cNvPicPr>
            <a:picLocks noChangeAspect="1"/>
          </p:cNvPicPr>
          <p:nvPr/>
        </p:nvPicPr>
        <p:blipFill>
          <a:blip r:embed="rId4"/>
          <a:stretch>
            <a:fillRect/>
          </a:stretch>
        </p:blipFill>
        <p:spPr>
          <a:xfrm>
            <a:off x="6066106" y="3957350"/>
            <a:ext cx="2756577" cy="415905"/>
          </a:xfrm>
          <a:prstGeom prst="rect">
            <a:avLst/>
          </a:prstGeom>
        </p:spPr>
      </p:pic>
      <p:pic>
        <p:nvPicPr>
          <p:cNvPr id="14" name="Picture 13" descr="f3_4_report.png"/>
          <p:cNvPicPr>
            <a:picLocks noChangeAspect="1"/>
          </p:cNvPicPr>
          <p:nvPr/>
        </p:nvPicPr>
        <p:blipFill>
          <a:blip r:embed="rId5"/>
          <a:stretch>
            <a:fillRect/>
          </a:stretch>
        </p:blipFill>
        <p:spPr>
          <a:xfrm>
            <a:off x="9679233" y="3074071"/>
            <a:ext cx="1243476" cy="2182463"/>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5" name="표 4"/>
          <p:cNvGraphicFramePr>
            <a:graphicFrameLocks noGrp="1"/>
          </p:cNvGraphicFramePr>
          <p:nvPr>
            <p:extLst>
              <p:ext uri="{D42A27DB-BD31-4B8C-83A1-F6EECF244321}">
                <p14:modId xmlns:p14="http://schemas.microsoft.com/office/powerpoint/2010/main" val="1504402377"/>
              </p:ext>
            </p:extLst>
          </p:nvPr>
        </p:nvGraphicFramePr>
        <p:xfrm>
          <a:off x="302952" y="2702225"/>
          <a:ext cx="11426308" cy="3836943"/>
        </p:xfrm>
        <a:graphic>
          <a:graphicData uri="http://schemas.openxmlformats.org/drawingml/2006/table">
            <a:tbl>
              <a:tblPr firstRow="1" bandRow="1">
                <a:tableStyleId>{5C22544A-7EE6-4342-B048-85BDC9FD1C3A}</a:tableStyleId>
              </a:tblPr>
              <a:tblGrid>
                <a:gridCol w="2856577">
                  <a:extLst>
                    <a:ext uri="{9D8B030D-6E8A-4147-A177-3AD203B41FA5}">
                      <a16:colId xmlns:a16="http://schemas.microsoft.com/office/drawing/2014/main" val="956832101"/>
                    </a:ext>
                  </a:extLst>
                </a:gridCol>
                <a:gridCol w="2856577">
                  <a:extLst>
                    <a:ext uri="{9D8B030D-6E8A-4147-A177-3AD203B41FA5}">
                      <a16:colId xmlns:a16="http://schemas.microsoft.com/office/drawing/2014/main" val="2325135401"/>
                    </a:ext>
                  </a:extLst>
                </a:gridCol>
                <a:gridCol w="2856577">
                  <a:extLst>
                    <a:ext uri="{9D8B030D-6E8A-4147-A177-3AD203B41FA5}">
                      <a16:colId xmlns:a16="http://schemas.microsoft.com/office/drawing/2014/main" val="1669866357"/>
                    </a:ext>
                  </a:extLst>
                </a:gridCol>
                <a:gridCol w="2856577">
                  <a:extLst>
                    <a:ext uri="{9D8B030D-6E8A-4147-A177-3AD203B41FA5}">
                      <a16:colId xmlns:a16="http://schemas.microsoft.com/office/drawing/2014/main" val="1337599892"/>
                    </a:ext>
                  </a:extLst>
                </a:gridCol>
              </a:tblGrid>
              <a:tr h="321846">
                <a:tc gridSpan="4">
                  <a:txBody>
                    <a:bodyPr/>
                    <a:lstStyle/>
                    <a:p>
                      <a:pPr algn="ctr" latinLnBrk="1"/>
                      <a:r>
                        <a:rPr lang="ko-KR" altLang="en-US">
                          <a:solidFill>
                            <a:schemeClr val="bg1"/>
                          </a:solidFill>
                        </a:rPr>
                        <a:t>기능</a:t>
                      </a:r>
                      <a:r>
                        <a:rPr lang="ko-KR" altLang="en-US" baseline="0">
                          <a:solidFill>
                            <a:schemeClr val="bg1"/>
                          </a:solidFill>
                        </a:rPr>
                        <a:t> </a:t>
                      </a:r>
                      <a:r>
                        <a:rPr lang="ko-KR" altLang="en-US">
                          <a:solidFill>
                            <a:schemeClr val="bg1"/>
                          </a:solidFill>
                        </a:rPr>
                        <a:t>흐름도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extLst>
                  <a:ext uri="{0D108BD9-81ED-4DB2-BD59-A6C34878D82A}">
                    <a16:rowId xmlns:a16="http://schemas.microsoft.com/office/drawing/2014/main" val="1032358826"/>
                  </a:ext>
                </a:extLst>
              </a:tr>
              <a:tr h="2282463">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a:solidFill>
                            <a:srgbClr val="1A1A1A"/>
                          </a:solidFill>
                          <a:latin typeface="+mn-lt"/>
                        </a:rPr>
                        <a:t/>
                      </a:r>
                      <a:endParaRPr lang="en-US" altLang="ko-KR" sz="1800" b="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57600838"/>
                  </a:ext>
                </a:extLst>
              </a:tr>
              <a:tr h="1166258">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a:solidFill>
                            <a:srgbClr val="1A1A1A"/>
                          </a:solidFill>
                          <a:latin typeface="+mn-lt"/>
                        </a:rPr>
                        <a:t>① 판정표 아래 "이 판정에 쓴 공사 데이터" 표(API·어디에·찍힌 값·호출)</a:t>
                      </a:r>
                      <a:endParaRPr lang="en-US" altLang="ko-KR" b="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② [일별 곡선과 근거 표] → 연도별 전후 4주 외지인 곡선·배수·순증 표</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③ 닮은 과거 축제(619건 재계산) 지도·카드와 또래 분포 띠</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④ 접힘 "자기검증" → leave-one-out 적중률·−52주 백테스트와 한계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bl>
          </a:graphicData>
        </a:graphic>
      </p:graphicFrame>
      <p:graphicFrame>
        <p:nvGraphicFramePr>
          <p:cNvPr id="6" name="표 5"/>
          <p:cNvGraphicFramePr>
            <a:graphicFrameLocks noGrp="1"/>
          </p:cNvGraphicFramePr>
          <p:nvPr>
            <p:extLst>
              <p:ext uri="{D42A27DB-BD31-4B8C-83A1-F6EECF244321}">
                <p14:modId xmlns:p14="http://schemas.microsoft.com/office/powerpoint/2010/main" val="2591979266"/>
              </p:ext>
            </p:extLst>
          </p:nvPr>
        </p:nvGraphicFramePr>
        <p:xfrm>
          <a:off x="302952" y="1130530"/>
          <a:ext cx="11426308" cy="1371600"/>
        </p:xfrm>
        <a:graphic>
          <a:graphicData uri="http://schemas.openxmlformats.org/drawingml/2006/table">
            <a:tbl>
              <a:tblPr firstRow="1" bandRow="1">
                <a:tableStyleId>{5C22544A-7EE6-4342-B048-85BDC9FD1C3A}</a:tableStyleId>
              </a:tblPr>
              <a:tblGrid>
                <a:gridCol w="1782764">
                  <a:extLst>
                    <a:ext uri="{9D8B030D-6E8A-4147-A177-3AD203B41FA5}">
                      <a16:colId xmlns:a16="http://schemas.microsoft.com/office/drawing/2014/main" val="837638667"/>
                    </a:ext>
                  </a:extLst>
                </a:gridCol>
                <a:gridCol w="9643544">
                  <a:extLst>
                    <a:ext uri="{9D8B030D-6E8A-4147-A177-3AD203B41FA5}">
                      <a16:colId xmlns:a16="http://schemas.microsoft.com/office/drawing/2014/main" val="2364043552"/>
                    </a:ext>
                  </a:extLst>
                </a:gridCol>
              </a:tblGrid>
              <a:tr h="182880">
                <a:tc>
                  <a:txBody>
                    <a:bodyPr/>
                    <a:lstStyle/>
                    <a:p>
                      <a:pPr algn="ctr" latinLnBrk="1"/>
                      <a:r>
                        <a:rPr lang="ko-KR" altLang="en-US" b="1" dirty="0" smtClean="0">
                          <a:solidFill>
                            <a:srgbClr val="1A1A1A"/>
                          </a:solidFill>
                        </a:rPr>
                        <a:t>해시태그4</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latinLnBrk="1"/>
                      <a:r>
                        <a:rPr lang="en-US" altLang="ko-KR" b="0" dirty="0" smtClean="0" sz="1200">
                          <a:solidFill>
                            <a:srgbClr val="1A1A1A"/>
                          </a:solidFill>
                        </a:rPr>
                        <a:t>#데이터 기반</a:t>
                      </a:r>
                      <a:endParaRPr lang="ko-KR" altLang="en-US" b="0" i="1"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576143207"/>
                  </a:ext>
                </a:extLst>
              </a:tr>
              <a:tr h="18288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b="1" dirty="0" err="1" smtClean="0">
                          <a:solidFill>
                            <a:srgbClr val="1A1A1A"/>
                          </a:solidFill>
                        </a:rPr>
                        <a:t>연계기능4</a:t>
                      </a:r>
                      <a:endParaRPr lang="ko-KR" altLang="en-US" b="1" dirty="0"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latinLnBrk="1"/>
                      <a:r>
                        <a:rPr lang="en-US" altLang="ko-KR" b="0" dirty="0" smtClean="0" sz="1200">
                          <a:solidFill>
                            <a:srgbClr val="1A1A1A"/>
                          </a:solidFill>
                        </a:rPr>
                        <a:t>실측 근거와 자기검증</a:t>
                      </a:r>
                      <a:endParaRPr lang="ko-KR" altLang="en-US" b="0" i="1"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261657432"/>
                  </a:ext>
                </a:extLst>
              </a:tr>
              <a:tr h="236913">
                <a:tc>
                  <a:txBody>
                    <a:bodyPr/>
                    <a:lstStyle/>
                    <a:p>
                      <a:pPr algn="ctr" latinLnBrk="1"/>
                      <a:r>
                        <a:rPr lang="ko-KR" altLang="en-US" b="1" dirty="0" err="1" smtClean="0">
                          <a:solidFill>
                            <a:srgbClr val="1A1A1A"/>
                          </a:solidFill>
                        </a:rPr>
                        <a:t>기능설명4</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b="0" dirty="0" sz="1100">
                          <a:solidFill>
                            <a:srgbClr val="1A1A1A"/>
                          </a:solidFill>
                        </a:rPr>
                        <a:t>판정에 쓴 모든 값이 어느 API 의 어느 셀에서 왔는지 되짚어지고, 방식의 적중률과 한계를 화면이 먼저 말합니다.</a:t>
                      </a:r>
                      <a:endParaRPr lang="en-US" altLang="ko-KR" b="0" dirty="0" smtClean="0">
                        <a:solidFill>
                          <a:srgbClr val="FF0000"/>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502682219"/>
                  </a:ext>
                </a:extLst>
              </a:tr>
            </a:tbl>
          </a:graphicData>
        </a:graphic>
      </p:graphicFrame>
      <p:pic>
        <p:nvPicPr>
          <p:cNvPr id="7" name="Picture 6" descr="f1_1_home.png"/>
          <p:cNvPicPr>
            <a:picLocks noChangeAspect="1"/>
          </p:cNvPicPr>
          <p:nvPr/>
        </p:nvPicPr>
        <p:blipFill>
          <a:blip r:embed="rId2"/>
          <a:stretch>
            <a:fillRect/>
          </a:stretch>
        </p:blipFill>
        <p:spPr>
          <a:xfrm>
            <a:off x="352952" y="3513866"/>
            <a:ext cx="2756577" cy="1302873"/>
          </a:xfrm>
          <a:prstGeom prst="rect">
            <a:avLst/>
          </a:prstGeom>
        </p:spPr>
      </p:pic>
      <p:pic>
        <p:nvPicPr>
          <p:cNvPr id="8" name="Picture 7" descr="f1_2_underlay.png"/>
          <p:cNvPicPr>
            <a:picLocks noChangeAspect="1"/>
          </p:cNvPicPr>
          <p:nvPr/>
        </p:nvPicPr>
        <p:blipFill>
          <a:blip r:embed="rId3"/>
          <a:stretch>
            <a:fillRect/>
          </a:stretch>
        </p:blipFill>
        <p:spPr>
          <a:xfrm>
            <a:off x="4033808" y="3074071"/>
            <a:ext cx="1108019" cy="2182463"/>
          </a:xfrm>
          <a:prstGeom prst="rect">
            <a:avLst/>
          </a:prstGeom>
        </p:spPr>
      </p:pic>
      <p:pic>
        <p:nvPicPr>
          <p:cNvPr id="9" name="Picture 8" descr="f1_3_venue.png"/>
          <p:cNvPicPr>
            <a:picLocks noChangeAspect="1"/>
          </p:cNvPicPr>
          <p:nvPr/>
        </p:nvPicPr>
        <p:blipFill>
          <a:blip r:embed="rId4"/>
          <a:stretch>
            <a:fillRect/>
          </a:stretch>
        </p:blipFill>
        <p:spPr>
          <a:xfrm>
            <a:off x="6345198" y="3074071"/>
            <a:ext cx="2198393" cy="2182463"/>
          </a:xfrm>
          <a:prstGeom prst="rect">
            <a:avLst/>
          </a:prstGeom>
        </p:spPr>
      </p:pic>
      <p:pic>
        <p:nvPicPr>
          <p:cNvPr id="10" name="Picture 9" descr="f1_4_panel.png"/>
          <p:cNvPicPr>
            <a:picLocks noChangeAspect="1"/>
          </p:cNvPicPr>
          <p:nvPr/>
        </p:nvPicPr>
        <p:blipFill>
          <a:blip r:embed="rId5"/>
          <a:stretch>
            <a:fillRect/>
          </a:stretch>
        </p:blipFill>
        <p:spPr>
          <a:xfrm>
            <a:off x="9669616" y="3074071"/>
            <a:ext cx="1262710" cy="2182463"/>
          </a:xfrm>
          <a:prstGeom prst="rect">
            <a:avLst/>
          </a:prstGeom>
        </p:spPr>
      </p:pic>
      <p:pic>
        <p:nvPicPr>
          <p:cNvPr id="11" name="Picture 10" descr="f2_1_verdict.png"/>
          <p:cNvPicPr>
            <a:picLocks noChangeAspect="1"/>
          </p:cNvPicPr>
          <p:nvPr/>
        </p:nvPicPr>
        <p:blipFill>
          <a:blip r:embed="rId2"/>
          <a:stretch>
            <a:fillRect/>
          </a:stretch>
        </p:blipFill>
        <p:spPr>
          <a:xfrm>
            <a:off x="352952" y="3370317"/>
            <a:ext cx="2756577" cy="1589971"/>
          </a:xfrm>
          <a:prstGeom prst="rect">
            <a:avLst/>
          </a:prstGeom>
        </p:spPr>
      </p:pic>
      <p:pic>
        <p:nvPicPr>
          <p:cNvPr id="12" name="Picture 11" descr="f4_2_evidence.png"/>
          <p:cNvPicPr>
            <a:picLocks noChangeAspect="1"/>
          </p:cNvPicPr>
          <p:nvPr/>
        </p:nvPicPr>
        <p:blipFill>
          <a:blip r:embed="rId3"/>
          <a:stretch>
            <a:fillRect/>
          </a:stretch>
        </p:blipFill>
        <p:spPr>
          <a:xfrm>
            <a:off x="3209529" y="3697821"/>
            <a:ext cx="2756577" cy="934963"/>
          </a:xfrm>
          <a:prstGeom prst="rect">
            <a:avLst/>
          </a:prstGeom>
        </p:spPr>
      </p:pic>
      <p:pic>
        <p:nvPicPr>
          <p:cNvPr id="13" name="Picture 12" descr="f4_3_twins.png"/>
          <p:cNvPicPr>
            <a:picLocks noChangeAspect="1"/>
          </p:cNvPicPr>
          <p:nvPr/>
        </p:nvPicPr>
        <p:blipFill>
          <a:blip r:embed="rId4"/>
          <a:stretch>
            <a:fillRect/>
          </a:stretch>
        </p:blipFill>
        <p:spPr>
          <a:xfrm>
            <a:off x="6066106" y="3871173"/>
            <a:ext cx="2756577" cy="588259"/>
          </a:xfrm>
          <a:prstGeom prst="rect">
            <a:avLst/>
          </a:prstGeom>
        </p:spPr>
      </p:pic>
      <p:pic>
        <p:nvPicPr>
          <p:cNvPr id="14" name="Picture 13" descr="f4_4_history.png"/>
          <p:cNvPicPr>
            <a:picLocks noChangeAspect="1"/>
          </p:cNvPicPr>
          <p:nvPr/>
        </p:nvPicPr>
        <p:blipFill>
          <a:blip r:embed="rId5"/>
          <a:stretch>
            <a:fillRect/>
          </a:stretch>
        </p:blipFill>
        <p:spPr>
          <a:xfrm>
            <a:off x="8922683" y="3910958"/>
            <a:ext cx="2756577" cy="508688"/>
          </a:xfrm>
          <a:prstGeom prst="rect">
            <a:avLst/>
          </a:prstGeom>
        </p:spPr>
      </p:pic>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1745</TotalTime>
  <Words>706</Words>
  <Application>Microsoft Office PowerPoint</Application>
  <PresentationFormat>와이드스크린</PresentationFormat>
  <Paragraphs>127</Paragraphs>
  <Slides>9</Slides>
  <Notes>0</Notes>
  <HiddenSlides>0</HiddenSlides>
  <MMClips>0</MMClips>
  <ScaleCrop>false</ScaleCrop>
  <HeadingPairs>
    <vt:vector size="6" baseType="variant">
      <vt:variant>
        <vt:lpstr>사용한 글꼴</vt:lpstr>
      </vt:variant>
      <vt:variant>
        <vt:i4>2</vt:i4>
      </vt:variant>
      <vt:variant>
        <vt:lpstr>테마</vt:lpstr>
      </vt:variant>
      <vt:variant>
        <vt:i4>1</vt:i4>
      </vt:variant>
      <vt:variant>
        <vt:lpstr>슬라이드 제목</vt:lpstr>
      </vt:variant>
      <vt:variant>
        <vt:i4>9</vt:i4>
      </vt:variant>
    </vt:vector>
  </HeadingPairs>
  <TitlesOfParts>
    <vt:vector size="12" baseType="lpstr">
      <vt:lpstr>맑은 고딕</vt:lpstr>
      <vt:lpstr>Arial</vt:lpstr>
      <vt:lpstr>Office 테마</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KTO</dc:creator>
  <cp:lastModifiedBy>USER</cp:lastModifiedBy>
  <cp:revision>103</cp:revision>
  <dcterms:created xsi:type="dcterms:W3CDTF">2026-07-07T05:25:59Z</dcterms:created>
  <dcterms:modified xsi:type="dcterms:W3CDTF">2026-08-11T04:23:23Z</dcterms:modified>
</cp:coreProperties>
</file>