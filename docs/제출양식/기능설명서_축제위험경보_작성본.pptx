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70" r:id="rId4"/>
    <p:sldId id="267" r:id="rId5"/>
    <p:sldId id="260" r:id="rId6"/>
    <p:sldId id="271" r:id="rId16"/>
    <p:sldId id="272" r:id="rId17"/>
    <p:sldId id="273" r:id="rId18"/>
    <p:sldId id="268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9DBF"/>
    <a:srgbClr val="372472"/>
    <a:srgbClr val="BBBCDE"/>
    <a:srgbClr val="280A41"/>
    <a:srgbClr val="230A3A"/>
    <a:srgbClr val="401AC1"/>
    <a:srgbClr val="200D45"/>
    <a:srgbClr val="FFED97"/>
    <a:srgbClr val="0000FF"/>
    <a:srgbClr val="FF6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해시태그 연계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관련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2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0796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27017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36544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1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1" r:id="rId3"/>
    <p:sldLayoutId id="2147483666" r:id="rId4"/>
    <p:sldLayoutId id="2147483662" r:id="rId5"/>
    <p:sldLayoutId id="2147483663" r:id="rId6"/>
    <p:sldLayoutId id="2147483664" r:id="rId7"/>
    <p:sldLayoutId id="2147483668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01AC1"/>
            </a:gs>
            <a:gs pos="100000">
              <a:srgbClr val="280A41"/>
            </a:gs>
            <a:gs pos="75000">
              <a:srgbClr val="230A3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898654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팀 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장준용 (숭실대학교 AI소프트웨어학부)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축제 위험 경보 — 닮은 축제 619건으로 쏠림을 미리 재는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78647"/>
              </p:ext>
            </p:extLst>
          </p:nvPr>
        </p:nvGraphicFramePr>
        <p:xfrm>
          <a:off x="271088" y="1065402"/>
          <a:ext cx="11649825" cy="5654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893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smtClean="0">
                          <a:solidFill>
                            <a:srgbClr val="1A1A1A"/>
                          </a:solidFill>
                          <a:latin typeface="+mn-lt"/>
                        </a:rPr>
                        <a:t>축제 위험 경보 (닮은 축제 실측 기반 쏠림 사전 경보 서비스)</a:t>
                      </a:r>
                      <a:endParaRPr lang="en-US" altLang="ko-KR" sz="1800" b="0" baseline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625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웹 서비스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893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</a:t>
                      </a:r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타깃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시·군청 문화관광과 축제 담당 공무원.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예산을 집행하기 전에 “이 기획이 위험한가”를 판단해야 하는데,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기댈 근거가 작년 실적과 경험뿐인 실무자.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11618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기획안을 넣으면 닮은 과거 축제 619건의 실측 방문 배수로 쏠림 위험 등급과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물량 감당 범위를 근거와 함께 내주는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164922"/>
                  </a:ext>
                </a:extLst>
              </a:tr>
              <a:tr h="11618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선택 </a:t>
                      </a:r>
                      <a:r>
                        <a:rPr lang="ko-KR" altLang="en-US" b="1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과제번호 9번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  <a:tr h="8085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endParaRPr lang="en-US" altLang="ko-KR" sz="1800" b="1" baseline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baseline="0" smtClean="0">
                          <a:solidFill>
                            <a:schemeClr val="bg1"/>
                          </a:solidFill>
                        </a:rPr>
                        <a:t>선택</a:t>
                      </a:r>
                      <a:r>
                        <a:rPr lang="en-US" altLang="ko-KR" sz="1800" b="1" baseline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800" b="1" baseline="0" smtClean="0">
                          <a:solidFill>
                            <a:schemeClr val="bg1"/>
                          </a:solidFill>
                        </a:rPr>
                        <a:t>이유</a:t>
                      </a:r>
                      <a:endParaRPr lang="ko-KR" altLang="en-US" sz="1800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smtClean="0">
                          <a:solidFill>
                            <a:srgbClr val="1A1A1A"/>
                          </a:solidFill>
                          <a:latin typeface="+mn-lt"/>
                        </a:rPr>
                        <a:t>축제 방문객 수는 대부분 추정치이고 산출 방식이 공개되지 않습니다.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smtClean="0">
                          <a:solidFill>
                            <a:srgbClr val="1A1A1A"/>
                          </a:solidFill>
                          <a:latin typeface="+mn-lt"/>
                        </a:rPr>
                        <a:t>그래서 “작년만큼”이나 경험으로 물량을 잡고, 예산이 남거나 모자랍니다.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smtClean="0">
                          <a:solidFill>
                            <a:srgbClr val="1A1A1A"/>
                          </a:solidFill>
                          <a:latin typeface="+mn-lt"/>
                        </a:rPr>
                        <a:t>김천김밥축제는 1회 2만 예상에 10만이 왔고, 2회 10만 예상에 15만이 왔습니다.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smtClean="0">
                          <a:solidFill>
                            <a:srgbClr val="1A1A1A"/>
                          </a:solidFill>
                          <a:latin typeface="+mn-lt"/>
                        </a:rPr>
                        <a:t>두 번째에도 틀렸습니다. 담당자의 실수가 아니라 판단할 근거 자체가 없기 때문입니다.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smtClean="0">
                          <a:solidFill>
                            <a:srgbClr val="1A1A1A"/>
                          </a:solidFill>
                          <a:latin typeface="+mn-lt"/>
                        </a:rPr>
                        <a:t>한국관광 데이터랩의 이동통신 실측이 이미 있는데 기획 단계에서 쓰이지 않고 있어,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smtClean="0">
                          <a:solidFill>
                            <a:srgbClr val="1A1A1A"/>
                          </a:solidFill>
                          <a:latin typeface="+mn-lt"/>
                        </a:rPr>
                        <a:t>이 데이터를 담당자가 결재에 들고 갈 수 있는 형태로 옮기면 풀리는 문제라고 봤습니다.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33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248600"/>
              </p:ext>
            </p:extLst>
          </p:nvPr>
        </p:nvGraphicFramePr>
        <p:xfrm>
          <a:off x="271088" y="1065401"/>
          <a:ext cx="11649825" cy="557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785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baseline="0" dirty="0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r>
                        <a:rPr lang="ko-KR" altLang="en-US" b="1" baseline="0" dirty="0" smtClean="0">
                          <a:solidFill>
                            <a:schemeClr val="bg1"/>
                          </a:solidFill>
                        </a:rPr>
                        <a:t> 기반</a:t>
                      </a:r>
                      <a:endParaRPr lang="en-US" altLang="ko-KR" b="1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baseline="0" dirty="0" smtClean="0">
                          <a:solidFill>
                            <a:schemeClr val="bg1"/>
                          </a:solidFill>
                        </a:rPr>
                        <a:t>서비스 기획 방향</a:t>
                      </a:r>
                      <a:endParaRPr lang="en-US" altLang="ko-KR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방향은 하나입니다. 방문객 수를 예측하지 않습니다.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기획안은 개최 25일 전에 확정되는데 관람객은 날씨를 보고 3일 전에 갈지 정합니다.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리드타임 3일짜리 결정을 25일 전에 맞히는 모델은 존재할 수 없습니다.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그래서 지진 조기경보와 같은 방식을 씁니다. 흔들림의 크기를 맞히려 하지 않고,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과거 중 닮은 것을 찾아 등급만 매깁니다.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화면에 나가는 숫자는 입력값, 지역 인구, 실측 배수, 연도 네 가지뿐입니다.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근거를 못 찾으면 “안전하다”가 아니라 “판단 못 함”이라고 적습니다.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목록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#실측근거  #자기검증  #시기민감도  #쏠림사전점검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83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8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17558"/>
              </p:ext>
            </p:extLst>
          </p:nvPr>
        </p:nvGraphicFramePr>
        <p:xfrm>
          <a:off x="180961" y="1551963"/>
          <a:ext cx="11830079" cy="4993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19">
                  <a:extLst>
                    <a:ext uri="{9D8B030D-6E8A-4147-A177-3AD203B41FA5}">
                      <a16:colId xmlns:a16="http://schemas.microsoft.com/office/drawing/2014/main" val="95366056"/>
                    </a:ext>
                  </a:extLst>
                </a:gridCol>
                <a:gridCol w="2620520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6638940">
                  <a:extLst>
                    <a:ext uri="{9D8B030D-6E8A-4147-A177-3AD203B41FA5}">
                      <a16:colId xmlns:a16="http://schemas.microsoft.com/office/drawing/2014/main" val="2514411670"/>
                    </a:ext>
                  </a:extLst>
                </a:gridCol>
              </a:tblGrid>
              <a:tr h="450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연계 기능</a:t>
                      </a:r>
                      <a:endParaRPr lang="ko-KR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baseline="0" smtClean="0">
                          <a:solidFill>
                            <a:schemeClr val="bg1"/>
                          </a:solidFill>
                        </a:rPr>
                        <a:t>연계 상세 내용</a:t>
                      </a:r>
                      <a:endParaRPr lang="ko-KR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4543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#실측근거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닮은 축제 찾기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경보 등급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같은 시기 경쟁 조회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지역·개최 시기·테마·지역 인구·접근성 다섯 축으로 619건 중 닮은 축제를 찾고,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그 축제들이 실제로 겪은 평소 대비 방문 배수의 중앙값으로 등급을 냅니다.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닮음의 임계값 0.27 밖은 비교하지 않고 “비교할 만한 과거 축제가 없습니다”라고 답합니다.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무엇이 닮았는지를 축별 문장으로 함께 냅니다. 한국관광공사 OpenAPI 로 그 달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반경 50km 안에서 함께 열린 축제도 실시간 조회해 붙입니다.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  <a:tr h="4543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#자기검증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619건 leave-one-out 적중률 공개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같은 규모 지역 또래 비교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“그게 맞는 건 어떻게 압니까”에 숫자로 답합니다. 619건을 하나씩 빼고 그 축제를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다시 맞혀, 위험군을 무작위의 2.55배로 집어냅니다(정밀도 60.2%, 재현율 54.8%).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절반 가까이 놓친다는 한계도 같은 화면에 적습니다.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배수는 인구가 적은 지역일수록 커지므로(상관 -0.486) 같은 인구 구간 축제들과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견준 상위 몇 %를 함께 내, 대도시 기획안도 판단할 수 있게 했습니다.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  <a:tr h="4543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#시기민감도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달을 바꿔 12번 재조회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표의 한계 자체 표기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같은 기획안의 개최 월만 바꿔 12번 다시 찾아, 어떤 축제가 쌍둥이로 뽑히는지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보여 줍니다. 다만 물은 달에 실제로 열린 쌍둥이는 19%뿐이라 “그 달로 옮기면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이렇게 된다”로 읽으면 안 됩니다. 그래서 각 행에 쌍둥이의 실제 개최월을 찍어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표가 스스로 한계를 말하게 했습니다. 표본 수를 바꿔 등급이 흔들리면 그 사실도 알립니다.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  <a:tr h="4543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#쏠림사전점검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행사장 도면 위 전수 스캔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감당 범위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1A1A1A"/>
                          </a:solidFill>
                          <a:latin typeface="+mn-lt"/>
                        </a:rPr>
                        <a:t>진단서 A4 한 장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브이월드 백지도 위에 부스·무대·화장실·출입구·통로를 실제 규격(m)으로 놓으면,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닮은 축제의 실측 배수로 모든 부스의 부하를 한 번에 잽니다. 대기열이 통로를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덮는지, 부지 경계를 넘었는지까지 판정합니다. 판정에 LLM 을 쓰지 않습니다.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물량은 개수가 아니라 “작년이 감당한 수준의 1.0~1.4배 구간”처럼 배수로만 냅니다.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1A1A1A"/>
                          </a:solidFill>
                          <a:latin typeface="+mn-lt"/>
                        </a:rPr>
                        <a:t>결과는 근거 5종과 한계 고지를 담은 A4 한 장으로 인쇄됩니다.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4567" y="1101012"/>
            <a:ext cx="3382365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해시태그 연계 핵심기능 및 상세내용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83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282463"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166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1. 기획서를 붙여넣거나 PDF 를 올린다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2. 뽑힌 다섯 축(지역·시기·테마·인구·접근성)을 확인하고 고친다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3. 저장하면 닮은 축제 3곳과 경보 등급이 나온다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4. “왜 닮았나”를 펴 축별 근거를 확인한다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1A1A1A"/>
                          </a:solidFill>
                        </a:rPr>
                        <a:t>#실측근거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1A1A1A"/>
                          </a:solidFill>
                        </a:rPr>
                        <a:t>닮은 축제 찾기와 경보 등급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1A1A1A"/>
                          </a:solidFill>
                        </a:rPr>
                        <a:t>기획서를 붙여넣거나 다섯 축을 직접 넣으면 619건에서 닮은 축제를 찾아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1A1A1A"/>
                          </a:solidFill>
                        </a:rPr>
                        <a:t>등급과 근거를 냅니다.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1_첫화면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52" y="3440484"/>
            <a:ext cx="2856577" cy="144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83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282463"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166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1. 진단 결과 아래 또래 분포 띠에서 이 기획안의 자리를 본다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2. “이 방식은 얼마나 맞는가”를 펴 적중률과 한계를 확인한다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1A1A1A"/>
                          </a:solidFill>
                        </a:rPr>
                        <a:t>#자기검증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1A1A1A"/>
                          </a:solidFill>
                        </a:rPr>
                        <a:t>적중률과 또래 비교 공개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1A1A1A"/>
                          </a:solidFill>
                        </a:rPr>
                        <a:t>이 방식이 얼마나 맞는지, 그리고 이 배수가 같은 규모 지역에서 어디쯤인지를 봅니다.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2_진단결과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52" y="3440484"/>
            <a:ext cx="2856577" cy="14496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83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282463"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166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1. “달마다 뽑힌 쌍둥이 12줄 보기”를 편다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2. 각 행의 ‘쌍둥이가 실제로 열린 달’을 함께 읽는다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1A1A1A"/>
                          </a:solidFill>
                        </a:rPr>
                        <a:t>#시기민감도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1A1A1A"/>
                          </a:solidFill>
                        </a:rPr>
                        <a:t>개최 시기를 바꿔 보기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1A1A1A"/>
                          </a:solidFill>
                        </a:rPr>
                        <a:t>개최 월만 바꿔 12번 다시 찾은 결과와, 그 표를 어디까지 믿을 수 있는지를 봅니다.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3_시기민감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52" y="3440484"/>
            <a:ext cx="2856577" cy="14496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83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282463"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166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1. “이 쏠림에 대비하기”로 행사장 도면에 들어간다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2. “부지 지도 깔기”를 누르면 200×140m 예시 배치가 깔린다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3. 부스를 옮기고 인력·선호도를 고치면 부하가 즉시 다시 계산된다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4. “진단서 한 장”에서 브라우저 인쇄로 PDF 를 만든다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1A1A1A"/>
                          </a:solidFill>
                        </a:rPr>
                        <a:t>#쏠림사전점검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1A1A1A"/>
                          </a:solidFill>
                        </a:rPr>
                        <a:t>행사장 배치 점검과 진단서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1A1A1A"/>
                          </a:solidFill>
                        </a:rPr>
                        <a:t>도면 위에 배치를 놓고 쏠림을 잰 뒤, 결재에 올릴 A4 한 장을 뽑습니다.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4_행사장도면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52" y="3440484"/>
            <a:ext cx="2856577" cy="14496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162552"/>
              </p:ext>
            </p:extLst>
          </p:nvPr>
        </p:nvGraphicFramePr>
        <p:xfrm>
          <a:off x="271088" y="1065401"/>
          <a:ext cx="11649825" cy="557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err="1" smtClean="0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[상세 이미지 — 같은 폴더 캡처/ 의 1~4번을 나란히 넣으세요]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83579"/>
                  </a:ext>
                </a:extLst>
              </a:tr>
            </a:tbl>
          </a:graphicData>
        </a:graphic>
      </p:graphicFrame>
      <p:pic>
        <p:nvPicPr>
          <p:cNvPr id="4" name="Picture 3" descr="2_진단결과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481" y="1065401"/>
            <a:ext cx="5488261" cy="278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>
                <a:solidFill>
                  <a:schemeClr val="bg1"/>
                </a:solidFill>
              </a:rPr>
              <a:t>OpenAPI </a:t>
            </a:r>
            <a:r>
              <a:rPr lang="ko-KR" altLang="en-US" sz="1400" b="1">
                <a:solidFill>
                  <a:schemeClr val="bg1"/>
                </a:solidFill>
              </a:rPr>
              <a:t>리스트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16057"/>
              </p:ext>
            </p:extLst>
          </p:nvPr>
        </p:nvGraphicFramePr>
        <p:xfrm>
          <a:off x="174566" y="1646098"/>
          <a:ext cx="11746191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4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34747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9081994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rgbClr val="1A1A1A"/>
                          </a:solidFill>
                        </a:rPr>
                        <a:t>한국관광공사 국문 관광정보 서비스 — 축제 검색(searchFestival2)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rgbClr val="1A1A1A"/>
                          </a:solidFill>
                        </a:rPr>
                        <a:t>기획안 지역 반경 50km 안에서 같은 달에 열린 축제를 실시간 조회해 ‘같은 시기 경쟁’으로 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한국관광공사 국문 관광정보 서비스 — 키워드 검색(searchKeyword2)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축제 이름으로 등록 정보를 찾아 지역·시기를 자동으로 채웁니다.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한국관광공사 국문 관광정보 서비스 — 소개정보 조회(detailIntro2)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닮은 축제의 개최 기간과 요금 정보를 가져와 근거 카드에 붙입니다.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한국관광공사 국문 관광정보 서비스 — 공통정보 조회(detailCommon2)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닮은 축제의 장소·주최·홈페이지를 가져옵니다. 두 조회를 병렬로 부르고 한쪽이 실패해도 나머지를 씁니다.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한국관광 데이터랩 — 지역별 방문자 수(locgoRegnVisitrDDList)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축제 기간 시군구 외지인 방문자를 평상시와 견준 배수 619건을 만들었습니다. 이 서비스의 모든 판단이 이 값에서 나옵니다.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>
                <a:solidFill>
                  <a:schemeClr val="bg1"/>
                </a:solidFill>
              </a:rPr>
              <a:t>API, </a:t>
            </a:r>
            <a:r>
              <a:rPr lang="ko-KR" altLang="en-US" sz="1400" b="1" err="1">
                <a:solidFill>
                  <a:schemeClr val="bg1"/>
                </a:solidFill>
              </a:rPr>
              <a:t>파일데이터</a:t>
            </a:r>
            <a:endParaRPr lang="ko-KR" altLang="en-US" sz="1400" b="1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134091"/>
              </p:ext>
            </p:extLst>
          </p:nvPr>
        </p:nvGraphicFramePr>
        <p:xfrm>
          <a:off x="174566" y="1646098"/>
          <a:ext cx="11628657" cy="226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행정안전부 주민등록인구현황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시군구 인구를 닮음 판정의 다섯 축 중 하나로 씁니다. 인구 규모가 비슷한 지역끼리 비교하는 기준이기도 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국토교통부 브이월드 백지도 (WMTS)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행사장 도면의 배경입니다. 줌 레벨에서 축척(m/px)을 계산해 부스 3m 를 실제 크기로 그립니다.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Natural Earth 1:10m Admin 0 Countries (퍼블릭 도메인)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A1A1A"/>
                          </a:solidFill>
                        </a:rPr>
                        <a:t>닮은 축제 지도의 해안선입니다. 축제 615곳의 실측 좌표를 국토 윤곽 위에 찍습니다.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205643"/>
              </p:ext>
            </p:extLst>
          </p:nvPr>
        </p:nvGraphicFramePr>
        <p:xfrm>
          <a:off x="287250" y="1218429"/>
          <a:ext cx="11649825" cy="50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첫째, 예측하지 않습니다. 화면의 숫자는 과거 축제가 실제로 겪은 배수뿐입니다.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추정 방문객 수를 만들지 않으므로 틀릴 수 있는 예측기가 되지 않습니다.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/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둘째, 적중률을 스스로 공개합니다. 619건 leave-one-out 으로 무작위의 2.55배,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정밀도 60.2%, 재현율 54.8%. 절반 가까이 놓친다는 한계도 같은 화면에 적습니다.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이 숫자는 코드에 상수로 있고 테스트가 매번 데이터에서 다시 재, 화면 값이 낡지 않습니다.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/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셋째, 자기 한계를 화면이 스스로 말합니다. 시기 민감도 표는 “물은 달에 실제로 열린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쌍둥이는 19%뿐”이라고 적고, 인구가 적은 지역일수록 배수가 커진다는 편향도 밝힙니다.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/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넷째, 판정에 LLM 을 쓰지 않습니다. 모델은 기획서에서 항목을 옮겨 적는 1회뿐이고,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등급·쏠림·물량은 전부 결정론적 수식이라 같은 입력에 늘 같은 답이 나옵니다.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/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1A1A1A"/>
                          </a:solidFill>
                          <a:latin typeface="+mn-lt"/>
                        </a:rPr>
                        <a:t>다섯째, 결과가 종이 한 장으로 나옵니다. 결재는 화면이 아니라 종이로 올라갑니다.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발전계획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1) 안전관리계획 서식 연동 — 행정안전부 지역축제장 안전관리 매뉴얼은 순간 최대인원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   1,000명 이상이면 심의를 받게 하고 “예상인원 수용 여부”와 “관람객 동선”을 묻습니다.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   그런데 매뉴얼 어디에도 통로 폭이나 밀집도 산출 기준이 없습니다. 담당자는 근거 없이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   적고 심의위원은 근거 없이 통과시킵니다. 이 빈칸을 채우는 것이 다음 목표입니다.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2) 부지 경계 자동 인식 — 좌표만 넣으면 그 자리의 공원·주차장 경계를 불러오는 방식을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   이미 검증했습니다(측지 면적과 자체 계산 면적의 오차 0.00%).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3) 검색량 선행지표 — 축제 개최 전 검색량이 실측 배수를 설명하는지 619건을 정답지로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   상관을 재는 실험 도구를 만들어 뒀습니다. 상관이 확인되기 전에는 화면에 올리지 않습니다.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1A1A1A"/>
                          </a:solidFill>
                          <a:latin typeface="+mn-lt"/>
                        </a:rPr>
                        <a:t>4) 사후 평가 루프 — 개최 후 실측 배수가 데이터랩에 쌓이면 그것으로 다시 보정합니다.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1745</TotalTime>
  <Words>706</Words>
  <Application>Microsoft Office PowerPoint</Application>
  <PresentationFormat>와이드스크린</PresentationFormat>
  <Paragraphs>127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USER</cp:lastModifiedBy>
  <cp:revision>103</cp:revision>
  <dcterms:created xsi:type="dcterms:W3CDTF">2026-07-07T05:25:59Z</dcterms:created>
  <dcterms:modified xsi:type="dcterms:W3CDTF">2026-08-11T04:23:23Z</dcterms:modified>
</cp:coreProperties>
</file>